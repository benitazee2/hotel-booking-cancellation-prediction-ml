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4"/>
  </p:notesMasterIdLst>
  <p:sldIdLst>
    <p:sldId id="256" r:id="rId2"/>
    <p:sldId id="257" r:id="rId3"/>
    <p:sldId id="266" r:id="rId4"/>
    <p:sldId id="258" r:id="rId5"/>
    <p:sldId id="267" r:id="rId6"/>
    <p:sldId id="268" r:id="rId7"/>
    <p:sldId id="259" r:id="rId8"/>
    <p:sldId id="295" r:id="rId9"/>
    <p:sldId id="261" r:id="rId10"/>
    <p:sldId id="262" r:id="rId11"/>
    <p:sldId id="260" r:id="rId12"/>
    <p:sldId id="269" r:id="rId13"/>
    <p:sldId id="270" r:id="rId14"/>
    <p:sldId id="271" r:id="rId15"/>
    <p:sldId id="272" r:id="rId16"/>
    <p:sldId id="273" r:id="rId17"/>
    <p:sldId id="274" r:id="rId18"/>
    <p:sldId id="275" r:id="rId19"/>
    <p:sldId id="277" r:id="rId20"/>
    <p:sldId id="279" r:id="rId21"/>
    <p:sldId id="310" r:id="rId22"/>
    <p:sldId id="286" r:id="rId23"/>
    <p:sldId id="289" r:id="rId24"/>
    <p:sldId id="288" r:id="rId25"/>
    <p:sldId id="290" r:id="rId26"/>
    <p:sldId id="292" r:id="rId27"/>
    <p:sldId id="293" r:id="rId28"/>
    <p:sldId id="296" r:id="rId29"/>
    <p:sldId id="299" r:id="rId30"/>
    <p:sldId id="319" r:id="rId31"/>
    <p:sldId id="320" r:id="rId32"/>
    <p:sldId id="333" r:id="rId33"/>
    <p:sldId id="334" r:id="rId34"/>
    <p:sldId id="335" r:id="rId35"/>
    <p:sldId id="336" r:id="rId36"/>
    <p:sldId id="337" r:id="rId37"/>
    <p:sldId id="338" r:id="rId38"/>
    <p:sldId id="330" r:id="rId39"/>
    <p:sldId id="300" r:id="rId40"/>
    <p:sldId id="303" r:id="rId41"/>
    <p:sldId id="302" r:id="rId42"/>
    <p:sldId id="301" r:id="rId43"/>
    <p:sldId id="304" r:id="rId44"/>
    <p:sldId id="305" r:id="rId45"/>
    <p:sldId id="311" r:id="rId46"/>
    <p:sldId id="312" r:id="rId47"/>
    <p:sldId id="313" r:id="rId48"/>
    <p:sldId id="315" r:id="rId49"/>
    <p:sldId id="321" r:id="rId50"/>
    <p:sldId id="322" r:id="rId51"/>
    <p:sldId id="323" r:id="rId52"/>
    <p:sldId id="326" r:id="rId53"/>
    <p:sldId id="327" r:id="rId54"/>
    <p:sldId id="328" r:id="rId55"/>
    <p:sldId id="329" r:id="rId56"/>
    <p:sldId id="324" r:id="rId57"/>
    <p:sldId id="332" r:id="rId58"/>
    <p:sldId id="331" r:id="rId59"/>
    <p:sldId id="316" r:id="rId60"/>
    <p:sldId id="317" r:id="rId61"/>
    <p:sldId id="318" r:id="rId62"/>
    <p:sldId id="314" r:id="rId6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BF5E24-3B57-4D23-86DB-928D2D06C37B}" v="97" dt="2025-12-14T06:05:44.8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9" d="100"/>
          <a:sy n="69" d="100"/>
        </p:scale>
        <p:origin x="1413" y="26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6534F04-ACC4-4081-A9A6-30402F794B60}"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841185FD-9121-472C-83C5-F697A59A038B}">
      <dgm:prSet/>
      <dgm:spPr/>
      <dgm:t>
        <a:bodyPr/>
        <a:lstStyle/>
        <a:p>
          <a:r>
            <a:rPr lang="en-US"/>
            <a:t>Hotel Haven is a luxury hotel chain with multiple locations.</a:t>
          </a:r>
        </a:p>
      </dgm:t>
    </dgm:pt>
    <dgm:pt modelId="{0378AEA7-4934-4FC8-8DA4-1FA10066834C}" type="parTrans" cxnId="{3057A32E-E714-4381-85C5-CE93CBC175A6}">
      <dgm:prSet/>
      <dgm:spPr/>
      <dgm:t>
        <a:bodyPr/>
        <a:lstStyle/>
        <a:p>
          <a:endParaRPr lang="en-US"/>
        </a:p>
      </dgm:t>
    </dgm:pt>
    <dgm:pt modelId="{9D991436-4F52-4215-BC20-F9971BB20F49}" type="sibTrans" cxnId="{3057A32E-E714-4381-85C5-CE93CBC175A6}">
      <dgm:prSet/>
      <dgm:spPr/>
      <dgm:t>
        <a:bodyPr/>
        <a:lstStyle/>
        <a:p>
          <a:endParaRPr lang="en-US"/>
        </a:p>
      </dgm:t>
    </dgm:pt>
    <dgm:pt modelId="{8061CAF1-2649-4568-BD7D-FB903B5D57AB}">
      <dgm:prSet/>
      <dgm:spPr/>
      <dgm:t>
        <a:bodyPr/>
        <a:lstStyle/>
        <a:p>
          <a:r>
            <a:rPr lang="en-US"/>
            <a:t>Offers various room types, meal plans, and parking options.</a:t>
          </a:r>
        </a:p>
      </dgm:t>
    </dgm:pt>
    <dgm:pt modelId="{3806B337-FA97-4365-AD58-9C18BCCB0F91}" type="parTrans" cxnId="{FED1F340-E8CE-4DF8-86FB-DC0D2BD76147}">
      <dgm:prSet/>
      <dgm:spPr/>
      <dgm:t>
        <a:bodyPr/>
        <a:lstStyle/>
        <a:p>
          <a:endParaRPr lang="en-US"/>
        </a:p>
      </dgm:t>
    </dgm:pt>
    <dgm:pt modelId="{8060A425-8583-4BE7-9B64-7F397E41E8ED}" type="sibTrans" cxnId="{FED1F340-E8CE-4DF8-86FB-DC0D2BD76147}">
      <dgm:prSet/>
      <dgm:spPr/>
      <dgm:t>
        <a:bodyPr/>
        <a:lstStyle/>
        <a:p>
          <a:endParaRPr lang="en-US"/>
        </a:p>
      </dgm:t>
    </dgm:pt>
    <dgm:pt modelId="{BBF23E76-072C-44AE-9C98-CA84766D65E9}">
      <dgm:prSet/>
      <dgm:spPr/>
      <dgm:t>
        <a:bodyPr/>
        <a:lstStyle/>
        <a:p>
          <a:r>
            <a:rPr lang="en-US" dirty="0"/>
            <a:t>Faces challenges in predicting customer cancellations, which impacts their ability to </a:t>
          </a:r>
          <a:r>
            <a:rPr lang="en-US" b="1" dirty="0"/>
            <a:t>manage resources </a:t>
          </a:r>
          <a:r>
            <a:rPr lang="en-US" dirty="0"/>
            <a:t>effectively.</a:t>
          </a:r>
        </a:p>
      </dgm:t>
    </dgm:pt>
    <dgm:pt modelId="{D9A3C4B4-7B43-4A01-BE1F-1F7902BDB361}" type="parTrans" cxnId="{6870909F-4A55-48DA-B9B2-5F2C0338DBD2}">
      <dgm:prSet/>
      <dgm:spPr/>
      <dgm:t>
        <a:bodyPr/>
        <a:lstStyle/>
        <a:p>
          <a:endParaRPr lang="en-US"/>
        </a:p>
      </dgm:t>
    </dgm:pt>
    <dgm:pt modelId="{BF27E616-0695-4742-9EEE-B41C539AA0FB}" type="sibTrans" cxnId="{6870909F-4A55-48DA-B9B2-5F2C0338DBD2}">
      <dgm:prSet/>
      <dgm:spPr/>
      <dgm:t>
        <a:bodyPr/>
        <a:lstStyle/>
        <a:p>
          <a:endParaRPr lang="en-US"/>
        </a:p>
      </dgm:t>
    </dgm:pt>
    <dgm:pt modelId="{F697716C-2246-43F9-A4FF-DB0EADF22767}">
      <dgm:prSet/>
      <dgm:spPr/>
      <dgm:t>
        <a:bodyPr/>
        <a:lstStyle/>
        <a:p>
          <a:r>
            <a:rPr lang="en-US" dirty="0"/>
            <a:t>Goal: Understand booking patterns and create strategies to improve customer retention and reduce cancellations.</a:t>
          </a:r>
        </a:p>
      </dgm:t>
    </dgm:pt>
    <dgm:pt modelId="{5DEF3A42-440E-49A4-A1E6-3E51190426C0}" type="parTrans" cxnId="{0A2DC7FA-A8DA-4808-958E-EB713BAF7A25}">
      <dgm:prSet/>
      <dgm:spPr/>
      <dgm:t>
        <a:bodyPr/>
        <a:lstStyle/>
        <a:p>
          <a:endParaRPr lang="en-US"/>
        </a:p>
      </dgm:t>
    </dgm:pt>
    <dgm:pt modelId="{1B1F3EAB-76F8-4065-A2F9-2DF0CBE2A822}" type="sibTrans" cxnId="{0A2DC7FA-A8DA-4808-958E-EB713BAF7A25}">
      <dgm:prSet/>
      <dgm:spPr/>
      <dgm:t>
        <a:bodyPr/>
        <a:lstStyle/>
        <a:p>
          <a:endParaRPr lang="en-US"/>
        </a:p>
      </dgm:t>
    </dgm:pt>
    <dgm:pt modelId="{A836AE3F-FBA8-4687-A14E-148F266FFD56}" type="pres">
      <dgm:prSet presAssocID="{56534F04-ACC4-4081-A9A6-30402F794B60}" presName="linear" presStyleCnt="0">
        <dgm:presLayoutVars>
          <dgm:animLvl val="lvl"/>
          <dgm:resizeHandles val="exact"/>
        </dgm:presLayoutVars>
      </dgm:prSet>
      <dgm:spPr/>
    </dgm:pt>
    <dgm:pt modelId="{0B6D7E69-84F8-45C4-8E2F-D8FBC361E99C}" type="pres">
      <dgm:prSet presAssocID="{841185FD-9121-472C-83C5-F697A59A038B}" presName="parentText" presStyleLbl="node1" presStyleIdx="0" presStyleCnt="4">
        <dgm:presLayoutVars>
          <dgm:chMax val="0"/>
          <dgm:bulletEnabled val="1"/>
        </dgm:presLayoutVars>
      </dgm:prSet>
      <dgm:spPr/>
    </dgm:pt>
    <dgm:pt modelId="{5043267A-47DD-4583-B19C-797FDDB216AA}" type="pres">
      <dgm:prSet presAssocID="{9D991436-4F52-4215-BC20-F9971BB20F49}" presName="spacer" presStyleCnt="0"/>
      <dgm:spPr/>
    </dgm:pt>
    <dgm:pt modelId="{B33770DB-7A9B-49AC-95BE-2C55851158FC}" type="pres">
      <dgm:prSet presAssocID="{8061CAF1-2649-4568-BD7D-FB903B5D57AB}" presName="parentText" presStyleLbl="node1" presStyleIdx="1" presStyleCnt="4">
        <dgm:presLayoutVars>
          <dgm:chMax val="0"/>
          <dgm:bulletEnabled val="1"/>
        </dgm:presLayoutVars>
      </dgm:prSet>
      <dgm:spPr/>
    </dgm:pt>
    <dgm:pt modelId="{874C999A-3AAB-46BE-9810-546B28534189}" type="pres">
      <dgm:prSet presAssocID="{8060A425-8583-4BE7-9B64-7F397E41E8ED}" presName="spacer" presStyleCnt="0"/>
      <dgm:spPr/>
    </dgm:pt>
    <dgm:pt modelId="{71C8CCBB-EEAD-4055-A36A-7ACFFD4473A7}" type="pres">
      <dgm:prSet presAssocID="{BBF23E76-072C-44AE-9C98-CA84766D65E9}" presName="parentText" presStyleLbl="node1" presStyleIdx="2" presStyleCnt="4">
        <dgm:presLayoutVars>
          <dgm:chMax val="0"/>
          <dgm:bulletEnabled val="1"/>
        </dgm:presLayoutVars>
      </dgm:prSet>
      <dgm:spPr/>
    </dgm:pt>
    <dgm:pt modelId="{0895992D-AAF2-4F76-8B1B-13172C3E3335}" type="pres">
      <dgm:prSet presAssocID="{BF27E616-0695-4742-9EEE-B41C539AA0FB}" presName="spacer" presStyleCnt="0"/>
      <dgm:spPr/>
    </dgm:pt>
    <dgm:pt modelId="{D81608BE-DBB1-47C6-BE36-2FC216053B24}" type="pres">
      <dgm:prSet presAssocID="{F697716C-2246-43F9-A4FF-DB0EADF22767}" presName="parentText" presStyleLbl="node1" presStyleIdx="3" presStyleCnt="4">
        <dgm:presLayoutVars>
          <dgm:chMax val="0"/>
          <dgm:bulletEnabled val="1"/>
        </dgm:presLayoutVars>
      </dgm:prSet>
      <dgm:spPr/>
    </dgm:pt>
  </dgm:ptLst>
  <dgm:cxnLst>
    <dgm:cxn modelId="{28D37122-25BB-406B-AABE-560BC4EC107B}" type="presOf" srcId="{841185FD-9121-472C-83C5-F697A59A038B}" destId="{0B6D7E69-84F8-45C4-8E2F-D8FBC361E99C}" srcOrd="0" destOrd="0" presId="urn:microsoft.com/office/officeart/2005/8/layout/vList2"/>
    <dgm:cxn modelId="{3057A32E-E714-4381-85C5-CE93CBC175A6}" srcId="{56534F04-ACC4-4081-A9A6-30402F794B60}" destId="{841185FD-9121-472C-83C5-F697A59A038B}" srcOrd="0" destOrd="0" parTransId="{0378AEA7-4934-4FC8-8DA4-1FA10066834C}" sibTransId="{9D991436-4F52-4215-BC20-F9971BB20F49}"/>
    <dgm:cxn modelId="{FED1F340-E8CE-4DF8-86FB-DC0D2BD76147}" srcId="{56534F04-ACC4-4081-A9A6-30402F794B60}" destId="{8061CAF1-2649-4568-BD7D-FB903B5D57AB}" srcOrd="1" destOrd="0" parTransId="{3806B337-FA97-4365-AD58-9C18BCCB0F91}" sibTransId="{8060A425-8583-4BE7-9B64-7F397E41E8ED}"/>
    <dgm:cxn modelId="{8BEC526E-7900-4CCD-8224-AC232970B471}" type="presOf" srcId="{F697716C-2246-43F9-A4FF-DB0EADF22767}" destId="{D81608BE-DBB1-47C6-BE36-2FC216053B24}" srcOrd="0" destOrd="0" presId="urn:microsoft.com/office/officeart/2005/8/layout/vList2"/>
    <dgm:cxn modelId="{6870909F-4A55-48DA-B9B2-5F2C0338DBD2}" srcId="{56534F04-ACC4-4081-A9A6-30402F794B60}" destId="{BBF23E76-072C-44AE-9C98-CA84766D65E9}" srcOrd="2" destOrd="0" parTransId="{D9A3C4B4-7B43-4A01-BE1F-1F7902BDB361}" sibTransId="{BF27E616-0695-4742-9EEE-B41C539AA0FB}"/>
    <dgm:cxn modelId="{5ACC38CF-DAD2-4533-B56F-BABA93C56628}" type="presOf" srcId="{8061CAF1-2649-4568-BD7D-FB903B5D57AB}" destId="{B33770DB-7A9B-49AC-95BE-2C55851158FC}" srcOrd="0" destOrd="0" presId="urn:microsoft.com/office/officeart/2005/8/layout/vList2"/>
    <dgm:cxn modelId="{BE276DE8-A6F7-44DA-A2AA-EEDA3E6BC10D}" type="presOf" srcId="{BBF23E76-072C-44AE-9C98-CA84766D65E9}" destId="{71C8CCBB-EEAD-4055-A36A-7ACFFD4473A7}" srcOrd="0" destOrd="0" presId="urn:microsoft.com/office/officeart/2005/8/layout/vList2"/>
    <dgm:cxn modelId="{6F37E9EF-0D48-41F1-BF6F-088667AEE90A}" type="presOf" srcId="{56534F04-ACC4-4081-A9A6-30402F794B60}" destId="{A836AE3F-FBA8-4687-A14E-148F266FFD56}" srcOrd="0" destOrd="0" presId="urn:microsoft.com/office/officeart/2005/8/layout/vList2"/>
    <dgm:cxn modelId="{0A2DC7FA-A8DA-4808-958E-EB713BAF7A25}" srcId="{56534F04-ACC4-4081-A9A6-30402F794B60}" destId="{F697716C-2246-43F9-A4FF-DB0EADF22767}" srcOrd="3" destOrd="0" parTransId="{5DEF3A42-440E-49A4-A1E6-3E51190426C0}" sibTransId="{1B1F3EAB-76F8-4065-A2F9-2DF0CBE2A822}"/>
    <dgm:cxn modelId="{FAC708F7-A11D-4658-ADDE-64D5B4F55FF6}" type="presParOf" srcId="{A836AE3F-FBA8-4687-A14E-148F266FFD56}" destId="{0B6D7E69-84F8-45C4-8E2F-D8FBC361E99C}" srcOrd="0" destOrd="0" presId="urn:microsoft.com/office/officeart/2005/8/layout/vList2"/>
    <dgm:cxn modelId="{3BDA614C-48A1-4DCD-8D87-76958F8A7900}" type="presParOf" srcId="{A836AE3F-FBA8-4687-A14E-148F266FFD56}" destId="{5043267A-47DD-4583-B19C-797FDDB216AA}" srcOrd="1" destOrd="0" presId="urn:microsoft.com/office/officeart/2005/8/layout/vList2"/>
    <dgm:cxn modelId="{20B6BB04-3E0C-417B-B8AA-017C15DBF267}" type="presParOf" srcId="{A836AE3F-FBA8-4687-A14E-148F266FFD56}" destId="{B33770DB-7A9B-49AC-95BE-2C55851158FC}" srcOrd="2" destOrd="0" presId="urn:microsoft.com/office/officeart/2005/8/layout/vList2"/>
    <dgm:cxn modelId="{ECE73286-988C-4FD6-BC25-4C757A723340}" type="presParOf" srcId="{A836AE3F-FBA8-4687-A14E-148F266FFD56}" destId="{874C999A-3AAB-46BE-9810-546B28534189}" srcOrd="3" destOrd="0" presId="urn:microsoft.com/office/officeart/2005/8/layout/vList2"/>
    <dgm:cxn modelId="{EF1FAAAC-8FB2-465F-B6C1-BB1F672F829A}" type="presParOf" srcId="{A836AE3F-FBA8-4687-A14E-148F266FFD56}" destId="{71C8CCBB-EEAD-4055-A36A-7ACFFD4473A7}" srcOrd="4" destOrd="0" presId="urn:microsoft.com/office/officeart/2005/8/layout/vList2"/>
    <dgm:cxn modelId="{3B71873B-0451-4681-9E0C-9B5AC6A47DAF}" type="presParOf" srcId="{A836AE3F-FBA8-4687-A14E-148F266FFD56}" destId="{0895992D-AAF2-4F76-8B1B-13172C3E3335}" srcOrd="5" destOrd="0" presId="urn:microsoft.com/office/officeart/2005/8/layout/vList2"/>
    <dgm:cxn modelId="{A52E7F6C-5DB0-4CA3-A0EE-90271C605E59}" type="presParOf" srcId="{A836AE3F-FBA8-4687-A14E-148F266FFD56}" destId="{D81608BE-DBB1-47C6-BE36-2FC216053B2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4BB2488-9139-468D-BF00-105753AD8DA3}"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en-US"/>
        </a:p>
      </dgm:t>
    </dgm:pt>
    <dgm:pt modelId="{9D6D6BE1-AF58-4DAF-8489-CFFAAF958018}">
      <dgm:prSet/>
      <dgm:spPr/>
      <dgm:t>
        <a:bodyPr/>
        <a:lstStyle/>
        <a:p>
          <a:r>
            <a:rPr lang="en-US" dirty="0">
              <a:solidFill>
                <a:srgbClr val="002060"/>
              </a:solidFill>
            </a:rPr>
            <a:t>High cancellation rates lead to lost revenue and inefficient resource allocation</a:t>
          </a:r>
          <a:r>
            <a:rPr lang="en-US" dirty="0">
              <a:solidFill>
                <a:srgbClr val="FF0000"/>
              </a:solidFill>
            </a:rPr>
            <a:t>.</a:t>
          </a:r>
        </a:p>
      </dgm:t>
    </dgm:pt>
    <dgm:pt modelId="{5DC3318A-3258-4C4B-B41D-2D1BA13148AB}" type="parTrans" cxnId="{2059030B-AEE2-4148-9845-04F822D37D70}">
      <dgm:prSet/>
      <dgm:spPr/>
      <dgm:t>
        <a:bodyPr/>
        <a:lstStyle/>
        <a:p>
          <a:endParaRPr lang="en-US"/>
        </a:p>
      </dgm:t>
    </dgm:pt>
    <dgm:pt modelId="{37DBF093-8E1E-4B92-B89A-762D2F8BB325}" type="sibTrans" cxnId="{2059030B-AEE2-4148-9845-04F822D37D70}">
      <dgm:prSet/>
      <dgm:spPr/>
      <dgm:t>
        <a:bodyPr/>
        <a:lstStyle/>
        <a:p>
          <a:endParaRPr lang="en-US"/>
        </a:p>
      </dgm:t>
    </dgm:pt>
    <dgm:pt modelId="{692D674F-BC62-4C47-8738-7BAB1F239EC5}">
      <dgm:prSet/>
      <dgm:spPr/>
      <dgm:t>
        <a:bodyPr/>
        <a:lstStyle/>
        <a:p>
          <a:r>
            <a:rPr lang="en-US" dirty="0">
              <a:solidFill>
                <a:srgbClr val="002060"/>
              </a:solidFill>
            </a:rPr>
            <a:t>Existing system lacks insights into why customers cancel their bookings</a:t>
          </a:r>
          <a:r>
            <a:rPr lang="en-US" dirty="0"/>
            <a:t>.</a:t>
          </a:r>
        </a:p>
      </dgm:t>
    </dgm:pt>
    <dgm:pt modelId="{166B235B-6B55-4926-BE1E-F55FEC5B848A}" type="parTrans" cxnId="{5D8CF4C3-1718-424D-B14C-8DDEA01D3BF3}">
      <dgm:prSet/>
      <dgm:spPr/>
      <dgm:t>
        <a:bodyPr/>
        <a:lstStyle/>
        <a:p>
          <a:endParaRPr lang="en-US"/>
        </a:p>
      </dgm:t>
    </dgm:pt>
    <dgm:pt modelId="{118A85DB-CAC1-46AC-86CB-29192D324F0F}" type="sibTrans" cxnId="{5D8CF4C3-1718-424D-B14C-8DDEA01D3BF3}">
      <dgm:prSet/>
      <dgm:spPr/>
      <dgm:t>
        <a:bodyPr/>
        <a:lstStyle/>
        <a:p>
          <a:endParaRPr lang="en-US"/>
        </a:p>
      </dgm:t>
    </dgm:pt>
    <dgm:pt modelId="{A65D7649-9E3A-4A23-A9E5-DB5F3E45294A}">
      <dgm:prSet/>
      <dgm:spPr/>
      <dgm:t>
        <a:bodyPr/>
        <a:lstStyle/>
        <a:p>
          <a:r>
            <a:rPr lang="en-US" dirty="0">
              <a:solidFill>
                <a:srgbClr val="002060"/>
              </a:solidFill>
            </a:rPr>
            <a:t>Management seeks to predict cancellations based on booking data to improve operational efficiency and customer retention.</a:t>
          </a:r>
        </a:p>
      </dgm:t>
    </dgm:pt>
    <dgm:pt modelId="{29E0565E-4AB5-426F-A20E-E9FCB29CCB02}" type="parTrans" cxnId="{3CDD63E8-A64F-43C5-949C-A07D4D199EF3}">
      <dgm:prSet/>
      <dgm:spPr/>
      <dgm:t>
        <a:bodyPr/>
        <a:lstStyle/>
        <a:p>
          <a:endParaRPr lang="en-US"/>
        </a:p>
      </dgm:t>
    </dgm:pt>
    <dgm:pt modelId="{7D5A00F9-F311-4F6C-A1D6-D73F718CEBCB}" type="sibTrans" cxnId="{3CDD63E8-A64F-43C5-949C-A07D4D199EF3}">
      <dgm:prSet/>
      <dgm:spPr/>
      <dgm:t>
        <a:bodyPr/>
        <a:lstStyle/>
        <a:p>
          <a:endParaRPr lang="en-US"/>
        </a:p>
      </dgm:t>
    </dgm:pt>
    <dgm:pt modelId="{4B3F40A6-115A-40DD-90EE-756337178860}" type="pres">
      <dgm:prSet presAssocID="{44BB2488-9139-468D-BF00-105753AD8DA3}" presName="Name0" presStyleCnt="0">
        <dgm:presLayoutVars>
          <dgm:dir/>
          <dgm:animLvl val="lvl"/>
          <dgm:resizeHandles val="exact"/>
        </dgm:presLayoutVars>
      </dgm:prSet>
      <dgm:spPr/>
    </dgm:pt>
    <dgm:pt modelId="{6214A7D6-3459-42D1-8FAD-12DE3DA4193C}" type="pres">
      <dgm:prSet presAssocID="{A65D7649-9E3A-4A23-A9E5-DB5F3E45294A}" presName="boxAndChildren" presStyleCnt="0"/>
      <dgm:spPr/>
    </dgm:pt>
    <dgm:pt modelId="{4255BC24-729B-4725-8BA6-74E613759104}" type="pres">
      <dgm:prSet presAssocID="{A65D7649-9E3A-4A23-A9E5-DB5F3E45294A}" presName="parentTextBox" presStyleLbl="node1" presStyleIdx="0" presStyleCnt="3" custScaleY="152973"/>
      <dgm:spPr/>
    </dgm:pt>
    <dgm:pt modelId="{8733A211-7243-4569-B919-EF2A3D058078}" type="pres">
      <dgm:prSet presAssocID="{118A85DB-CAC1-46AC-86CB-29192D324F0F}" presName="sp" presStyleCnt="0"/>
      <dgm:spPr/>
    </dgm:pt>
    <dgm:pt modelId="{90642EF6-8BC1-4A89-B668-85EC151C9175}" type="pres">
      <dgm:prSet presAssocID="{692D674F-BC62-4C47-8738-7BAB1F239EC5}" presName="arrowAndChildren" presStyleCnt="0"/>
      <dgm:spPr/>
    </dgm:pt>
    <dgm:pt modelId="{D97D6B8A-5D02-4BB7-AAE8-F46BC080206F}" type="pres">
      <dgm:prSet presAssocID="{692D674F-BC62-4C47-8738-7BAB1F239EC5}" presName="parentTextArrow" presStyleLbl="node1" presStyleIdx="1" presStyleCnt="3"/>
      <dgm:spPr/>
    </dgm:pt>
    <dgm:pt modelId="{08909AD9-59B5-48EA-B708-47BCBE2E5613}" type="pres">
      <dgm:prSet presAssocID="{37DBF093-8E1E-4B92-B89A-762D2F8BB325}" presName="sp" presStyleCnt="0"/>
      <dgm:spPr/>
    </dgm:pt>
    <dgm:pt modelId="{033D9CF6-A580-4E12-8AD9-8F5B2159BF23}" type="pres">
      <dgm:prSet presAssocID="{9D6D6BE1-AF58-4DAF-8489-CFFAAF958018}" presName="arrowAndChildren" presStyleCnt="0"/>
      <dgm:spPr/>
    </dgm:pt>
    <dgm:pt modelId="{E4CBBD72-0BC3-430E-AAFE-2E0B49248BAD}" type="pres">
      <dgm:prSet presAssocID="{9D6D6BE1-AF58-4DAF-8489-CFFAAF958018}" presName="parentTextArrow" presStyleLbl="node1" presStyleIdx="2" presStyleCnt="3"/>
      <dgm:spPr/>
    </dgm:pt>
  </dgm:ptLst>
  <dgm:cxnLst>
    <dgm:cxn modelId="{2059030B-AEE2-4148-9845-04F822D37D70}" srcId="{44BB2488-9139-468D-BF00-105753AD8DA3}" destId="{9D6D6BE1-AF58-4DAF-8489-CFFAAF958018}" srcOrd="0" destOrd="0" parTransId="{5DC3318A-3258-4C4B-B41D-2D1BA13148AB}" sibTransId="{37DBF093-8E1E-4B92-B89A-762D2F8BB325}"/>
    <dgm:cxn modelId="{897C432A-DE2E-40BD-863D-ED60EE9DF634}" type="presOf" srcId="{44BB2488-9139-468D-BF00-105753AD8DA3}" destId="{4B3F40A6-115A-40DD-90EE-756337178860}" srcOrd="0" destOrd="0" presId="urn:microsoft.com/office/officeart/2005/8/layout/process4"/>
    <dgm:cxn modelId="{2D5C7632-B5C7-43D8-866D-4DD0CA0B2493}" type="presOf" srcId="{9D6D6BE1-AF58-4DAF-8489-CFFAAF958018}" destId="{E4CBBD72-0BC3-430E-AAFE-2E0B49248BAD}" srcOrd="0" destOrd="0" presId="urn:microsoft.com/office/officeart/2005/8/layout/process4"/>
    <dgm:cxn modelId="{415D9A40-3A22-4F2C-8DB6-3847B16DED39}" type="presOf" srcId="{A65D7649-9E3A-4A23-A9E5-DB5F3E45294A}" destId="{4255BC24-729B-4725-8BA6-74E613759104}" srcOrd="0" destOrd="0" presId="urn:microsoft.com/office/officeart/2005/8/layout/process4"/>
    <dgm:cxn modelId="{5D8CF4C3-1718-424D-B14C-8DDEA01D3BF3}" srcId="{44BB2488-9139-468D-BF00-105753AD8DA3}" destId="{692D674F-BC62-4C47-8738-7BAB1F239EC5}" srcOrd="1" destOrd="0" parTransId="{166B235B-6B55-4926-BE1E-F55FEC5B848A}" sibTransId="{118A85DB-CAC1-46AC-86CB-29192D324F0F}"/>
    <dgm:cxn modelId="{3CDD63E8-A64F-43C5-949C-A07D4D199EF3}" srcId="{44BB2488-9139-468D-BF00-105753AD8DA3}" destId="{A65D7649-9E3A-4A23-A9E5-DB5F3E45294A}" srcOrd="2" destOrd="0" parTransId="{29E0565E-4AB5-426F-A20E-E9FCB29CCB02}" sibTransId="{7D5A00F9-F311-4F6C-A1D6-D73F718CEBCB}"/>
    <dgm:cxn modelId="{0D5D0CF3-ACD0-4AA6-8889-823E652412E5}" type="presOf" srcId="{692D674F-BC62-4C47-8738-7BAB1F239EC5}" destId="{D97D6B8A-5D02-4BB7-AAE8-F46BC080206F}" srcOrd="0" destOrd="0" presId="urn:microsoft.com/office/officeart/2005/8/layout/process4"/>
    <dgm:cxn modelId="{1EDAF34D-57DD-4446-B7B8-4828F4245269}" type="presParOf" srcId="{4B3F40A6-115A-40DD-90EE-756337178860}" destId="{6214A7D6-3459-42D1-8FAD-12DE3DA4193C}" srcOrd="0" destOrd="0" presId="urn:microsoft.com/office/officeart/2005/8/layout/process4"/>
    <dgm:cxn modelId="{072438D2-0AD7-489A-B0D1-835D35CC6349}" type="presParOf" srcId="{6214A7D6-3459-42D1-8FAD-12DE3DA4193C}" destId="{4255BC24-729B-4725-8BA6-74E613759104}" srcOrd="0" destOrd="0" presId="urn:microsoft.com/office/officeart/2005/8/layout/process4"/>
    <dgm:cxn modelId="{40F9A790-8459-4B1B-BC6C-8A9A005AEBE9}" type="presParOf" srcId="{4B3F40A6-115A-40DD-90EE-756337178860}" destId="{8733A211-7243-4569-B919-EF2A3D058078}" srcOrd="1" destOrd="0" presId="urn:microsoft.com/office/officeart/2005/8/layout/process4"/>
    <dgm:cxn modelId="{513876F3-FF79-4087-ADA6-4DA25CE592CF}" type="presParOf" srcId="{4B3F40A6-115A-40DD-90EE-756337178860}" destId="{90642EF6-8BC1-4A89-B668-85EC151C9175}" srcOrd="2" destOrd="0" presId="urn:microsoft.com/office/officeart/2005/8/layout/process4"/>
    <dgm:cxn modelId="{8A21B622-C09D-49A9-B5E2-7C55213E4D95}" type="presParOf" srcId="{90642EF6-8BC1-4A89-B668-85EC151C9175}" destId="{D97D6B8A-5D02-4BB7-AAE8-F46BC080206F}" srcOrd="0" destOrd="0" presId="urn:microsoft.com/office/officeart/2005/8/layout/process4"/>
    <dgm:cxn modelId="{ABF78983-2CEA-4A6E-870D-5C365149123C}" type="presParOf" srcId="{4B3F40A6-115A-40DD-90EE-756337178860}" destId="{08909AD9-59B5-48EA-B708-47BCBE2E5613}" srcOrd="3" destOrd="0" presId="urn:microsoft.com/office/officeart/2005/8/layout/process4"/>
    <dgm:cxn modelId="{FA3B4626-8EF8-48E2-8D2C-E4A3CD109A30}" type="presParOf" srcId="{4B3F40A6-115A-40DD-90EE-756337178860}" destId="{033D9CF6-A580-4E12-8AD9-8F5B2159BF23}" srcOrd="4" destOrd="0" presId="urn:microsoft.com/office/officeart/2005/8/layout/process4"/>
    <dgm:cxn modelId="{5C10C249-7237-4C27-BA1D-BC130F979CAE}" type="presParOf" srcId="{033D9CF6-A580-4E12-8AD9-8F5B2159BF23}" destId="{E4CBBD72-0BC3-430E-AAFE-2E0B49248BA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5548271-E954-46E5-8FD1-460E63FA5E5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AE7E5DBB-9C5C-44DD-82BE-8F24AC94E4A5}">
      <dgm:prSet/>
      <dgm:spPr/>
      <dgm:t>
        <a:bodyPr/>
        <a:lstStyle/>
        <a:p>
          <a:pPr>
            <a:lnSpc>
              <a:spcPct val="100000"/>
            </a:lnSpc>
          </a:pPr>
          <a:r>
            <a:rPr lang="en-US"/>
            <a:t>What are the key factors that influence booking cancellations in the hospitality industry?</a:t>
          </a:r>
        </a:p>
      </dgm:t>
    </dgm:pt>
    <dgm:pt modelId="{2BFCD674-6956-405F-A48C-2FA8CF58C99D}" type="parTrans" cxnId="{B774F0FA-A4A1-4A14-8D16-E298E21F088B}">
      <dgm:prSet/>
      <dgm:spPr/>
      <dgm:t>
        <a:bodyPr/>
        <a:lstStyle/>
        <a:p>
          <a:endParaRPr lang="en-US"/>
        </a:p>
      </dgm:t>
    </dgm:pt>
    <dgm:pt modelId="{C471928A-1360-4143-B04D-CE0567DCAA3F}" type="sibTrans" cxnId="{B774F0FA-A4A1-4A14-8D16-E298E21F088B}">
      <dgm:prSet/>
      <dgm:spPr/>
      <dgm:t>
        <a:bodyPr/>
        <a:lstStyle/>
        <a:p>
          <a:pPr>
            <a:lnSpc>
              <a:spcPct val="100000"/>
            </a:lnSpc>
          </a:pPr>
          <a:endParaRPr lang="en-US"/>
        </a:p>
      </dgm:t>
    </dgm:pt>
    <dgm:pt modelId="{8392A15E-4082-4462-905C-801DC4D9D093}">
      <dgm:prSet/>
      <dgm:spPr/>
      <dgm:t>
        <a:bodyPr/>
        <a:lstStyle/>
        <a:p>
          <a:pPr>
            <a:lnSpc>
              <a:spcPct val="100000"/>
            </a:lnSpc>
          </a:pPr>
          <a:r>
            <a:rPr lang="en-US"/>
            <a:t>How accurately can booking status be predicted using available customer and booking data?</a:t>
          </a:r>
        </a:p>
      </dgm:t>
    </dgm:pt>
    <dgm:pt modelId="{FE964D7E-F8D2-49F0-9F6E-6BBF00C68ECA}" type="parTrans" cxnId="{7A7FFE30-E43B-4B47-B0FF-94780489AFF6}">
      <dgm:prSet/>
      <dgm:spPr/>
      <dgm:t>
        <a:bodyPr/>
        <a:lstStyle/>
        <a:p>
          <a:endParaRPr lang="en-US"/>
        </a:p>
      </dgm:t>
    </dgm:pt>
    <dgm:pt modelId="{0B4F5F0C-7B97-4B70-BBBC-CC1BCA9D5627}" type="sibTrans" cxnId="{7A7FFE30-E43B-4B47-B0FF-94780489AFF6}">
      <dgm:prSet/>
      <dgm:spPr/>
      <dgm:t>
        <a:bodyPr/>
        <a:lstStyle/>
        <a:p>
          <a:pPr>
            <a:lnSpc>
              <a:spcPct val="100000"/>
            </a:lnSpc>
          </a:pPr>
          <a:endParaRPr lang="en-US"/>
        </a:p>
      </dgm:t>
    </dgm:pt>
    <dgm:pt modelId="{D8C84C5E-B73D-4251-BB07-2F4A3E2F1B04}">
      <dgm:prSet/>
      <dgm:spPr/>
      <dgm:t>
        <a:bodyPr/>
        <a:lstStyle/>
        <a:p>
          <a:pPr>
            <a:lnSpc>
              <a:spcPct val="100000"/>
            </a:lnSpc>
          </a:pPr>
          <a:r>
            <a:rPr lang="en-US"/>
            <a:t>Which data features contribute most to customer retention and reduced cancellations?</a:t>
          </a:r>
        </a:p>
      </dgm:t>
    </dgm:pt>
    <dgm:pt modelId="{192FC999-C59B-46FD-B392-AFD9C95A573E}" type="parTrans" cxnId="{F0C1A437-3A73-4BEF-9E08-598011D19C72}">
      <dgm:prSet/>
      <dgm:spPr/>
      <dgm:t>
        <a:bodyPr/>
        <a:lstStyle/>
        <a:p>
          <a:endParaRPr lang="en-US"/>
        </a:p>
      </dgm:t>
    </dgm:pt>
    <dgm:pt modelId="{C40A1139-9058-43BC-BBB7-819BCD1CF829}" type="sibTrans" cxnId="{F0C1A437-3A73-4BEF-9E08-598011D19C72}">
      <dgm:prSet/>
      <dgm:spPr/>
      <dgm:t>
        <a:bodyPr/>
        <a:lstStyle/>
        <a:p>
          <a:pPr>
            <a:lnSpc>
              <a:spcPct val="100000"/>
            </a:lnSpc>
          </a:pPr>
          <a:endParaRPr lang="en-US"/>
        </a:p>
      </dgm:t>
    </dgm:pt>
    <dgm:pt modelId="{AC9F42D9-E985-4A9B-B3D9-35FE6598ADC7}">
      <dgm:prSet/>
      <dgm:spPr/>
      <dgm:t>
        <a:bodyPr/>
        <a:lstStyle/>
        <a:p>
          <a:pPr>
            <a:lnSpc>
              <a:spcPct val="100000"/>
            </a:lnSpc>
          </a:pPr>
          <a:r>
            <a:rPr lang="en-US"/>
            <a:t>How can predictive insights be used to optimize hotel resource management?</a:t>
          </a:r>
        </a:p>
      </dgm:t>
    </dgm:pt>
    <dgm:pt modelId="{F38FA83B-010A-4722-89EE-0B170E9DF1DB}" type="parTrans" cxnId="{10FB0F9A-7EA1-43FF-91DA-932C7BC2BAE6}">
      <dgm:prSet/>
      <dgm:spPr/>
      <dgm:t>
        <a:bodyPr/>
        <a:lstStyle/>
        <a:p>
          <a:endParaRPr lang="en-US"/>
        </a:p>
      </dgm:t>
    </dgm:pt>
    <dgm:pt modelId="{85B78742-00AF-4440-A468-81F97BB85686}" type="sibTrans" cxnId="{10FB0F9A-7EA1-43FF-91DA-932C7BC2BAE6}">
      <dgm:prSet/>
      <dgm:spPr/>
      <dgm:t>
        <a:bodyPr/>
        <a:lstStyle/>
        <a:p>
          <a:endParaRPr lang="en-US"/>
        </a:p>
      </dgm:t>
    </dgm:pt>
    <dgm:pt modelId="{20D36A5A-D08D-4EF3-A0D6-1515B0A90419}" type="pres">
      <dgm:prSet presAssocID="{B5548271-E954-46E5-8FD1-460E63FA5E5E}" presName="root" presStyleCnt="0">
        <dgm:presLayoutVars>
          <dgm:dir/>
          <dgm:resizeHandles val="exact"/>
        </dgm:presLayoutVars>
      </dgm:prSet>
      <dgm:spPr/>
    </dgm:pt>
    <dgm:pt modelId="{C0D2348E-ABBB-4497-B808-4F63E69481EC}" type="pres">
      <dgm:prSet presAssocID="{B5548271-E954-46E5-8FD1-460E63FA5E5E}" presName="container" presStyleCnt="0">
        <dgm:presLayoutVars>
          <dgm:dir/>
          <dgm:resizeHandles val="exact"/>
        </dgm:presLayoutVars>
      </dgm:prSet>
      <dgm:spPr/>
    </dgm:pt>
    <dgm:pt modelId="{A2C93611-1B3D-41C9-86C2-310013622498}" type="pres">
      <dgm:prSet presAssocID="{AE7E5DBB-9C5C-44DD-82BE-8F24AC94E4A5}" presName="compNode" presStyleCnt="0"/>
      <dgm:spPr/>
    </dgm:pt>
    <dgm:pt modelId="{D0E303C2-8827-4658-B2C5-BD67CCD7BD27}" type="pres">
      <dgm:prSet presAssocID="{AE7E5DBB-9C5C-44DD-82BE-8F24AC94E4A5}" presName="iconBgRect" presStyleLbl="bgShp" presStyleIdx="0" presStyleCnt="4"/>
      <dgm:spPr/>
    </dgm:pt>
    <dgm:pt modelId="{A28B3E67-A292-4526-900B-199420200CC4}" type="pres">
      <dgm:prSet presAssocID="{AE7E5DBB-9C5C-44DD-82BE-8F24AC94E4A5}"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leep"/>
        </a:ext>
      </dgm:extLst>
    </dgm:pt>
    <dgm:pt modelId="{08B0DB01-4F3E-4D1F-98F3-67F137CC8A53}" type="pres">
      <dgm:prSet presAssocID="{AE7E5DBB-9C5C-44DD-82BE-8F24AC94E4A5}" presName="spaceRect" presStyleCnt="0"/>
      <dgm:spPr/>
    </dgm:pt>
    <dgm:pt modelId="{7727B95D-3791-497E-A486-1AA134646686}" type="pres">
      <dgm:prSet presAssocID="{AE7E5DBB-9C5C-44DD-82BE-8F24AC94E4A5}" presName="textRect" presStyleLbl="revTx" presStyleIdx="0" presStyleCnt="4">
        <dgm:presLayoutVars>
          <dgm:chMax val="1"/>
          <dgm:chPref val="1"/>
        </dgm:presLayoutVars>
      </dgm:prSet>
      <dgm:spPr/>
    </dgm:pt>
    <dgm:pt modelId="{D59B1C6A-AE84-4D85-9E35-00C4C0174ACD}" type="pres">
      <dgm:prSet presAssocID="{C471928A-1360-4143-B04D-CE0567DCAA3F}" presName="sibTrans" presStyleLbl="sibTrans2D1" presStyleIdx="0" presStyleCnt="0"/>
      <dgm:spPr/>
    </dgm:pt>
    <dgm:pt modelId="{44378A0C-AC26-4E38-A802-17605262A94E}" type="pres">
      <dgm:prSet presAssocID="{8392A15E-4082-4462-905C-801DC4D9D093}" presName="compNode" presStyleCnt="0"/>
      <dgm:spPr/>
    </dgm:pt>
    <dgm:pt modelId="{9978BEBF-B3A2-4C4B-83E5-98B7194E8262}" type="pres">
      <dgm:prSet presAssocID="{8392A15E-4082-4462-905C-801DC4D9D093}" presName="iconBgRect" presStyleLbl="bgShp" presStyleIdx="1" presStyleCnt="4"/>
      <dgm:spPr/>
    </dgm:pt>
    <dgm:pt modelId="{C5C9D29A-D05B-465F-B231-A539F86EEB66}" type="pres">
      <dgm:prSet presAssocID="{8392A15E-4082-4462-905C-801DC4D9D093}"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53BAAC8F-9557-4818-B724-83AC5AD188CF}" type="pres">
      <dgm:prSet presAssocID="{8392A15E-4082-4462-905C-801DC4D9D093}" presName="spaceRect" presStyleCnt="0"/>
      <dgm:spPr/>
    </dgm:pt>
    <dgm:pt modelId="{87454F80-2817-48C2-955F-103FB1D8511A}" type="pres">
      <dgm:prSet presAssocID="{8392A15E-4082-4462-905C-801DC4D9D093}" presName="textRect" presStyleLbl="revTx" presStyleIdx="1" presStyleCnt="4">
        <dgm:presLayoutVars>
          <dgm:chMax val="1"/>
          <dgm:chPref val="1"/>
        </dgm:presLayoutVars>
      </dgm:prSet>
      <dgm:spPr/>
    </dgm:pt>
    <dgm:pt modelId="{4B7C096D-B2E3-4C75-9F04-9105585A3302}" type="pres">
      <dgm:prSet presAssocID="{0B4F5F0C-7B97-4B70-BBBC-CC1BCA9D5627}" presName="sibTrans" presStyleLbl="sibTrans2D1" presStyleIdx="0" presStyleCnt="0"/>
      <dgm:spPr/>
    </dgm:pt>
    <dgm:pt modelId="{264999B9-DF20-401C-A935-AAFEA8BDB659}" type="pres">
      <dgm:prSet presAssocID="{D8C84C5E-B73D-4251-BB07-2F4A3E2F1B04}" presName="compNode" presStyleCnt="0"/>
      <dgm:spPr/>
    </dgm:pt>
    <dgm:pt modelId="{325D734A-2E9D-449A-B23D-78BF075FAEBD}" type="pres">
      <dgm:prSet presAssocID="{D8C84C5E-B73D-4251-BB07-2F4A3E2F1B04}" presName="iconBgRect" presStyleLbl="bgShp" presStyleIdx="2" presStyleCnt="4"/>
      <dgm:spPr/>
    </dgm:pt>
    <dgm:pt modelId="{886D3B82-ACB4-402D-A2EB-B8D4472277FC}" type="pres">
      <dgm:prSet presAssocID="{D8C84C5E-B73D-4251-BB07-2F4A3E2F1B04}"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all center"/>
        </a:ext>
      </dgm:extLst>
    </dgm:pt>
    <dgm:pt modelId="{0B427EB0-23BC-462E-A89B-F4DADA124A30}" type="pres">
      <dgm:prSet presAssocID="{D8C84C5E-B73D-4251-BB07-2F4A3E2F1B04}" presName="spaceRect" presStyleCnt="0"/>
      <dgm:spPr/>
    </dgm:pt>
    <dgm:pt modelId="{B12B3285-DE75-4DB9-B569-4976A85C1CF8}" type="pres">
      <dgm:prSet presAssocID="{D8C84C5E-B73D-4251-BB07-2F4A3E2F1B04}" presName="textRect" presStyleLbl="revTx" presStyleIdx="2" presStyleCnt="4">
        <dgm:presLayoutVars>
          <dgm:chMax val="1"/>
          <dgm:chPref val="1"/>
        </dgm:presLayoutVars>
      </dgm:prSet>
      <dgm:spPr/>
    </dgm:pt>
    <dgm:pt modelId="{9246D16D-011A-4347-9C94-041160F5CAD7}" type="pres">
      <dgm:prSet presAssocID="{C40A1139-9058-43BC-BBB7-819BCD1CF829}" presName="sibTrans" presStyleLbl="sibTrans2D1" presStyleIdx="0" presStyleCnt="0"/>
      <dgm:spPr/>
    </dgm:pt>
    <dgm:pt modelId="{DD8BAC39-6799-4167-98BE-ED08E4FFF15A}" type="pres">
      <dgm:prSet presAssocID="{AC9F42D9-E985-4A9B-B3D9-35FE6598ADC7}" presName="compNode" presStyleCnt="0"/>
      <dgm:spPr/>
    </dgm:pt>
    <dgm:pt modelId="{558BFF6C-C96E-4907-A146-69F9A909CB40}" type="pres">
      <dgm:prSet presAssocID="{AC9F42D9-E985-4A9B-B3D9-35FE6598ADC7}" presName="iconBgRect" presStyleLbl="bgShp" presStyleIdx="3" presStyleCnt="4"/>
      <dgm:spPr/>
    </dgm:pt>
    <dgm:pt modelId="{23B4164D-D0B8-4D35-874C-2330629A6553}" type="pres">
      <dgm:prSet presAssocID="{AC9F42D9-E985-4A9B-B3D9-35FE6598ADC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FAEE73A9-1FAA-4C0A-AF67-13F1F671B060}" type="pres">
      <dgm:prSet presAssocID="{AC9F42D9-E985-4A9B-B3D9-35FE6598ADC7}" presName="spaceRect" presStyleCnt="0"/>
      <dgm:spPr/>
    </dgm:pt>
    <dgm:pt modelId="{3358F250-F835-477A-A0C4-D4C1099CA945}" type="pres">
      <dgm:prSet presAssocID="{AC9F42D9-E985-4A9B-B3D9-35FE6598ADC7}" presName="textRect" presStyleLbl="revTx" presStyleIdx="3" presStyleCnt="4">
        <dgm:presLayoutVars>
          <dgm:chMax val="1"/>
          <dgm:chPref val="1"/>
        </dgm:presLayoutVars>
      </dgm:prSet>
      <dgm:spPr/>
    </dgm:pt>
  </dgm:ptLst>
  <dgm:cxnLst>
    <dgm:cxn modelId="{D22DB40B-E5D3-40E5-BEF4-6760B8CFE0BE}" type="presOf" srcId="{AC9F42D9-E985-4A9B-B3D9-35FE6598ADC7}" destId="{3358F250-F835-477A-A0C4-D4C1099CA945}" srcOrd="0" destOrd="0" presId="urn:microsoft.com/office/officeart/2018/2/layout/IconCircleList"/>
    <dgm:cxn modelId="{288F5E29-3ABF-4AD1-94D2-48EF71F9AC05}" type="presOf" srcId="{0B4F5F0C-7B97-4B70-BBBC-CC1BCA9D5627}" destId="{4B7C096D-B2E3-4C75-9F04-9105585A3302}" srcOrd="0" destOrd="0" presId="urn:microsoft.com/office/officeart/2018/2/layout/IconCircleList"/>
    <dgm:cxn modelId="{7A7FFE30-E43B-4B47-B0FF-94780489AFF6}" srcId="{B5548271-E954-46E5-8FD1-460E63FA5E5E}" destId="{8392A15E-4082-4462-905C-801DC4D9D093}" srcOrd="1" destOrd="0" parTransId="{FE964D7E-F8D2-49F0-9F6E-6BBF00C68ECA}" sibTransId="{0B4F5F0C-7B97-4B70-BBBC-CC1BCA9D5627}"/>
    <dgm:cxn modelId="{81BC5E36-B250-4FB8-92F4-E0CD6A73B8FD}" type="presOf" srcId="{C471928A-1360-4143-B04D-CE0567DCAA3F}" destId="{D59B1C6A-AE84-4D85-9E35-00C4C0174ACD}" srcOrd="0" destOrd="0" presId="urn:microsoft.com/office/officeart/2018/2/layout/IconCircleList"/>
    <dgm:cxn modelId="{F0C1A437-3A73-4BEF-9E08-598011D19C72}" srcId="{B5548271-E954-46E5-8FD1-460E63FA5E5E}" destId="{D8C84C5E-B73D-4251-BB07-2F4A3E2F1B04}" srcOrd="2" destOrd="0" parTransId="{192FC999-C59B-46FD-B392-AFD9C95A573E}" sibTransId="{C40A1139-9058-43BC-BBB7-819BCD1CF829}"/>
    <dgm:cxn modelId="{C17BA23E-9174-4E39-BB5D-6C2D468A5406}" type="presOf" srcId="{AE7E5DBB-9C5C-44DD-82BE-8F24AC94E4A5}" destId="{7727B95D-3791-497E-A486-1AA134646686}" srcOrd="0" destOrd="0" presId="urn:microsoft.com/office/officeart/2018/2/layout/IconCircleList"/>
    <dgm:cxn modelId="{40C7F873-7F98-4A9D-9787-E961D1B12F06}" type="presOf" srcId="{B5548271-E954-46E5-8FD1-460E63FA5E5E}" destId="{20D36A5A-D08D-4EF3-A0D6-1515B0A90419}" srcOrd="0" destOrd="0" presId="urn:microsoft.com/office/officeart/2018/2/layout/IconCircleList"/>
    <dgm:cxn modelId="{10FB0F9A-7EA1-43FF-91DA-932C7BC2BAE6}" srcId="{B5548271-E954-46E5-8FD1-460E63FA5E5E}" destId="{AC9F42D9-E985-4A9B-B3D9-35FE6598ADC7}" srcOrd="3" destOrd="0" parTransId="{F38FA83B-010A-4722-89EE-0B170E9DF1DB}" sibTransId="{85B78742-00AF-4440-A468-81F97BB85686}"/>
    <dgm:cxn modelId="{DC0E81BF-EF66-4235-B697-3346615D2621}" type="presOf" srcId="{D8C84C5E-B73D-4251-BB07-2F4A3E2F1B04}" destId="{B12B3285-DE75-4DB9-B569-4976A85C1CF8}" srcOrd="0" destOrd="0" presId="urn:microsoft.com/office/officeart/2018/2/layout/IconCircleList"/>
    <dgm:cxn modelId="{76CA7BDC-E963-4534-B86B-835E03B43ECB}" type="presOf" srcId="{8392A15E-4082-4462-905C-801DC4D9D093}" destId="{87454F80-2817-48C2-955F-103FB1D8511A}" srcOrd="0" destOrd="0" presId="urn:microsoft.com/office/officeart/2018/2/layout/IconCircleList"/>
    <dgm:cxn modelId="{BD21F1F7-7307-4668-B1DC-EFA68FE5CBB9}" type="presOf" srcId="{C40A1139-9058-43BC-BBB7-819BCD1CF829}" destId="{9246D16D-011A-4347-9C94-041160F5CAD7}" srcOrd="0" destOrd="0" presId="urn:microsoft.com/office/officeart/2018/2/layout/IconCircleList"/>
    <dgm:cxn modelId="{B774F0FA-A4A1-4A14-8D16-E298E21F088B}" srcId="{B5548271-E954-46E5-8FD1-460E63FA5E5E}" destId="{AE7E5DBB-9C5C-44DD-82BE-8F24AC94E4A5}" srcOrd="0" destOrd="0" parTransId="{2BFCD674-6956-405F-A48C-2FA8CF58C99D}" sibTransId="{C471928A-1360-4143-B04D-CE0567DCAA3F}"/>
    <dgm:cxn modelId="{6D6A89D7-B01A-4528-A8A6-A2C0E7FE8EF0}" type="presParOf" srcId="{20D36A5A-D08D-4EF3-A0D6-1515B0A90419}" destId="{C0D2348E-ABBB-4497-B808-4F63E69481EC}" srcOrd="0" destOrd="0" presId="urn:microsoft.com/office/officeart/2018/2/layout/IconCircleList"/>
    <dgm:cxn modelId="{00DF6032-82C1-45A5-8A3F-3624973AB50E}" type="presParOf" srcId="{C0D2348E-ABBB-4497-B808-4F63E69481EC}" destId="{A2C93611-1B3D-41C9-86C2-310013622498}" srcOrd="0" destOrd="0" presId="urn:microsoft.com/office/officeart/2018/2/layout/IconCircleList"/>
    <dgm:cxn modelId="{6336CE66-BC54-4018-899C-175FFF75CFA3}" type="presParOf" srcId="{A2C93611-1B3D-41C9-86C2-310013622498}" destId="{D0E303C2-8827-4658-B2C5-BD67CCD7BD27}" srcOrd="0" destOrd="0" presId="urn:microsoft.com/office/officeart/2018/2/layout/IconCircleList"/>
    <dgm:cxn modelId="{81944884-5579-43DB-98E3-4B63E3E549D9}" type="presParOf" srcId="{A2C93611-1B3D-41C9-86C2-310013622498}" destId="{A28B3E67-A292-4526-900B-199420200CC4}" srcOrd="1" destOrd="0" presId="urn:microsoft.com/office/officeart/2018/2/layout/IconCircleList"/>
    <dgm:cxn modelId="{CA6D300D-E274-49B7-B372-55E936EAE99C}" type="presParOf" srcId="{A2C93611-1B3D-41C9-86C2-310013622498}" destId="{08B0DB01-4F3E-4D1F-98F3-67F137CC8A53}" srcOrd="2" destOrd="0" presId="urn:microsoft.com/office/officeart/2018/2/layout/IconCircleList"/>
    <dgm:cxn modelId="{CE16F3FD-0A58-4EC8-979E-84E2EC136937}" type="presParOf" srcId="{A2C93611-1B3D-41C9-86C2-310013622498}" destId="{7727B95D-3791-497E-A486-1AA134646686}" srcOrd="3" destOrd="0" presId="urn:microsoft.com/office/officeart/2018/2/layout/IconCircleList"/>
    <dgm:cxn modelId="{834FA56B-F775-4FA5-9CE7-01A3FC6C631B}" type="presParOf" srcId="{C0D2348E-ABBB-4497-B808-4F63E69481EC}" destId="{D59B1C6A-AE84-4D85-9E35-00C4C0174ACD}" srcOrd="1" destOrd="0" presId="urn:microsoft.com/office/officeart/2018/2/layout/IconCircleList"/>
    <dgm:cxn modelId="{4F9C509C-9739-4F91-9C0A-8AA99BDDF8BB}" type="presParOf" srcId="{C0D2348E-ABBB-4497-B808-4F63E69481EC}" destId="{44378A0C-AC26-4E38-A802-17605262A94E}" srcOrd="2" destOrd="0" presId="urn:microsoft.com/office/officeart/2018/2/layout/IconCircleList"/>
    <dgm:cxn modelId="{DFE480C9-7131-4AFC-B670-8B24B536D65D}" type="presParOf" srcId="{44378A0C-AC26-4E38-A802-17605262A94E}" destId="{9978BEBF-B3A2-4C4B-83E5-98B7194E8262}" srcOrd="0" destOrd="0" presId="urn:microsoft.com/office/officeart/2018/2/layout/IconCircleList"/>
    <dgm:cxn modelId="{AF39CB76-9D0A-47DF-AF44-35350EE2937A}" type="presParOf" srcId="{44378A0C-AC26-4E38-A802-17605262A94E}" destId="{C5C9D29A-D05B-465F-B231-A539F86EEB66}" srcOrd="1" destOrd="0" presId="urn:microsoft.com/office/officeart/2018/2/layout/IconCircleList"/>
    <dgm:cxn modelId="{4F9C9ECD-FA06-4FCF-BC4A-9B29A09D73CE}" type="presParOf" srcId="{44378A0C-AC26-4E38-A802-17605262A94E}" destId="{53BAAC8F-9557-4818-B724-83AC5AD188CF}" srcOrd="2" destOrd="0" presId="urn:microsoft.com/office/officeart/2018/2/layout/IconCircleList"/>
    <dgm:cxn modelId="{419B3986-7C2C-45F7-9BB9-22D3D927F145}" type="presParOf" srcId="{44378A0C-AC26-4E38-A802-17605262A94E}" destId="{87454F80-2817-48C2-955F-103FB1D8511A}" srcOrd="3" destOrd="0" presId="urn:microsoft.com/office/officeart/2018/2/layout/IconCircleList"/>
    <dgm:cxn modelId="{505AEB7D-B1BF-43F0-9EEF-DD6560E40B20}" type="presParOf" srcId="{C0D2348E-ABBB-4497-B808-4F63E69481EC}" destId="{4B7C096D-B2E3-4C75-9F04-9105585A3302}" srcOrd="3" destOrd="0" presId="urn:microsoft.com/office/officeart/2018/2/layout/IconCircleList"/>
    <dgm:cxn modelId="{834E719B-9FD1-4594-A441-8AC58917B0DA}" type="presParOf" srcId="{C0D2348E-ABBB-4497-B808-4F63E69481EC}" destId="{264999B9-DF20-401C-A935-AAFEA8BDB659}" srcOrd="4" destOrd="0" presId="urn:microsoft.com/office/officeart/2018/2/layout/IconCircleList"/>
    <dgm:cxn modelId="{0D859BBA-09C4-4599-9AC6-3BC7AFE5986F}" type="presParOf" srcId="{264999B9-DF20-401C-A935-AAFEA8BDB659}" destId="{325D734A-2E9D-449A-B23D-78BF075FAEBD}" srcOrd="0" destOrd="0" presId="urn:microsoft.com/office/officeart/2018/2/layout/IconCircleList"/>
    <dgm:cxn modelId="{8C107E4D-2C51-4093-A985-057A5E6F358C}" type="presParOf" srcId="{264999B9-DF20-401C-A935-AAFEA8BDB659}" destId="{886D3B82-ACB4-402D-A2EB-B8D4472277FC}" srcOrd="1" destOrd="0" presId="urn:microsoft.com/office/officeart/2018/2/layout/IconCircleList"/>
    <dgm:cxn modelId="{F8F517E0-1DB2-409A-A187-F01A7E75F3FA}" type="presParOf" srcId="{264999B9-DF20-401C-A935-AAFEA8BDB659}" destId="{0B427EB0-23BC-462E-A89B-F4DADA124A30}" srcOrd="2" destOrd="0" presId="urn:microsoft.com/office/officeart/2018/2/layout/IconCircleList"/>
    <dgm:cxn modelId="{9B24807D-ED2A-4AD5-B07F-B75A9B171478}" type="presParOf" srcId="{264999B9-DF20-401C-A935-AAFEA8BDB659}" destId="{B12B3285-DE75-4DB9-B569-4976A85C1CF8}" srcOrd="3" destOrd="0" presId="urn:microsoft.com/office/officeart/2018/2/layout/IconCircleList"/>
    <dgm:cxn modelId="{5621E181-C724-487C-AB42-FF1A733231CE}" type="presParOf" srcId="{C0D2348E-ABBB-4497-B808-4F63E69481EC}" destId="{9246D16D-011A-4347-9C94-041160F5CAD7}" srcOrd="5" destOrd="0" presId="urn:microsoft.com/office/officeart/2018/2/layout/IconCircleList"/>
    <dgm:cxn modelId="{4EFD642C-C9D1-4B85-9477-C3FBAA211488}" type="presParOf" srcId="{C0D2348E-ABBB-4497-B808-4F63E69481EC}" destId="{DD8BAC39-6799-4167-98BE-ED08E4FFF15A}" srcOrd="6" destOrd="0" presId="urn:microsoft.com/office/officeart/2018/2/layout/IconCircleList"/>
    <dgm:cxn modelId="{4CD07F38-5570-454F-9568-7BA2BCC15244}" type="presParOf" srcId="{DD8BAC39-6799-4167-98BE-ED08E4FFF15A}" destId="{558BFF6C-C96E-4907-A146-69F9A909CB40}" srcOrd="0" destOrd="0" presId="urn:microsoft.com/office/officeart/2018/2/layout/IconCircleList"/>
    <dgm:cxn modelId="{E8EB9DFE-D0D6-44EB-82A9-79E3A8E4FD8D}" type="presParOf" srcId="{DD8BAC39-6799-4167-98BE-ED08E4FFF15A}" destId="{23B4164D-D0B8-4D35-874C-2330629A6553}" srcOrd="1" destOrd="0" presId="urn:microsoft.com/office/officeart/2018/2/layout/IconCircleList"/>
    <dgm:cxn modelId="{1B70E3A0-4F5F-4121-BD60-B8DCBA668E07}" type="presParOf" srcId="{DD8BAC39-6799-4167-98BE-ED08E4FFF15A}" destId="{FAEE73A9-1FAA-4C0A-AF67-13F1F671B060}" srcOrd="2" destOrd="0" presId="urn:microsoft.com/office/officeart/2018/2/layout/IconCircleList"/>
    <dgm:cxn modelId="{782667FC-B54C-40C7-9C33-74A2F4774C5A}" type="presParOf" srcId="{DD8BAC39-6799-4167-98BE-ED08E4FFF15A}" destId="{3358F250-F835-477A-A0C4-D4C1099CA945}"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458BE1-8382-4536-840D-E964B947F7BE}" type="doc">
      <dgm:prSet loTypeId="urn:microsoft.com/office/officeart/2016/7/layout/BasicLinearProcessNumbered" loCatId="process" qsTypeId="urn:microsoft.com/office/officeart/2005/8/quickstyle/simple1" qsCatId="simple" csTypeId="urn:microsoft.com/office/officeart/2005/8/colors/colorful2" csCatId="colorful" phldr="1"/>
      <dgm:spPr/>
      <dgm:t>
        <a:bodyPr/>
        <a:lstStyle/>
        <a:p>
          <a:endParaRPr lang="en-US"/>
        </a:p>
      </dgm:t>
    </dgm:pt>
    <dgm:pt modelId="{4544EC40-F9D8-4243-BD4F-90B45A3EEABD}">
      <dgm:prSet/>
      <dgm:spPr/>
      <dgm:t>
        <a:bodyPr/>
        <a:lstStyle/>
        <a:p>
          <a:r>
            <a:rPr lang="en-US" dirty="0"/>
            <a:t>Understanding Cancellation: Analyze booking patterns to uncover reasons for cancellations.</a:t>
          </a:r>
        </a:p>
      </dgm:t>
    </dgm:pt>
    <dgm:pt modelId="{B05E7717-BCDE-42C5-B358-09586CBFD3E5}" type="parTrans" cxnId="{396224F1-5114-453C-8CCA-2C2D35059DC8}">
      <dgm:prSet/>
      <dgm:spPr/>
      <dgm:t>
        <a:bodyPr/>
        <a:lstStyle/>
        <a:p>
          <a:endParaRPr lang="en-US"/>
        </a:p>
      </dgm:t>
    </dgm:pt>
    <dgm:pt modelId="{41561451-40ED-4211-8BF3-7F985B48DA65}" type="sibTrans" cxnId="{396224F1-5114-453C-8CCA-2C2D35059DC8}">
      <dgm:prSet phldrT="1" phldr="0"/>
      <dgm:spPr/>
      <dgm:t>
        <a:bodyPr/>
        <a:lstStyle/>
        <a:p>
          <a:r>
            <a:rPr lang="en-US"/>
            <a:t>1</a:t>
          </a:r>
        </a:p>
      </dgm:t>
    </dgm:pt>
    <dgm:pt modelId="{A6BC19C9-C833-4BC3-8378-7B6A9149A479}">
      <dgm:prSet/>
      <dgm:spPr/>
      <dgm:t>
        <a:bodyPr/>
        <a:lstStyle/>
        <a:p>
          <a:r>
            <a:rPr lang="en-US" dirty="0"/>
            <a:t>Identifying Key Factors: By examining variables like lead time, room type, market segment, and price, specific factors that influence customers' decisions to either cancel or keep their bookings are identified.</a:t>
          </a:r>
        </a:p>
      </dgm:t>
    </dgm:pt>
    <dgm:pt modelId="{07B5AB8F-3084-4FDD-B6BE-6770E62DE242}" type="parTrans" cxnId="{891A91A5-A4CA-488C-B759-C2C9E88991A3}">
      <dgm:prSet/>
      <dgm:spPr/>
      <dgm:t>
        <a:bodyPr/>
        <a:lstStyle/>
        <a:p>
          <a:endParaRPr lang="en-US"/>
        </a:p>
      </dgm:t>
    </dgm:pt>
    <dgm:pt modelId="{E5BD7244-B9CD-44FF-9E0E-C224D030C950}" type="sibTrans" cxnId="{891A91A5-A4CA-488C-B759-C2C9E88991A3}">
      <dgm:prSet phldrT="2" phldr="0"/>
      <dgm:spPr/>
      <dgm:t>
        <a:bodyPr/>
        <a:lstStyle/>
        <a:p>
          <a:r>
            <a:rPr lang="en-US"/>
            <a:t>2</a:t>
          </a:r>
        </a:p>
      </dgm:t>
    </dgm:pt>
    <dgm:pt modelId="{9AEC6661-7119-4503-95C1-E71B467295DF}">
      <dgm:prSet/>
      <dgm:spPr/>
      <dgm:t>
        <a:bodyPr/>
        <a:lstStyle/>
        <a:p>
          <a:r>
            <a:rPr lang="en-US" dirty="0"/>
            <a:t>Optimizing Satisfaction: By minimizing cancellations, the hotel can ensure better resource allocation and improved guest experience.</a:t>
          </a:r>
        </a:p>
      </dgm:t>
    </dgm:pt>
    <dgm:pt modelId="{25DE7FE2-24AD-4F79-BAF7-CA75B787FE2B}" type="parTrans" cxnId="{CBC4703A-226F-4810-8F75-112F99AC52A6}">
      <dgm:prSet/>
      <dgm:spPr/>
      <dgm:t>
        <a:bodyPr/>
        <a:lstStyle/>
        <a:p>
          <a:endParaRPr lang="en-US"/>
        </a:p>
      </dgm:t>
    </dgm:pt>
    <dgm:pt modelId="{8F1FD6A1-7EF0-40C0-A242-D398CB4D8CA8}" type="sibTrans" cxnId="{CBC4703A-226F-4810-8F75-112F99AC52A6}">
      <dgm:prSet phldrT="3" phldr="0"/>
      <dgm:spPr/>
      <dgm:t>
        <a:bodyPr/>
        <a:lstStyle/>
        <a:p>
          <a:r>
            <a:rPr lang="en-US"/>
            <a:t>3</a:t>
          </a:r>
        </a:p>
      </dgm:t>
    </dgm:pt>
    <dgm:pt modelId="{CE8FC0A9-A257-4F39-B814-181D603254F9}" type="pres">
      <dgm:prSet presAssocID="{36458BE1-8382-4536-840D-E964B947F7BE}" presName="Name0" presStyleCnt="0">
        <dgm:presLayoutVars>
          <dgm:animLvl val="lvl"/>
          <dgm:resizeHandles val="exact"/>
        </dgm:presLayoutVars>
      </dgm:prSet>
      <dgm:spPr/>
    </dgm:pt>
    <dgm:pt modelId="{67EFCE1B-1A2F-421D-B125-CCF7766147E3}" type="pres">
      <dgm:prSet presAssocID="{4544EC40-F9D8-4243-BD4F-90B45A3EEABD}" presName="compositeNode" presStyleCnt="0">
        <dgm:presLayoutVars>
          <dgm:bulletEnabled val="1"/>
        </dgm:presLayoutVars>
      </dgm:prSet>
      <dgm:spPr/>
    </dgm:pt>
    <dgm:pt modelId="{4FDD50A1-BA7B-4AB9-B119-0DDE9BCE028E}" type="pres">
      <dgm:prSet presAssocID="{4544EC40-F9D8-4243-BD4F-90B45A3EEABD}" presName="bgRect" presStyleLbl="bgAccFollowNode1" presStyleIdx="0" presStyleCnt="3"/>
      <dgm:spPr/>
    </dgm:pt>
    <dgm:pt modelId="{C82F9FC4-DFD6-4B15-B97D-17F6C270BDBC}" type="pres">
      <dgm:prSet presAssocID="{41561451-40ED-4211-8BF3-7F985B48DA65}" presName="sibTransNodeCircle" presStyleLbl="alignNode1" presStyleIdx="0" presStyleCnt="6">
        <dgm:presLayoutVars>
          <dgm:chMax val="0"/>
          <dgm:bulletEnabled/>
        </dgm:presLayoutVars>
      </dgm:prSet>
      <dgm:spPr/>
    </dgm:pt>
    <dgm:pt modelId="{0EDEF7AC-3E07-44A4-9A17-7BC5F645C0F3}" type="pres">
      <dgm:prSet presAssocID="{4544EC40-F9D8-4243-BD4F-90B45A3EEABD}" presName="bottomLine" presStyleLbl="alignNode1" presStyleIdx="1" presStyleCnt="6">
        <dgm:presLayoutVars/>
      </dgm:prSet>
      <dgm:spPr/>
    </dgm:pt>
    <dgm:pt modelId="{B15B3420-5DCE-4D09-8C8D-5D13CB5767AB}" type="pres">
      <dgm:prSet presAssocID="{4544EC40-F9D8-4243-BD4F-90B45A3EEABD}" presName="nodeText" presStyleLbl="bgAccFollowNode1" presStyleIdx="0" presStyleCnt="3">
        <dgm:presLayoutVars>
          <dgm:bulletEnabled val="1"/>
        </dgm:presLayoutVars>
      </dgm:prSet>
      <dgm:spPr/>
    </dgm:pt>
    <dgm:pt modelId="{218234B7-1690-4A9C-9009-53B500BDDECD}" type="pres">
      <dgm:prSet presAssocID="{41561451-40ED-4211-8BF3-7F985B48DA65}" presName="sibTrans" presStyleCnt="0"/>
      <dgm:spPr/>
    </dgm:pt>
    <dgm:pt modelId="{315373B1-F9C1-4DCA-B656-423D50FD6097}" type="pres">
      <dgm:prSet presAssocID="{A6BC19C9-C833-4BC3-8378-7B6A9149A479}" presName="compositeNode" presStyleCnt="0">
        <dgm:presLayoutVars>
          <dgm:bulletEnabled val="1"/>
        </dgm:presLayoutVars>
      </dgm:prSet>
      <dgm:spPr/>
    </dgm:pt>
    <dgm:pt modelId="{EA191708-E687-4721-B9E4-5D58223BA123}" type="pres">
      <dgm:prSet presAssocID="{A6BC19C9-C833-4BC3-8378-7B6A9149A479}" presName="bgRect" presStyleLbl="bgAccFollowNode1" presStyleIdx="1" presStyleCnt="3"/>
      <dgm:spPr/>
    </dgm:pt>
    <dgm:pt modelId="{4EA5AA1B-55DB-4303-A7EB-8C6E1ADE20B8}" type="pres">
      <dgm:prSet presAssocID="{E5BD7244-B9CD-44FF-9E0E-C224D030C950}" presName="sibTransNodeCircle" presStyleLbl="alignNode1" presStyleIdx="2" presStyleCnt="6">
        <dgm:presLayoutVars>
          <dgm:chMax val="0"/>
          <dgm:bulletEnabled/>
        </dgm:presLayoutVars>
      </dgm:prSet>
      <dgm:spPr/>
    </dgm:pt>
    <dgm:pt modelId="{13323EC5-04D0-4188-9878-321A5E5C5F78}" type="pres">
      <dgm:prSet presAssocID="{A6BC19C9-C833-4BC3-8378-7B6A9149A479}" presName="bottomLine" presStyleLbl="alignNode1" presStyleIdx="3" presStyleCnt="6">
        <dgm:presLayoutVars/>
      </dgm:prSet>
      <dgm:spPr/>
    </dgm:pt>
    <dgm:pt modelId="{15107551-A5EA-4B51-8ACB-0C1445BD3EE0}" type="pres">
      <dgm:prSet presAssocID="{A6BC19C9-C833-4BC3-8378-7B6A9149A479}" presName="nodeText" presStyleLbl="bgAccFollowNode1" presStyleIdx="1" presStyleCnt="3">
        <dgm:presLayoutVars>
          <dgm:bulletEnabled val="1"/>
        </dgm:presLayoutVars>
      </dgm:prSet>
      <dgm:spPr/>
    </dgm:pt>
    <dgm:pt modelId="{29C359BF-9415-4692-B48B-CDE792AEF139}" type="pres">
      <dgm:prSet presAssocID="{E5BD7244-B9CD-44FF-9E0E-C224D030C950}" presName="sibTrans" presStyleCnt="0"/>
      <dgm:spPr/>
    </dgm:pt>
    <dgm:pt modelId="{3D3A6DFC-3338-4B4E-9D6D-F25ED5CC0A54}" type="pres">
      <dgm:prSet presAssocID="{9AEC6661-7119-4503-95C1-E71B467295DF}" presName="compositeNode" presStyleCnt="0">
        <dgm:presLayoutVars>
          <dgm:bulletEnabled val="1"/>
        </dgm:presLayoutVars>
      </dgm:prSet>
      <dgm:spPr/>
    </dgm:pt>
    <dgm:pt modelId="{6B4FF82B-39D3-4143-9B76-1E4CF54B47FC}" type="pres">
      <dgm:prSet presAssocID="{9AEC6661-7119-4503-95C1-E71B467295DF}" presName="bgRect" presStyleLbl="bgAccFollowNode1" presStyleIdx="2" presStyleCnt="3"/>
      <dgm:spPr/>
    </dgm:pt>
    <dgm:pt modelId="{6105A6E0-AB8D-4721-9F78-E99582670A55}" type="pres">
      <dgm:prSet presAssocID="{8F1FD6A1-7EF0-40C0-A242-D398CB4D8CA8}" presName="sibTransNodeCircle" presStyleLbl="alignNode1" presStyleIdx="4" presStyleCnt="6">
        <dgm:presLayoutVars>
          <dgm:chMax val="0"/>
          <dgm:bulletEnabled/>
        </dgm:presLayoutVars>
      </dgm:prSet>
      <dgm:spPr/>
    </dgm:pt>
    <dgm:pt modelId="{BA28B3A8-1C80-4573-8B7A-86846193F657}" type="pres">
      <dgm:prSet presAssocID="{9AEC6661-7119-4503-95C1-E71B467295DF}" presName="bottomLine" presStyleLbl="alignNode1" presStyleIdx="5" presStyleCnt="6">
        <dgm:presLayoutVars/>
      </dgm:prSet>
      <dgm:spPr/>
    </dgm:pt>
    <dgm:pt modelId="{7D89FD47-9C7D-42E2-B08E-D32693A93D82}" type="pres">
      <dgm:prSet presAssocID="{9AEC6661-7119-4503-95C1-E71B467295DF}" presName="nodeText" presStyleLbl="bgAccFollowNode1" presStyleIdx="2" presStyleCnt="3">
        <dgm:presLayoutVars>
          <dgm:bulletEnabled val="1"/>
        </dgm:presLayoutVars>
      </dgm:prSet>
      <dgm:spPr/>
    </dgm:pt>
  </dgm:ptLst>
  <dgm:cxnLst>
    <dgm:cxn modelId="{CBC4703A-226F-4810-8F75-112F99AC52A6}" srcId="{36458BE1-8382-4536-840D-E964B947F7BE}" destId="{9AEC6661-7119-4503-95C1-E71B467295DF}" srcOrd="2" destOrd="0" parTransId="{25DE7FE2-24AD-4F79-BAF7-CA75B787FE2B}" sibTransId="{8F1FD6A1-7EF0-40C0-A242-D398CB4D8CA8}"/>
    <dgm:cxn modelId="{B557183E-F951-4A33-B706-1F85F3DF3F91}" type="presOf" srcId="{9AEC6661-7119-4503-95C1-E71B467295DF}" destId="{6B4FF82B-39D3-4143-9B76-1E4CF54B47FC}" srcOrd="0" destOrd="0" presId="urn:microsoft.com/office/officeart/2016/7/layout/BasicLinearProcessNumbered"/>
    <dgm:cxn modelId="{FCB0885F-B529-40B5-9C99-C84165B85D2B}" type="presOf" srcId="{8F1FD6A1-7EF0-40C0-A242-D398CB4D8CA8}" destId="{6105A6E0-AB8D-4721-9F78-E99582670A55}" srcOrd="0" destOrd="0" presId="urn:microsoft.com/office/officeart/2016/7/layout/BasicLinearProcessNumbered"/>
    <dgm:cxn modelId="{F33B5796-D8FE-42D3-B5F1-B318DEC39A93}" type="presOf" srcId="{9AEC6661-7119-4503-95C1-E71B467295DF}" destId="{7D89FD47-9C7D-42E2-B08E-D32693A93D82}" srcOrd="1" destOrd="0" presId="urn:microsoft.com/office/officeart/2016/7/layout/BasicLinearProcessNumbered"/>
    <dgm:cxn modelId="{960EDE9E-A65E-4EFF-92DE-1BB47A71D5E1}" type="presOf" srcId="{A6BC19C9-C833-4BC3-8378-7B6A9149A479}" destId="{EA191708-E687-4721-B9E4-5D58223BA123}" srcOrd="0" destOrd="0" presId="urn:microsoft.com/office/officeart/2016/7/layout/BasicLinearProcessNumbered"/>
    <dgm:cxn modelId="{3298FB9F-C43B-46BE-966A-E122162B8C27}" type="presOf" srcId="{41561451-40ED-4211-8BF3-7F985B48DA65}" destId="{C82F9FC4-DFD6-4B15-B97D-17F6C270BDBC}" srcOrd="0" destOrd="0" presId="urn:microsoft.com/office/officeart/2016/7/layout/BasicLinearProcessNumbered"/>
    <dgm:cxn modelId="{83452DA5-7396-4E23-A0F8-A24CE6F5DC7F}" type="presOf" srcId="{E5BD7244-B9CD-44FF-9E0E-C224D030C950}" destId="{4EA5AA1B-55DB-4303-A7EB-8C6E1ADE20B8}" srcOrd="0" destOrd="0" presId="urn:microsoft.com/office/officeart/2016/7/layout/BasicLinearProcessNumbered"/>
    <dgm:cxn modelId="{891A91A5-A4CA-488C-B759-C2C9E88991A3}" srcId="{36458BE1-8382-4536-840D-E964B947F7BE}" destId="{A6BC19C9-C833-4BC3-8378-7B6A9149A479}" srcOrd="1" destOrd="0" parTransId="{07B5AB8F-3084-4FDD-B6BE-6770E62DE242}" sibTransId="{E5BD7244-B9CD-44FF-9E0E-C224D030C950}"/>
    <dgm:cxn modelId="{E2EFEDA8-758B-46A9-B824-4F737D2C8BC5}" type="presOf" srcId="{4544EC40-F9D8-4243-BD4F-90B45A3EEABD}" destId="{B15B3420-5DCE-4D09-8C8D-5D13CB5767AB}" srcOrd="1" destOrd="0" presId="urn:microsoft.com/office/officeart/2016/7/layout/BasicLinearProcessNumbered"/>
    <dgm:cxn modelId="{1AD529A9-E2D4-4223-B053-2E53934C3F5D}" type="presOf" srcId="{36458BE1-8382-4536-840D-E964B947F7BE}" destId="{CE8FC0A9-A257-4F39-B814-181D603254F9}" srcOrd="0" destOrd="0" presId="urn:microsoft.com/office/officeart/2016/7/layout/BasicLinearProcessNumbered"/>
    <dgm:cxn modelId="{9F92BFAD-356B-49C7-99DC-8190F4D9E228}" type="presOf" srcId="{A6BC19C9-C833-4BC3-8378-7B6A9149A479}" destId="{15107551-A5EA-4B51-8ACB-0C1445BD3EE0}" srcOrd="1" destOrd="0" presId="urn:microsoft.com/office/officeart/2016/7/layout/BasicLinearProcessNumbered"/>
    <dgm:cxn modelId="{E2B2EADC-5C2B-4974-B520-DE9110E643D4}" type="presOf" srcId="{4544EC40-F9D8-4243-BD4F-90B45A3EEABD}" destId="{4FDD50A1-BA7B-4AB9-B119-0DDE9BCE028E}" srcOrd="0" destOrd="0" presId="urn:microsoft.com/office/officeart/2016/7/layout/BasicLinearProcessNumbered"/>
    <dgm:cxn modelId="{396224F1-5114-453C-8CCA-2C2D35059DC8}" srcId="{36458BE1-8382-4536-840D-E964B947F7BE}" destId="{4544EC40-F9D8-4243-BD4F-90B45A3EEABD}" srcOrd="0" destOrd="0" parTransId="{B05E7717-BCDE-42C5-B358-09586CBFD3E5}" sibTransId="{41561451-40ED-4211-8BF3-7F985B48DA65}"/>
    <dgm:cxn modelId="{6BBEB3F5-FAFC-41F6-A431-5F2678E7D98A}" type="presParOf" srcId="{CE8FC0A9-A257-4F39-B814-181D603254F9}" destId="{67EFCE1B-1A2F-421D-B125-CCF7766147E3}" srcOrd="0" destOrd="0" presId="urn:microsoft.com/office/officeart/2016/7/layout/BasicLinearProcessNumbered"/>
    <dgm:cxn modelId="{30444C96-467B-4956-AD85-ADEFC4E8BF20}" type="presParOf" srcId="{67EFCE1B-1A2F-421D-B125-CCF7766147E3}" destId="{4FDD50A1-BA7B-4AB9-B119-0DDE9BCE028E}" srcOrd="0" destOrd="0" presId="urn:microsoft.com/office/officeart/2016/7/layout/BasicLinearProcessNumbered"/>
    <dgm:cxn modelId="{418C807C-6588-40B7-88EE-4BC3C2EAF1C7}" type="presParOf" srcId="{67EFCE1B-1A2F-421D-B125-CCF7766147E3}" destId="{C82F9FC4-DFD6-4B15-B97D-17F6C270BDBC}" srcOrd="1" destOrd="0" presId="urn:microsoft.com/office/officeart/2016/7/layout/BasicLinearProcessNumbered"/>
    <dgm:cxn modelId="{2BF06F14-B97B-472D-B9F9-44724C142EB7}" type="presParOf" srcId="{67EFCE1B-1A2F-421D-B125-CCF7766147E3}" destId="{0EDEF7AC-3E07-44A4-9A17-7BC5F645C0F3}" srcOrd="2" destOrd="0" presId="urn:microsoft.com/office/officeart/2016/7/layout/BasicLinearProcessNumbered"/>
    <dgm:cxn modelId="{1A3EC93F-F72D-46A7-9946-04212F7A9A34}" type="presParOf" srcId="{67EFCE1B-1A2F-421D-B125-CCF7766147E3}" destId="{B15B3420-5DCE-4D09-8C8D-5D13CB5767AB}" srcOrd="3" destOrd="0" presId="urn:microsoft.com/office/officeart/2016/7/layout/BasicLinearProcessNumbered"/>
    <dgm:cxn modelId="{E94F5F10-0376-4720-87D7-7094933CB5E1}" type="presParOf" srcId="{CE8FC0A9-A257-4F39-B814-181D603254F9}" destId="{218234B7-1690-4A9C-9009-53B500BDDECD}" srcOrd="1" destOrd="0" presId="urn:microsoft.com/office/officeart/2016/7/layout/BasicLinearProcessNumbered"/>
    <dgm:cxn modelId="{8D371863-E5AD-4305-89D5-6ED388D2D1A9}" type="presParOf" srcId="{CE8FC0A9-A257-4F39-B814-181D603254F9}" destId="{315373B1-F9C1-4DCA-B656-423D50FD6097}" srcOrd="2" destOrd="0" presId="urn:microsoft.com/office/officeart/2016/7/layout/BasicLinearProcessNumbered"/>
    <dgm:cxn modelId="{CA1689FD-FC0F-4DD8-8E36-9DEA3EE28613}" type="presParOf" srcId="{315373B1-F9C1-4DCA-B656-423D50FD6097}" destId="{EA191708-E687-4721-B9E4-5D58223BA123}" srcOrd="0" destOrd="0" presId="urn:microsoft.com/office/officeart/2016/7/layout/BasicLinearProcessNumbered"/>
    <dgm:cxn modelId="{6F2816F9-0206-4068-B3A6-38AF18CE7821}" type="presParOf" srcId="{315373B1-F9C1-4DCA-B656-423D50FD6097}" destId="{4EA5AA1B-55DB-4303-A7EB-8C6E1ADE20B8}" srcOrd="1" destOrd="0" presId="urn:microsoft.com/office/officeart/2016/7/layout/BasicLinearProcessNumbered"/>
    <dgm:cxn modelId="{76C8A749-ACB2-4A70-BF0C-DBDA5BAC0BFA}" type="presParOf" srcId="{315373B1-F9C1-4DCA-B656-423D50FD6097}" destId="{13323EC5-04D0-4188-9878-321A5E5C5F78}" srcOrd="2" destOrd="0" presId="urn:microsoft.com/office/officeart/2016/7/layout/BasicLinearProcessNumbered"/>
    <dgm:cxn modelId="{4703DF6A-7CE6-45D7-8B5A-A7EEB2CA4072}" type="presParOf" srcId="{315373B1-F9C1-4DCA-B656-423D50FD6097}" destId="{15107551-A5EA-4B51-8ACB-0C1445BD3EE0}" srcOrd="3" destOrd="0" presId="urn:microsoft.com/office/officeart/2016/7/layout/BasicLinearProcessNumbered"/>
    <dgm:cxn modelId="{EB3BC83B-CD5D-4F33-A0C4-9AD97CA0610C}" type="presParOf" srcId="{CE8FC0A9-A257-4F39-B814-181D603254F9}" destId="{29C359BF-9415-4692-B48B-CDE792AEF139}" srcOrd="3" destOrd="0" presId="urn:microsoft.com/office/officeart/2016/7/layout/BasicLinearProcessNumbered"/>
    <dgm:cxn modelId="{1433DF0C-169B-48E0-AA50-426E07560441}" type="presParOf" srcId="{CE8FC0A9-A257-4F39-B814-181D603254F9}" destId="{3D3A6DFC-3338-4B4E-9D6D-F25ED5CC0A54}" srcOrd="4" destOrd="0" presId="urn:microsoft.com/office/officeart/2016/7/layout/BasicLinearProcessNumbered"/>
    <dgm:cxn modelId="{163CC686-59F9-481B-8066-2F334FA69B3A}" type="presParOf" srcId="{3D3A6DFC-3338-4B4E-9D6D-F25ED5CC0A54}" destId="{6B4FF82B-39D3-4143-9B76-1E4CF54B47FC}" srcOrd="0" destOrd="0" presId="urn:microsoft.com/office/officeart/2016/7/layout/BasicLinearProcessNumbered"/>
    <dgm:cxn modelId="{6919599C-473C-478C-9B02-2D93371BB9C6}" type="presParOf" srcId="{3D3A6DFC-3338-4B4E-9D6D-F25ED5CC0A54}" destId="{6105A6E0-AB8D-4721-9F78-E99582670A55}" srcOrd="1" destOrd="0" presId="urn:microsoft.com/office/officeart/2016/7/layout/BasicLinearProcessNumbered"/>
    <dgm:cxn modelId="{CEF37A28-4FE3-48EF-9769-40590D6DC862}" type="presParOf" srcId="{3D3A6DFC-3338-4B4E-9D6D-F25ED5CC0A54}" destId="{BA28B3A8-1C80-4573-8B7A-86846193F657}" srcOrd="2" destOrd="0" presId="urn:microsoft.com/office/officeart/2016/7/layout/BasicLinearProcessNumbered"/>
    <dgm:cxn modelId="{59EE6137-ADA8-4243-9A6D-5029AEC318AB}" type="presParOf" srcId="{3D3A6DFC-3338-4B4E-9D6D-F25ED5CC0A54}" destId="{7D89FD47-9C7D-42E2-B08E-D32693A93D82}"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5671589-0F0D-49B5-A266-D30B6346F373}"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99D59289-632F-4654-BC95-953703C20607}">
      <dgm:prSet/>
      <dgm:spPr/>
      <dgm:t>
        <a:bodyPr/>
        <a:lstStyle/>
        <a:p>
          <a:r>
            <a:rPr lang="en-US"/>
            <a:t>Booking ID: Unique identifier for each booking (String)</a:t>
          </a:r>
        </a:p>
      </dgm:t>
    </dgm:pt>
    <dgm:pt modelId="{4B58DBC0-5F3D-431B-9AE8-B06F6CA01683}" type="parTrans" cxnId="{E2826719-CDF6-4A26-8BBE-C1AE4CE49D05}">
      <dgm:prSet/>
      <dgm:spPr/>
      <dgm:t>
        <a:bodyPr/>
        <a:lstStyle/>
        <a:p>
          <a:endParaRPr lang="en-US"/>
        </a:p>
      </dgm:t>
    </dgm:pt>
    <dgm:pt modelId="{B614DDE5-3B08-43D0-A4B2-420A4C194A3E}" type="sibTrans" cxnId="{E2826719-CDF6-4A26-8BBE-C1AE4CE49D05}">
      <dgm:prSet/>
      <dgm:spPr/>
      <dgm:t>
        <a:bodyPr/>
        <a:lstStyle/>
        <a:p>
          <a:endParaRPr lang="en-US"/>
        </a:p>
      </dgm:t>
    </dgm:pt>
    <dgm:pt modelId="{5FDD80CD-A308-4106-B6DF-2F5F848B8956}">
      <dgm:prSet/>
      <dgm:spPr/>
      <dgm:t>
        <a:bodyPr/>
        <a:lstStyle/>
        <a:p>
          <a:r>
            <a:rPr lang="en-US"/>
            <a:t>Number of adults and children (Integer)</a:t>
          </a:r>
        </a:p>
      </dgm:t>
    </dgm:pt>
    <dgm:pt modelId="{A613762D-6AF5-4068-A431-955A964C39B5}" type="parTrans" cxnId="{4B8A0F35-BBC2-4147-88C5-0A65E45D6C9E}">
      <dgm:prSet/>
      <dgm:spPr/>
      <dgm:t>
        <a:bodyPr/>
        <a:lstStyle/>
        <a:p>
          <a:endParaRPr lang="en-US"/>
        </a:p>
      </dgm:t>
    </dgm:pt>
    <dgm:pt modelId="{677F782E-FDE7-4F5D-98AB-EB39CD5560B9}" type="sibTrans" cxnId="{4B8A0F35-BBC2-4147-88C5-0A65E45D6C9E}">
      <dgm:prSet/>
      <dgm:spPr/>
      <dgm:t>
        <a:bodyPr/>
        <a:lstStyle/>
        <a:p>
          <a:endParaRPr lang="en-US"/>
        </a:p>
      </dgm:t>
    </dgm:pt>
    <dgm:pt modelId="{8FE5BEFA-2B91-43B2-8602-EC28FA92800B}">
      <dgm:prSet/>
      <dgm:spPr/>
      <dgm:t>
        <a:bodyPr/>
        <a:lstStyle/>
        <a:p>
          <a:r>
            <a:rPr lang="en-US"/>
            <a:t>Number of weekend and week nights (Integer)</a:t>
          </a:r>
        </a:p>
      </dgm:t>
    </dgm:pt>
    <dgm:pt modelId="{4D069F15-F907-46B4-AF57-99E4E3C971C8}" type="parTrans" cxnId="{93A869DE-B5EE-4B6C-8B9D-8931751B9169}">
      <dgm:prSet/>
      <dgm:spPr/>
      <dgm:t>
        <a:bodyPr/>
        <a:lstStyle/>
        <a:p>
          <a:endParaRPr lang="en-US"/>
        </a:p>
      </dgm:t>
    </dgm:pt>
    <dgm:pt modelId="{528B6B59-A970-4D65-831B-8CB8021CC7E3}" type="sibTrans" cxnId="{93A869DE-B5EE-4B6C-8B9D-8931751B9169}">
      <dgm:prSet/>
      <dgm:spPr/>
      <dgm:t>
        <a:bodyPr/>
        <a:lstStyle/>
        <a:p>
          <a:endParaRPr lang="en-US"/>
        </a:p>
      </dgm:t>
    </dgm:pt>
    <dgm:pt modelId="{0F869B2C-F483-43BE-B695-D65D4F7A2A75}">
      <dgm:prSet/>
      <dgm:spPr/>
      <dgm:t>
        <a:bodyPr/>
        <a:lstStyle/>
        <a:p>
          <a:r>
            <a:rPr lang="en-US"/>
            <a:t>Meal plan selection (Categorical)</a:t>
          </a:r>
        </a:p>
      </dgm:t>
    </dgm:pt>
    <dgm:pt modelId="{A2C46D9E-DA4B-409A-A658-93A13D365DB5}" type="parTrans" cxnId="{C8F1CCFC-8351-444B-B284-902C20D0D32B}">
      <dgm:prSet/>
      <dgm:spPr/>
      <dgm:t>
        <a:bodyPr/>
        <a:lstStyle/>
        <a:p>
          <a:endParaRPr lang="en-US"/>
        </a:p>
      </dgm:t>
    </dgm:pt>
    <dgm:pt modelId="{5AFA57D1-F4D0-4427-81E2-E1E6BF3D796D}" type="sibTrans" cxnId="{C8F1CCFC-8351-444B-B284-902C20D0D32B}">
      <dgm:prSet/>
      <dgm:spPr/>
      <dgm:t>
        <a:bodyPr/>
        <a:lstStyle/>
        <a:p>
          <a:endParaRPr lang="en-US"/>
        </a:p>
      </dgm:t>
    </dgm:pt>
    <dgm:pt modelId="{ED7250BF-E244-4E3A-B273-2B1C5E062066}">
      <dgm:prSet/>
      <dgm:spPr/>
      <dgm:t>
        <a:bodyPr/>
        <a:lstStyle/>
        <a:p>
          <a:r>
            <a:rPr lang="en-US"/>
            <a:t>Car parking space (Binary)</a:t>
          </a:r>
        </a:p>
      </dgm:t>
    </dgm:pt>
    <dgm:pt modelId="{1C893809-488E-4A2F-BD0C-71F6041DD34B}" type="parTrans" cxnId="{FB46EDF0-D01D-4D63-846F-FEE2EC65D182}">
      <dgm:prSet/>
      <dgm:spPr/>
      <dgm:t>
        <a:bodyPr/>
        <a:lstStyle/>
        <a:p>
          <a:endParaRPr lang="en-US"/>
        </a:p>
      </dgm:t>
    </dgm:pt>
    <dgm:pt modelId="{FAF151BD-CA8F-473F-81D0-1D5C6E14D7A8}" type="sibTrans" cxnId="{FB46EDF0-D01D-4D63-846F-FEE2EC65D182}">
      <dgm:prSet/>
      <dgm:spPr/>
      <dgm:t>
        <a:bodyPr/>
        <a:lstStyle/>
        <a:p>
          <a:endParaRPr lang="en-US"/>
        </a:p>
      </dgm:t>
    </dgm:pt>
    <dgm:pt modelId="{EEBB8BBE-295A-4774-9E5C-CEDE74275220}">
      <dgm:prSet/>
      <dgm:spPr/>
      <dgm:t>
        <a:bodyPr/>
        <a:lstStyle/>
        <a:p>
          <a:r>
            <a:rPr lang="en-US"/>
            <a:t>Room type (Categorical)</a:t>
          </a:r>
        </a:p>
      </dgm:t>
    </dgm:pt>
    <dgm:pt modelId="{DA673E4E-BFAD-4FC0-B65A-F110596B905E}" type="parTrans" cxnId="{D911DC73-5E2D-461E-AD08-3111EC2AC4E4}">
      <dgm:prSet/>
      <dgm:spPr/>
      <dgm:t>
        <a:bodyPr/>
        <a:lstStyle/>
        <a:p>
          <a:endParaRPr lang="en-US"/>
        </a:p>
      </dgm:t>
    </dgm:pt>
    <dgm:pt modelId="{D673C761-1B3C-437F-BF20-0D7B4DADDDC0}" type="sibTrans" cxnId="{D911DC73-5E2D-461E-AD08-3111EC2AC4E4}">
      <dgm:prSet/>
      <dgm:spPr/>
      <dgm:t>
        <a:bodyPr/>
        <a:lstStyle/>
        <a:p>
          <a:endParaRPr lang="en-US"/>
        </a:p>
      </dgm:t>
    </dgm:pt>
    <dgm:pt modelId="{2B5F78EA-233A-4429-B712-C3B9CE548887}">
      <dgm:prSet/>
      <dgm:spPr/>
      <dgm:t>
        <a:bodyPr/>
        <a:lstStyle/>
        <a:p>
          <a:r>
            <a:rPr lang="en-US"/>
            <a:t>Lead time (Integer)</a:t>
          </a:r>
        </a:p>
      </dgm:t>
    </dgm:pt>
    <dgm:pt modelId="{437DF262-4EA6-4C9F-BA6A-7B16638B24AA}" type="parTrans" cxnId="{623A949D-C77E-4A2E-A9DA-99269679A062}">
      <dgm:prSet/>
      <dgm:spPr/>
      <dgm:t>
        <a:bodyPr/>
        <a:lstStyle/>
        <a:p>
          <a:endParaRPr lang="en-US"/>
        </a:p>
      </dgm:t>
    </dgm:pt>
    <dgm:pt modelId="{FBF8FC27-472C-46F9-90CB-9E2EE3A4C69B}" type="sibTrans" cxnId="{623A949D-C77E-4A2E-A9DA-99269679A062}">
      <dgm:prSet/>
      <dgm:spPr/>
      <dgm:t>
        <a:bodyPr/>
        <a:lstStyle/>
        <a:p>
          <a:endParaRPr lang="en-US"/>
        </a:p>
      </dgm:t>
    </dgm:pt>
    <dgm:pt modelId="{B553A70F-4FC7-453B-B11E-F15F4AD43A2E}">
      <dgm:prSet/>
      <dgm:spPr/>
      <dgm:t>
        <a:bodyPr/>
        <a:lstStyle/>
        <a:p>
          <a:r>
            <a:rPr lang="en-US"/>
            <a:t>Market segment type (Categorical)</a:t>
          </a:r>
        </a:p>
      </dgm:t>
    </dgm:pt>
    <dgm:pt modelId="{764670A3-4D8D-4E5D-811F-A06CE5EB3F8A}" type="parTrans" cxnId="{3AF7D487-23FE-41E8-9DA9-5C7174F475BE}">
      <dgm:prSet/>
      <dgm:spPr/>
      <dgm:t>
        <a:bodyPr/>
        <a:lstStyle/>
        <a:p>
          <a:endParaRPr lang="en-US"/>
        </a:p>
      </dgm:t>
    </dgm:pt>
    <dgm:pt modelId="{B9085A36-6E1C-44CD-9088-F2464BE344FD}" type="sibTrans" cxnId="{3AF7D487-23FE-41E8-9DA9-5C7174F475BE}">
      <dgm:prSet/>
      <dgm:spPr/>
      <dgm:t>
        <a:bodyPr/>
        <a:lstStyle/>
        <a:p>
          <a:endParaRPr lang="en-US"/>
        </a:p>
      </dgm:t>
    </dgm:pt>
    <dgm:pt modelId="{020227C5-D674-4179-8A0D-CC92E6E12D18}" type="pres">
      <dgm:prSet presAssocID="{45671589-0F0D-49B5-A266-D30B6346F373}" presName="Name0" presStyleCnt="0">
        <dgm:presLayoutVars>
          <dgm:dir/>
          <dgm:resizeHandles val="exact"/>
        </dgm:presLayoutVars>
      </dgm:prSet>
      <dgm:spPr/>
    </dgm:pt>
    <dgm:pt modelId="{05079B2C-FDAD-4869-A0BF-A655A5107AE7}" type="pres">
      <dgm:prSet presAssocID="{99D59289-632F-4654-BC95-953703C20607}" presName="node" presStyleLbl="node1" presStyleIdx="0" presStyleCnt="8">
        <dgm:presLayoutVars>
          <dgm:bulletEnabled val="1"/>
        </dgm:presLayoutVars>
      </dgm:prSet>
      <dgm:spPr/>
    </dgm:pt>
    <dgm:pt modelId="{C04602E6-2952-4E48-B822-3CC3B8B6E0ED}" type="pres">
      <dgm:prSet presAssocID="{B614DDE5-3B08-43D0-A4B2-420A4C194A3E}" presName="sibTrans" presStyleLbl="sibTrans1D1" presStyleIdx="0" presStyleCnt="7"/>
      <dgm:spPr/>
    </dgm:pt>
    <dgm:pt modelId="{2E2EE447-2831-4C85-ACE4-143B5271416B}" type="pres">
      <dgm:prSet presAssocID="{B614DDE5-3B08-43D0-A4B2-420A4C194A3E}" presName="connectorText" presStyleLbl="sibTrans1D1" presStyleIdx="0" presStyleCnt="7"/>
      <dgm:spPr/>
    </dgm:pt>
    <dgm:pt modelId="{CB32762B-DA74-4EAA-B080-E805EF225DC9}" type="pres">
      <dgm:prSet presAssocID="{5FDD80CD-A308-4106-B6DF-2F5F848B8956}" presName="node" presStyleLbl="node1" presStyleIdx="1" presStyleCnt="8">
        <dgm:presLayoutVars>
          <dgm:bulletEnabled val="1"/>
        </dgm:presLayoutVars>
      </dgm:prSet>
      <dgm:spPr/>
    </dgm:pt>
    <dgm:pt modelId="{FB10DFBA-1894-43CD-9CD0-81D6F6B7872B}" type="pres">
      <dgm:prSet presAssocID="{677F782E-FDE7-4F5D-98AB-EB39CD5560B9}" presName="sibTrans" presStyleLbl="sibTrans1D1" presStyleIdx="1" presStyleCnt="7"/>
      <dgm:spPr/>
    </dgm:pt>
    <dgm:pt modelId="{32C9DD9E-C9FB-4CAC-B0BF-227603DA80E7}" type="pres">
      <dgm:prSet presAssocID="{677F782E-FDE7-4F5D-98AB-EB39CD5560B9}" presName="connectorText" presStyleLbl="sibTrans1D1" presStyleIdx="1" presStyleCnt="7"/>
      <dgm:spPr/>
    </dgm:pt>
    <dgm:pt modelId="{A82B6788-3B9B-42F9-BC94-B8549EE68276}" type="pres">
      <dgm:prSet presAssocID="{8FE5BEFA-2B91-43B2-8602-EC28FA92800B}" presName="node" presStyleLbl="node1" presStyleIdx="2" presStyleCnt="8">
        <dgm:presLayoutVars>
          <dgm:bulletEnabled val="1"/>
        </dgm:presLayoutVars>
      </dgm:prSet>
      <dgm:spPr/>
    </dgm:pt>
    <dgm:pt modelId="{8EB8228D-C5C8-482E-BEA5-B70C9AE8B555}" type="pres">
      <dgm:prSet presAssocID="{528B6B59-A970-4D65-831B-8CB8021CC7E3}" presName="sibTrans" presStyleLbl="sibTrans1D1" presStyleIdx="2" presStyleCnt="7"/>
      <dgm:spPr/>
    </dgm:pt>
    <dgm:pt modelId="{542DEF9B-2ABA-4D76-8623-7D5350F6A3F1}" type="pres">
      <dgm:prSet presAssocID="{528B6B59-A970-4D65-831B-8CB8021CC7E3}" presName="connectorText" presStyleLbl="sibTrans1D1" presStyleIdx="2" presStyleCnt="7"/>
      <dgm:spPr/>
    </dgm:pt>
    <dgm:pt modelId="{9A46ECD5-C056-4E7F-8649-EF6A100DAC00}" type="pres">
      <dgm:prSet presAssocID="{0F869B2C-F483-43BE-B695-D65D4F7A2A75}" presName="node" presStyleLbl="node1" presStyleIdx="3" presStyleCnt="8">
        <dgm:presLayoutVars>
          <dgm:bulletEnabled val="1"/>
        </dgm:presLayoutVars>
      </dgm:prSet>
      <dgm:spPr/>
    </dgm:pt>
    <dgm:pt modelId="{B8170BF3-A9FA-4C03-AA95-445A34AE4D10}" type="pres">
      <dgm:prSet presAssocID="{5AFA57D1-F4D0-4427-81E2-E1E6BF3D796D}" presName="sibTrans" presStyleLbl="sibTrans1D1" presStyleIdx="3" presStyleCnt="7"/>
      <dgm:spPr/>
    </dgm:pt>
    <dgm:pt modelId="{ADC69EF3-AE9C-499A-B60A-3D0C9332A29A}" type="pres">
      <dgm:prSet presAssocID="{5AFA57D1-F4D0-4427-81E2-E1E6BF3D796D}" presName="connectorText" presStyleLbl="sibTrans1D1" presStyleIdx="3" presStyleCnt="7"/>
      <dgm:spPr/>
    </dgm:pt>
    <dgm:pt modelId="{E3BDD09B-096E-4BD5-839D-48926E11AFBB}" type="pres">
      <dgm:prSet presAssocID="{ED7250BF-E244-4E3A-B273-2B1C5E062066}" presName="node" presStyleLbl="node1" presStyleIdx="4" presStyleCnt="8">
        <dgm:presLayoutVars>
          <dgm:bulletEnabled val="1"/>
        </dgm:presLayoutVars>
      </dgm:prSet>
      <dgm:spPr/>
    </dgm:pt>
    <dgm:pt modelId="{DFE65467-11F4-499B-AF57-0C883599E137}" type="pres">
      <dgm:prSet presAssocID="{FAF151BD-CA8F-473F-81D0-1D5C6E14D7A8}" presName="sibTrans" presStyleLbl="sibTrans1D1" presStyleIdx="4" presStyleCnt="7"/>
      <dgm:spPr/>
    </dgm:pt>
    <dgm:pt modelId="{234BC3DB-050B-4957-A155-695A817EE11A}" type="pres">
      <dgm:prSet presAssocID="{FAF151BD-CA8F-473F-81D0-1D5C6E14D7A8}" presName="connectorText" presStyleLbl="sibTrans1D1" presStyleIdx="4" presStyleCnt="7"/>
      <dgm:spPr/>
    </dgm:pt>
    <dgm:pt modelId="{B51E1AC8-4D7F-4DBE-8B5D-46F7D737EA8E}" type="pres">
      <dgm:prSet presAssocID="{EEBB8BBE-295A-4774-9E5C-CEDE74275220}" presName="node" presStyleLbl="node1" presStyleIdx="5" presStyleCnt="8">
        <dgm:presLayoutVars>
          <dgm:bulletEnabled val="1"/>
        </dgm:presLayoutVars>
      </dgm:prSet>
      <dgm:spPr/>
    </dgm:pt>
    <dgm:pt modelId="{9CCD3692-7F00-48EC-BFDA-655ABC2AA5AD}" type="pres">
      <dgm:prSet presAssocID="{D673C761-1B3C-437F-BF20-0D7B4DADDDC0}" presName="sibTrans" presStyleLbl="sibTrans1D1" presStyleIdx="5" presStyleCnt="7"/>
      <dgm:spPr/>
    </dgm:pt>
    <dgm:pt modelId="{F5373797-45AD-4708-9072-F0D921F638C9}" type="pres">
      <dgm:prSet presAssocID="{D673C761-1B3C-437F-BF20-0D7B4DADDDC0}" presName="connectorText" presStyleLbl="sibTrans1D1" presStyleIdx="5" presStyleCnt="7"/>
      <dgm:spPr/>
    </dgm:pt>
    <dgm:pt modelId="{E777E749-144B-4F66-AF8F-1C501E63EB5B}" type="pres">
      <dgm:prSet presAssocID="{2B5F78EA-233A-4429-B712-C3B9CE548887}" presName="node" presStyleLbl="node1" presStyleIdx="6" presStyleCnt="8">
        <dgm:presLayoutVars>
          <dgm:bulletEnabled val="1"/>
        </dgm:presLayoutVars>
      </dgm:prSet>
      <dgm:spPr/>
    </dgm:pt>
    <dgm:pt modelId="{4A9C8AD2-FE79-447F-9987-2763A5883715}" type="pres">
      <dgm:prSet presAssocID="{FBF8FC27-472C-46F9-90CB-9E2EE3A4C69B}" presName="sibTrans" presStyleLbl="sibTrans1D1" presStyleIdx="6" presStyleCnt="7"/>
      <dgm:spPr/>
    </dgm:pt>
    <dgm:pt modelId="{CD061ED6-236A-4DAC-99E6-745392CAB5F7}" type="pres">
      <dgm:prSet presAssocID="{FBF8FC27-472C-46F9-90CB-9E2EE3A4C69B}" presName="connectorText" presStyleLbl="sibTrans1D1" presStyleIdx="6" presStyleCnt="7"/>
      <dgm:spPr/>
    </dgm:pt>
    <dgm:pt modelId="{E0C9F821-305F-40AB-9616-922D359E0079}" type="pres">
      <dgm:prSet presAssocID="{B553A70F-4FC7-453B-B11E-F15F4AD43A2E}" presName="node" presStyleLbl="node1" presStyleIdx="7" presStyleCnt="8">
        <dgm:presLayoutVars>
          <dgm:bulletEnabled val="1"/>
        </dgm:presLayoutVars>
      </dgm:prSet>
      <dgm:spPr/>
    </dgm:pt>
  </dgm:ptLst>
  <dgm:cxnLst>
    <dgm:cxn modelId="{9D3B2A19-95DC-4685-A41B-797E4B9A3EED}" type="presOf" srcId="{45671589-0F0D-49B5-A266-D30B6346F373}" destId="{020227C5-D674-4179-8A0D-CC92E6E12D18}" srcOrd="0" destOrd="0" presId="urn:microsoft.com/office/officeart/2016/7/layout/RepeatingBendingProcessNew"/>
    <dgm:cxn modelId="{E2826719-CDF6-4A26-8BBE-C1AE4CE49D05}" srcId="{45671589-0F0D-49B5-A266-D30B6346F373}" destId="{99D59289-632F-4654-BC95-953703C20607}" srcOrd="0" destOrd="0" parTransId="{4B58DBC0-5F3D-431B-9AE8-B06F6CA01683}" sibTransId="{B614DDE5-3B08-43D0-A4B2-420A4C194A3E}"/>
    <dgm:cxn modelId="{1EB7BE1C-3DD4-4B7A-A176-B4C6DCE72877}" type="presOf" srcId="{677F782E-FDE7-4F5D-98AB-EB39CD5560B9}" destId="{32C9DD9E-C9FB-4CAC-B0BF-227603DA80E7}" srcOrd="1" destOrd="0" presId="urn:microsoft.com/office/officeart/2016/7/layout/RepeatingBendingProcessNew"/>
    <dgm:cxn modelId="{00E8751F-BBE5-4319-A41B-69A5F06A1D75}" type="presOf" srcId="{677F782E-FDE7-4F5D-98AB-EB39CD5560B9}" destId="{FB10DFBA-1894-43CD-9CD0-81D6F6B7872B}" srcOrd="0" destOrd="0" presId="urn:microsoft.com/office/officeart/2016/7/layout/RepeatingBendingProcessNew"/>
    <dgm:cxn modelId="{A3C79420-F028-45E0-A23D-AC740ABA171B}" type="presOf" srcId="{EEBB8BBE-295A-4774-9E5C-CEDE74275220}" destId="{B51E1AC8-4D7F-4DBE-8B5D-46F7D737EA8E}" srcOrd="0" destOrd="0" presId="urn:microsoft.com/office/officeart/2016/7/layout/RepeatingBendingProcessNew"/>
    <dgm:cxn modelId="{4B8A0F35-BBC2-4147-88C5-0A65E45D6C9E}" srcId="{45671589-0F0D-49B5-A266-D30B6346F373}" destId="{5FDD80CD-A308-4106-B6DF-2F5F848B8956}" srcOrd="1" destOrd="0" parTransId="{A613762D-6AF5-4068-A431-955A964C39B5}" sibTransId="{677F782E-FDE7-4F5D-98AB-EB39CD5560B9}"/>
    <dgm:cxn modelId="{FDFD7544-64ED-4C01-BF53-57FA2346D917}" type="presOf" srcId="{5AFA57D1-F4D0-4427-81E2-E1E6BF3D796D}" destId="{ADC69EF3-AE9C-499A-B60A-3D0C9332A29A}" srcOrd="1" destOrd="0" presId="urn:microsoft.com/office/officeart/2016/7/layout/RepeatingBendingProcessNew"/>
    <dgm:cxn modelId="{544CCB64-ABDA-4CA7-BFD4-37E6CF473401}" type="presOf" srcId="{FBF8FC27-472C-46F9-90CB-9E2EE3A4C69B}" destId="{CD061ED6-236A-4DAC-99E6-745392CAB5F7}" srcOrd="1" destOrd="0" presId="urn:microsoft.com/office/officeart/2016/7/layout/RepeatingBendingProcessNew"/>
    <dgm:cxn modelId="{99F5E248-8F11-4A91-A7AE-D888ADF4FFAA}" type="presOf" srcId="{B614DDE5-3B08-43D0-A4B2-420A4C194A3E}" destId="{2E2EE447-2831-4C85-ACE4-143B5271416B}" srcOrd="1" destOrd="0" presId="urn:microsoft.com/office/officeart/2016/7/layout/RepeatingBendingProcessNew"/>
    <dgm:cxn modelId="{6F32B869-6C30-49EE-8451-E5155232F547}" type="presOf" srcId="{D673C761-1B3C-437F-BF20-0D7B4DADDDC0}" destId="{9CCD3692-7F00-48EC-BFDA-655ABC2AA5AD}" srcOrd="0" destOrd="0" presId="urn:microsoft.com/office/officeart/2016/7/layout/RepeatingBendingProcessNew"/>
    <dgm:cxn modelId="{B98B5B4D-1B60-441C-BF98-88CA74E6CE37}" type="presOf" srcId="{ED7250BF-E244-4E3A-B273-2B1C5E062066}" destId="{E3BDD09B-096E-4BD5-839D-48926E11AFBB}" srcOrd="0" destOrd="0" presId="urn:microsoft.com/office/officeart/2016/7/layout/RepeatingBendingProcessNew"/>
    <dgm:cxn modelId="{C6BC3A71-5D75-446F-864E-23737F914BA3}" type="presOf" srcId="{0F869B2C-F483-43BE-B695-D65D4F7A2A75}" destId="{9A46ECD5-C056-4E7F-8649-EF6A100DAC00}" srcOrd="0" destOrd="0" presId="urn:microsoft.com/office/officeart/2016/7/layout/RepeatingBendingProcessNew"/>
    <dgm:cxn modelId="{D911DC73-5E2D-461E-AD08-3111EC2AC4E4}" srcId="{45671589-0F0D-49B5-A266-D30B6346F373}" destId="{EEBB8BBE-295A-4774-9E5C-CEDE74275220}" srcOrd="5" destOrd="0" parTransId="{DA673E4E-BFAD-4FC0-B65A-F110596B905E}" sibTransId="{D673C761-1B3C-437F-BF20-0D7B4DADDDC0}"/>
    <dgm:cxn modelId="{FDD3F473-1459-44AE-A86F-185DC4634C35}" type="presOf" srcId="{528B6B59-A970-4D65-831B-8CB8021CC7E3}" destId="{542DEF9B-2ABA-4D76-8623-7D5350F6A3F1}" srcOrd="1" destOrd="0" presId="urn:microsoft.com/office/officeart/2016/7/layout/RepeatingBendingProcessNew"/>
    <dgm:cxn modelId="{C1F05D54-7A67-4947-B1B1-96466065CEE7}" type="presOf" srcId="{5FDD80CD-A308-4106-B6DF-2F5F848B8956}" destId="{CB32762B-DA74-4EAA-B080-E805EF225DC9}" srcOrd="0" destOrd="0" presId="urn:microsoft.com/office/officeart/2016/7/layout/RepeatingBendingProcessNew"/>
    <dgm:cxn modelId="{7266F254-0B4A-4276-B8ED-1648642449BC}" type="presOf" srcId="{FAF151BD-CA8F-473F-81D0-1D5C6E14D7A8}" destId="{DFE65467-11F4-499B-AF57-0C883599E137}" srcOrd="0" destOrd="0" presId="urn:microsoft.com/office/officeart/2016/7/layout/RepeatingBendingProcessNew"/>
    <dgm:cxn modelId="{C736035A-934B-457B-A1D1-1A983ACAF5BF}" type="presOf" srcId="{FBF8FC27-472C-46F9-90CB-9E2EE3A4C69B}" destId="{4A9C8AD2-FE79-447F-9987-2763A5883715}" srcOrd="0" destOrd="0" presId="urn:microsoft.com/office/officeart/2016/7/layout/RepeatingBendingProcessNew"/>
    <dgm:cxn modelId="{762BB77F-41D0-40E9-ACBA-F9D2BF795957}" type="presOf" srcId="{99D59289-632F-4654-BC95-953703C20607}" destId="{05079B2C-FDAD-4869-A0BF-A655A5107AE7}" srcOrd="0" destOrd="0" presId="urn:microsoft.com/office/officeart/2016/7/layout/RepeatingBendingProcessNew"/>
    <dgm:cxn modelId="{3AF7D487-23FE-41E8-9DA9-5C7174F475BE}" srcId="{45671589-0F0D-49B5-A266-D30B6346F373}" destId="{B553A70F-4FC7-453B-B11E-F15F4AD43A2E}" srcOrd="7" destOrd="0" parTransId="{764670A3-4D8D-4E5D-811F-A06CE5EB3F8A}" sibTransId="{B9085A36-6E1C-44CD-9088-F2464BE344FD}"/>
    <dgm:cxn modelId="{DF58D898-625B-4612-961F-B7FD3CF6B606}" type="presOf" srcId="{FAF151BD-CA8F-473F-81D0-1D5C6E14D7A8}" destId="{234BC3DB-050B-4957-A155-695A817EE11A}" srcOrd="1" destOrd="0" presId="urn:microsoft.com/office/officeart/2016/7/layout/RepeatingBendingProcessNew"/>
    <dgm:cxn modelId="{623A949D-C77E-4A2E-A9DA-99269679A062}" srcId="{45671589-0F0D-49B5-A266-D30B6346F373}" destId="{2B5F78EA-233A-4429-B712-C3B9CE548887}" srcOrd="6" destOrd="0" parTransId="{437DF262-4EA6-4C9F-BA6A-7B16638B24AA}" sibTransId="{FBF8FC27-472C-46F9-90CB-9E2EE3A4C69B}"/>
    <dgm:cxn modelId="{10C2C19D-7941-4810-B269-1B4389E7656A}" type="presOf" srcId="{528B6B59-A970-4D65-831B-8CB8021CC7E3}" destId="{8EB8228D-C5C8-482E-BEA5-B70C9AE8B555}" srcOrd="0" destOrd="0" presId="urn:microsoft.com/office/officeart/2016/7/layout/RepeatingBendingProcessNew"/>
    <dgm:cxn modelId="{20CACB9F-90E0-401A-8187-0424D06E70A6}" type="presOf" srcId="{2B5F78EA-233A-4429-B712-C3B9CE548887}" destId="{E777E749-144B-4F66-AF8F-1C501E63EB5B}" srcOrd="0" destOrd="0" presId="urn:microsoft.com/office/officeart/2016/7/layout/RepeatingBendingProcessNew"/>
    <dgm:cxn modelId="{0B77A7BA-B874-4479-B096-1AF039DD4435}" type="presOf" srcId="{B614DDE5-3B08-43D0-A4B2-420A4C194A3E}" destId="{C04602E6-2952-4E48-B822-3CC3B8B6E0ED}" srcOrd="0" destOrd="0" presId="urn:microsoft.com/office/officeart/2016/7/layout/RepeatingBendingProcessNew"/>
    <dgm:cxn modelId="{1BCBFFC8-82AF-4D93-A32F-D7AE4307207D}" type="presOf" srcId="{8FE5BEFA-2B91-43B2-8602-EC28FA92800B}" destId="{A82B6788-3B9B-42F9-BC94-B8549EE68276}" srcOrd="0" destOrd="0" presId="urn:microsoft.com/office/officeart/2016/7/layout/RepeatingBendingProcessNew"/>
    <dgm:cxn modelId="{93A869DE-B5EE-4B6C-8B9D-8931751B9169}" srcId="{45671589-0F0D-49B5-A266-D30B6346F373}" destId="{8FE5BEFA-2B91-43B2-8602-EC28FA92800B}" srcOrd="2" destOrd="0" parTransId="{4D069F15-F907-46B4-AF57-99E4E3C971C8}" sibTransId="{528B6B59-A970-4D65-831B-8CB8021CC7E3}"/>
    <dgm:cxn modelId="{C5BC51E9-D2E2-4613-B7C1-2872E0223047}" type="presOf" srcId="{D673C761-1B3C-437F-BF20-0D7B4DADDDC0}" destId="{F5373797-45AD-4708-9072-F0D921F638C9}" srcOrd="1" destOrd="0" presId="urn:microsoft.com/office/officeart/2016/7/layout/RepeatingBendingProcessNew"/>
    <dgm:cxn modelId="{BC64CCF0-D047-4267-9868-F3A5BEDF5442}" type="presOf" srcId="{B553A70F-4FC7-453B-B11E-F15F4AD43A2E}" destId="{E0C9F821-305F-40AB-9616-922D359E0079}" srcOrd="0" destOrd="0" presId="urn:microsoft.com/office/officeart/2016/7/layout/RepeatingBendingProcessNew"/>
    <dgm:cxn modelId="{FB46EDF0-D01D-4D63-846F-FEE2EC65D182}" srcId="{45671589-0F0D-49B5-A266-D30B6346F373}" destId="{ED7250BF-E244-4E3A-B273-2B1C5E062066}" srcOrd="4" destOrd="0" parTransId="{1C893809-488E-4A2F-BD0C-71F6041DD34B}" sibTransId="{FAF151BD-CA8F-473F-81D0-1D5C6E14D7A8}"/>
    <dgm:cxn modelId="{C8F1CCFC-8351-444B-B284-902C20D0D32B}" srcId="{45671589-0F0D-49B5-A266-D30B6346F373}" destId="{0F869B2C-F483-43BE-B695-D65D4F7A2A75}" srcOrd="3" destOrd="0" parTransId="{A2C46D9E-DA4B-409A-A658-93A13D365DB5}" sibTransId="{5AFA57D1-F4D0-4427-81E2-E1E6BF3D796D}"/>
    <dgm:cxn modelId="{7791F7FD-1721-4E27-B890-7BA9161A5D63}" type="presOf" srcId="{5AFA57D1-F4D0-4427-81E2-E1E6BF3D796D}" destId="{B8170BF3-A9FA-4C03-AA95-445A34AE4D10}" srcOrd="0" destOrd="0" presId="urn:microsoft.com/office/officeart/2016/7/layout/RepeatingBendingProcessNew"/>
    <dgm:cxn modelId="{6A593CCA-D678-45FB-BE35-8102BF70DCA6}" type="presParOf" srcId="{020227C5-D674-4179-8A0D-CC92E6E12D18}" destId="{05079B2C-FDAD-4869-A0BF-A655A5107AE7}" srcOrd="0" destOrd="0" presId="urn:microsoft.com/office/officeart/2016/7/layout/RepeatingBendingProcessNew"/>
    <dgm:cxn modelId="{FAFEFE4E-FB99-47FB-9F08-36B163A36533}" type="presParOf" srcId="{020227C5-D674-4179-8A0D-CC92E6E12D18}" destId="{C04602E6-2952-4E48-B822-3CC3B8B6E0ED}" srcOrd="1" destOrd="0" presId="urn:microsoft.com/office/officeart/2016/7/layout/RepeatingBendingProcessNew"/>
    <dgm:cxn modelId="{93D22F36-C31B-49B2-9D7A-31F348FE8A2B}" type="presParOf" srcId="{C04602E6-2952-4E48-B822-3CC3B8B6E0ED}" destId="{2E2EE447-2831-4C85-ACE4-143B5271416B}" srcOrd="0" destOrd="0" presId="urn:microsoft.com/office/officeart/2016/7/layout/RepeatingBendingProcessNew"/>
    <dgm:cxn modelId="{586BDF12-3712-4E66-B063-9088698268EC}" type="presParOf" srcId="{020227C5-D674-4179-8A0D-CC92E6E12D18}" destId="{CB32762B-DA74-4EAA-B080-E805EF225DC9}" srcOrd="2" destOrd="0" presId="urn:microsoft.com/office/officeart/2016/7/layout/RepeatingBendingProcessNew"/>
    <dgm:cxn modelId="{1E3D48D9-723B-4CBC-B0C7-DE9D33452470}" type="presParOf" srcId="{020227C5-D674-4179-8A0D-CC92E6E12D18}" destId="{FB10DFBA-1894-43CD-9CD0-81D6F6B7872B}" srcOrd="3" destOrd="0" presId="urn:microsoft.com/office/officeart/2016/7/layout/RepeatingBendingProcessNew"/>
    <dgm:cxn modelId="{CACA6D34-8695-46BD-A779-1B1469CAB2FA}" type="presParOf" srcId="{FB10DFBA-1894-43CD-9CD0-81D6F6B7872B}" destId="{32C9DD9E-C9FB-4CAC-B0BF-227603DA80E7}" srcOrd="0" destOrd="0" presId="urn:microsoft.com/office/officeart/2016/7/layout/RepeatingBendingProcessNew"/>
    <dgm:cxn modelId="{EA88EF46-B339-4C06-A3DA-07E3311C0AE9}" type="presParOf" srcId="{020227C5-D674-4179-8A0D-CC92E6E12D18}" destId="{A82B6788-3B9B-42F9-BC94-B8549EE68276}" srcOrd="4" destOrd="0" presId="urn:microsoft.com/office/officeart/2016/7/layout/RepeatingBendingProcessNew"/>
    <dgm:cxn modelId="{5758657B-3639-4C24-A086-378841FAB7E5}" type="presParOf" srcId="{020227C5-D674-4179-8A0D-CC92E6E12D18}" destId="{8EB8228D-C5C8-482E-BEA5-B70C9AE8B555}" srcOrd="5" destOrd="0" presId="urn:microsoft.com/office/officeart/2016/7/layout/RepeatingBendingProcessNew"/>
    <dgm:cxn modelId="{2ED63C76-7FC4-4178-B37D-EC778E9D506F}" type="presParOf" srcId="{8EB8228D-C5C8-482E-BEA5-B70C9AE8B555}" destId="{542DEF9B-2ABA-4D76-8623-7D5350F6A3F1}" srcOrd="0" destOrd="0" presId="urn:microsoft.com/office/officeart/2016/7/layout/RepeatingBendingProcessNew"/>
    <dgm:cxn modelId="{60F6353D-D6A3-459E-89BF-011925CA6EF9}" type="presParOf" srcId="{020227C5-D674-4179-8A0D-CC92E6E12D18}" destId="{9A46ECD5-C056-4E7F-8649-EF6A100DAC00}" srcOrd="6" destOrd="0" presId="urn:microsoft.com/office/officeart/2016/7/layout/RepeatingBendingProcessNew"/>
    <dgm:cxn modelId="{0553D485-AC44-44F4-8833-CC1235FC77D5}" type="presParOf" srcId="{020227C5-D674-4179-8A0D-CC92E6E12D18}" destId="{B8170BF3-A9FA-4C03-AA95-445A34AE4D10}" srcOrd="7" destOrd="0" presId="urn:microsoft.com/office/officeart/2016/7/layout/RepeatingBendingProcessNew"/>
    <dgm:cxn modelId="{78D6A96F-DCD3-4708-B18C-49C931DC3F5C}" type="presParOf" srcId="{B8170BF3-A9FA-4C03-AA95-445A34AE4D10}" destId="{ADC69EF3-AE9C-499A-B60A-3D0C9332A29A}" srcOrd="0" destOrd="0" presId="urn:microsoft.com/office/officeart/2016/7/layout/RepeatingBendingProcessNew"/>
    <dgm:cxn modelId="{0DA17418-C31D-4838-9ADE-BFDDD721BF80}" type="presParOf" srcId="{020227C5-D674-4179-8A0D-CC92E6E12D18}" destId="{E3BDD09B-096E-4BD5-839D-48926E11AFBB}" srcOrd="8" destOrd="0" presId="urn:microsoft.com/office/officeart/2016/7/layout/RepeatingBendingProcessNew"/>
    <dgm:cxn modelId="{65A9600C-67F9-42E7-A58F-554F2512C198}" type="presParOf" srcId="{020227C5-D674-4179-8A0D-CC92E6E12D18}" destId="{DFE65467-11F4-499B-AF57-0C883599E137}" srcOrd="9" destOrd="0" presId="urn:microsoft.com/office/officeart/2016/7/layout/RepeatingBendingProcessNew"/>
    <dgm:cxn modelId="{E953C378-EB75-4E15-ADA6-A48721C369A6}" type="presParOf" srcId="{DFE65467-11F4-499B-AF57-0C883599E137}" destId="{234BC3DB-050B-4957-A155-695A817EE11A}" srcOrd="0" destOrd="0" presId="urn:microsoft.com/office/officeart/2016/7/layout/RepeatingBendingProcessNew"/>
    <dgm:cxn modelId="{812C1E12-6C85-4FBB-9D42-098B2F089D1A}" type="presParOf" srcId="{020227C5-D674-4179-8A0D-CC92E6E12D18}" destId="{B51E1AC8-4D7F-4DBE-8B5D-46F7D737EA8E}" srcOrd="10" destOrd="0" presId="urn:microsoft.com/office/officeart/2016/7/layout/RepeatingBendingProcessNew"/>
    <dgm:cxn modelId="{F123642B-B7BC-4AE1-BDC0-ABD3EB137C4B}" type="presParOf" srcId="{020227C5-D674-4179-8A0D-CC92E6E12D18}" destId="{9CCD3692-7F00-48EC-BFDA-655ABC2AA5AD}" srcOrd="11" destOrd="0" presId="urn:microsoft.com/office/officeart/2016/7/layout/RepeatingBendingProcessNew"/>
    <dgm:cxn modelId="{889C536E-F41F-405B-8485-3A58E22BB6A8}" type="presParOf" srcId="{9CCD3692-7F00-48EC-BFDA-655ABC2AA5AD}" destId="{F5373797-45AD-4708-9072-F0D921F638C9}" srcOrd="0" destOrd="0" presId="urn:microsoft.com/office/officeart/2016/7/layout/RepeatingBendingProcessNew"/>
    <dgm:cxn modelId="{8ED97906-C281-4876-B689-BA64DE96DD7B}" type="presParOf" srcId="{020227C5-D674-4179-8A0D-CC92E6E12D18}" destId="{E777E749-144B-4F66-AF8F-1C501E63EB5B}" srcOrd="12" destOrd="0" presId="urn:microsoft.com/office/officeart/2016/7/layout/RepeatingBendingProcessNew"/>
    <dgm:cxn modelId="{C0ED7A85-5917-42F2-BC2B-5E88D6B52A2B}" type="presParOf" srcId="{020227C5-D674-4179-8A0D-CC92E6E12D18}" destId="{4A9C8AD2-FE79-447F-9987-2763A5883715}" srcOrd="13" destOrd="0" presId="urn:microsoft.com/office/officeart/2016/7/layout/RepeatingBendingProcessNew"/>
    <dgm:cxn modelId="{2A80B4D6-ABB1-49D9-969E-8A93688C3CF5}" type="presParOf" srcId="{4A9C8AD2-FE79-447F-9987-2763A5883715}" destId="{CD061ED6-236A-4DAC-99E6-745392CAB5F7}" srcOrd="0" destOrd="0" presId="urn:microsoft.com/office/officeart/2016/7/layout/RepeatingBendingProcessNew"/>
    <dgm:cxn modelId="{EBED2F41-9C9A-4CE4-B2CF-CC5746D30A3E}" type="presParOf" srcId="{020227C5-D674-4179-8A0D-CC92E6E12D18}" destId="{E0C9F821-305F-40AB-9616-922D359E0079}"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873FF5A-5823-4FE4-9A87-02A6B5E4D257}"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30E394F0-9883-409F-80E1-24038F0824B9}">
      <dgm:prSet/>
      <dgm:spPr/>
      <dgm:t>
        <a:bodyPr/>
        <a:lstStyle/>
        <a:p>
          <a:r>
            <a:rPr lang="en-US"/>
            <a:t>Repeat customer status (Binary)</a:t>
          </a:r>
        </a:p>
      </dgm:t>
    </dgm:pt>
    <dgm:pt modelId="{DACA2197-9DF5-48AE-A5CB-33293E559270}" type="parTrans" cxnId="{2BD772CC-D799-4C7A-8D12-91CCC271D18E}">
      <dgm:prSet/>
      <dgm:spPr/>
      <dgm:t>
        <a:bodyPr/>
        <a:lstStyle/>
        <a:p>
          <a:endParaRPr lang="en-US"/>
        </a:p>
      </dgm:t>
    </dgm:pt>
    <dgm:pt modelId="{354A453B-F084-48F3-B5F6-029787EA061E}" type="sibTrans" cxnId="{2BD772CC-D799-4C7A-8D12-91CCC271D18E}">
      <dgm:prSet/>
      <dgm:spPr/>
      <dgm:t>
        <a:bodyPr/>
        <a:lstStyle/>
        <a:p>
          <a:endParaRPr lang="en-US"/>
        </a:p>
      </dgm:t>
    </dgm:pt>
    <dgm:pt modelId="{14EE8043-40F2-4AD2-9F44-D978C2633120}">
      <dgm:prSet/>
      <dgm:spPr/>
      <dgm:t>
        <a:bodyPr/>
        <a:lstStyle/>
        <a:p>
          <a:r>
            <a:rPr lang="en-US"/>
            <a:t>Customer profile indicators (Binary)</a:t>
          </a:r>
        </a:p>
      </dgm:t>
    </dgm:pt>
    <dgm:pt modelId="{AE08B9D7-8405-443E-B64A-5FD85217F4EC}" type="parTrans" cxnId="{C1E7577F-FE4F-4650-99CB-1484F48DC01B}">
      <dgm:prSet/>
      <dgm:spPr/>
      <dgm:t>
        <a:bodyPr/>
        <a:lstStyle/>
        <a:p>
          <a:endParaRPr lang="en-US"/>
        </a:p>
      </dgm:t>
    </dgm:pt>
    <dgm:pt modelId="{97CFFAF8-0869-4C1F-9F84-9AB0FA01D961}" type="sibTrans" cxnId="{C1E7577F-FE4F-4650-99CB-1484F48DC01B}">
      <dgm:prSet/>
      <dgm:spPr/>
      <dgm:t>
        <a:bodyPr/>
        <a:lstStyle/>
        <a:p>
          <a:endParaRPr lang="en-US"/>
        </a:p>
      </dgm:t>
    </dgm:pt>
    <dgm:pt modelId="{3AC054DC-FBD6-4D6C-B6BE-1770B19E031A}">
      <dgm:prSet/>
      <dgm:spPr/>
      <dgm:t>
        <a:bodyPr/>
        <a:lstStyle/>
        <a:p>
          <a:r>
            <a:rPr lang="en-US"/>
            <a:t>Average price (Float)</a:t>
          </a:r>
        </a:p>
      </dgm:t>
    </dgm:pt>
    <dgm:pt modelId="{608A85E2-3B05-4C92-B80F-6DB090CF3550}" type="parTrans" cxnId="{2995CE2F-AF49-4D09-90A9-D39742939623}">
      <dgm:prSet/>
      <dgm:spPr/>
      <dgm:t>
        <a:bodyPr/>
        <a:lstStyle/>
        <a:p>
          <a:endParaRPr lang="en-US"/>
        </a:p>
      </dgm:t>
    </dgm:pt>
    <dgm:pt modelId="{9CCAC482-0BAE-4945-BA5F-868CFCD080AA}" type="sibTrans" cxnId="{2995CE2F-AF49-4D09-90A9-D39742939623}">
      <dgm:prSet/>
      <dgm:spPr/>
      <dgm:t>
        <a:bodyPr/>
        <a:lstStyle/>
        <a:p>
          <a:endParaRPr lang="en-US"/>
        </a:p>
      </dgm:t>
    </dgm:pt>
    <dgm:pt modelId="{643CFFCE-6C5C-4417-B1D3-8CE4A19EC194}">
      <dgm:prSet/>
      <dgm:spPr/>
      <dgm:t>
        <a:bodyPr/>
        <a:lstStyle/>
        <a:p>
          <a:r>
            <a:rPr lang="en-US"/>
            <a:t>Special requests (Integer)</a:t>
          </a:r>
        </a:p>
      </dgm:t>
    </dgm:pt>
    <dgm:pt modelId="{9A23D3BE-E1A3-4CA1-BD5E-DBEB6CD0E45E}" type="parTrans" cxnId="{88AA2F06-74F2-46DB-9BD3-95E117A8014D}">
      <dgm:prSet/>
      <dgm:spPr/>
      <dgm:t>
        <a:bodyPr/>
        <a:lstStyle/>
        <a:p>
          <a:endParaRPr lang="en-US"/>
        </a:p>
      </dgm:t>
    </dgm:pt>
    <dgm:pt modelId="{484A4CD6-40A9-43BF-8E07-87E7B4631C08}" type="sibTrans" cxnId="{88AA2F06-74F2-46DB-9BD3-95E117A8014D}">
      <dgm:prSet/>
      <dgm:spPr/>
      <dgm:t>
        <a:bodyPr/>
        <a:lstStyle/>
        <a:p>
          <a:endParaRPr lang="en-US"/>
        </a:p>
      </dgm:t>
    </dgm:pt>
    <dgm:pt modelId="{2025DE65-48A9-4171-981C-786709E5C113}">
      <dgm:prSet/>
      <dgm:spPr/>
      <dgm:t>
        <a:bodyPr/>
        <a:lstStyle/>
        <a:p>
          <a:r>
            <a:rPr lang="en-US"/>
            <a:t>Date of reservation (Date)</a:t>
          </a:r>
        </a:p>
      </dgm:t>
    </dgm:pt>
    <dgm:pt modelId="{D1EB5C0A-F355-41A8-A3D8-51305E89BE0C}" type="parTrans" cxnId="{73EAAEE0-6978-40A8-A526-238974324985}">
      <dgm:prSet/>
      <dgm:spPr/>
      <dgm:t>
        <a:bodyPr/>
        <a:lstStyle/>
        <a:p>
          <a:endParaRPr lang="en-US"/>
        </a:p>
      </dgm:t>
    </dgm:pt>
    <dgm:pt modelId="{1DC2A76D-44A1-44AD-BDD8-FB3CAF60C132}" type="sibTrans" cxnId="{73EAAEE0-6978-40A8-A526-238974324985}">
      <dgm:prSet/>
      <dgm:spPr/>
      <dgm:t>
        <a:bodyPr/>
        <a:lstStyle/>
        <a:p>
          <a:endParaRPr lang="en-US"/>
        </a:p>
      </dgm:t>
    </dgm:pt>
    <dgm:pt modelId="{5FDACDF4-68A8-41D2-809A-8C53932301AA}">
      <dgm:prSet/>
      <dgm:spPr/>
      <dgm:t>
        <a:bodyPr/>
        <a:lstStyle/>
        <a:p>
          <a:r>
            <a:rPr lang="en-US"/>
            <a:t>Booking status (Categorical)</a:t>
          </a:r>
        </a:p>
      </dgm:t>
    </dgm:pt>
    <dgm:pt modelId="{DA9DB312-AA0A-4293-B0E6-3005278E656E}" type="parTrans" cxnId="{4B99AB57-6E8C-41ED-9157-72CE01CCC3BE}">
      <dgm:prSet/>
      <dgm:spPr/>
      <dgm:t>
        <a:bodyPr/>
        <a:lstStyle/>
        <a:p>
          <a:endParaRPr lang="en-US"/>
        </a:p>
      </dgm:t>
    </dgm:pt>
    <dgm:pt modelId="{22DD7ADC-56FF-4EFC-8942-7C67F2E79935}" type="sibTrans" cxnId="{4B99AB57-6E8C-41ED-9157-72CE01CCC3BE}">
      <dgm:prSet/>
      <dgm:spPr/>
      <dgm:t>
        <a:bodyPr/>
        <a:lstStyle/>
        <a:p>
          <a:endParaRPr lang="en-US"/>
        </a:p>
      </dgm:t>
    </dgm:pt>
    <dgm:pt modelId="{2C8DA425-10FF-4957-9360-459BA34F504D}" type="pres">
      <dgm:prSet presAssocID="{4873FF5A-5823-4FE4-9A87-02A6B5E4D257}" presName="Name0" presStyleCnt="0">
        <dgm:presLayoutVars>
          <dgm:dir/>
          <dgm:resizeHandles val="exact"/>
        </dgm:presLayoutVars>
      </dgm:prSet>
      <dgm:spPr/>
    </dgm:pt>
    <dgm:pt modelId="{9ED53CA0-C77E-4797-8676-E60800B0F810}" type="pres">
      <dgm:prSet presAssocID="{30E394F0-9883-409F-80E1-24038F0824B9}" presName="node" presStyleLbl="node1" presStyleIdx="0" presStyleCnt="6">
        <dgm:presLayoutVars>
          <dgm:bulletEnabled val="1"/>
        </dgm:presLayoutVars>
      </dgm:prSet>
      <dgm:spPr/>
    </dgm:pt>
    <dgm:pt modelId="{EF96B783-FD74-4C0B-B5D7-C4567884896D}" type="pres">
      <dgm:prSet presAssocID="{354A453B-F084-48F3-B5F6-029787EA061E}" presName="sibTrans" presStyleLbl="sibTrans1D1" presStyleIdx="0" presStyleCnt="5"/>
      <dgm:spPr/>
    </dgm:pt>
    <dgm:pt modelId="{E739270C-6C91-41B0-8F5B-DD88AF1AF8CC}" type="pres">
      <dgm:prSet presAssocID="{354A453B-F084-48F3-B5F6-029787EA061E}" presName="connectorText" presStyleLbl="sibTrans1D1" presStyleIdx="0" presStyleCnt="5"/>
      <dgm:spPr/>
    </dgm:pt>
    <dgm:pt modelId="{0992CC43-986F-4D72-8CF7-17BBA8E7423E}" type="pres">
      <dgm:prSet presAssocID="{14EE8043-40F2-4AD2-9F44-D978C2633120}" presName="node" presStyleLbl="node1" presStyleIdx="1" presStyleCnt="6">
        <dgm:presLayoutVars>
          <dgm:bulletEnabled val="1"/>
        </dgm:presLayoutVars>
      </dgm:prSet>
      <dgm:spPr/>
    </dgm:pt>
    <dgm:pt modelId="{60B8F885-7B1E-4771-B36F-A32A76A0D94D}" type="pres">
      <dgm:prSet presAssocID="{97CFFAF8-0869-4C1F-9F84-9AB0FA01D961}" presName="sibTrans" presStyleLbl="sibTrans1D1" presStyleIdx="1" presStyleCnt="5"/>
      <dgm:spPr/>
    </dgm:pt>
    <dgm:pt modelId="{DE17662F-DE43-48F5-960B-9938FCF40F59}" type="pres">
      <dgm:prSet presAssocID="{97CFFAF8-0869-4C1F-9F84-9AB0FA01D961}" presName="connectorText" presStyleLbl="sibTrans1D1" presStyleIdx="1" presStyleCnt="5"/>
      <dgm:spPr/>
    </dgm:pt>
    <dgm:pt modelId="{E92BAB8A-3103-4188-B328-E66845BAC7C1}" type="pres">
      <dgm:prSet presAssocID="{3AC054DC-FBD6-4D6C-B6BE-1770B19E031A}" presName="node" presStyleLbl="node1" presStyleIdx="2" presStyleCnt="6">
        <dgm:presLayoutVars>
          <dgm:bulletEnabled val="1"/>
        </dgm:presLayoutVars>
      </dgm:prSet>
      <dgm:spPr/>
    </dgm:pt>
    <dgm:pt modelId="{0623EE13-2142-4A94-8894-76D61CB9B1C3}" type="pres">
      <dgm:prSet presAssocID="{9CCAC482-0BAE-4945-BA5F-868CFCD080AA}" presName="sibTrans" presStyleLbl="sibTrans1D1" presStyleIdx="2" presStyleCnt="5"/>
      <dgm:spPr/>
    </dgm:pt>
    <dgm:pt modelId="{8C504B07-9C6B-4F76-A698-93BD489134F6}" type="pres">
      <dgm:prSet presAssocID="{9CCAC482-0BAE-4945-BA5F-868CFCD080AA}" presName="connectorText" presStyleLbl="sibTrans1D1" presStyleIdx="2" presStyleCnt="5"/>
      <dgm:spPr/>
    </dgm:pt>
    <dgm:pt modelId="{58D56E95-47BE-408C-A28B-5B4F8CC769EB}" type="pres">
      <dgm:prSet presAssocID="{643CFFCE-6C5C-4417-B1D3-8CE4A19EC194}" presName="node" presStyleLbl="node1" presStyleIdx="3" presStyleCnt="6">
        <dgm:presLayoutVars>
          <dgm:bulletEnabled val="1"/>
        </dgm:presLayoutVars>
      </dgm:prSet>
      <dgm:spPr/>
    </dgm:pt>
    <dgm:pt modelId="{728DA5FE-901C-4A40-953C-7E94FE0D22B7}" type="pres">
      <dgm:prSet presAssocID="{484A4CD6-40A9-43BF-8E07-87E7B4631C08}" presName="sibTrans" presStyleLbl="sibTrans1D1" presStyleIdx="3" presStyleCnt="5"/>
      <dgm:spPr/>
    </dgm:pt>
    <dgm:pt modelId="{291B3496-576A-437C-BE19-85CEFA1D91F1}" type="pres">
      <dgm:prSet presAssocID="{484A4CD6-40A9-43BF-8E07-87E7B4631C08}" presName="connectorText" presStyleLbl="sibTrans1D1" presStyleIdx="3" presStyleCnt="5"/>
      <dgm:spPr/>
    </dgm:pt>
    <dgm:pt modelId="{5226A3AA-C366-45BD-A840-24FFA6BDA001}" type="pres">
      <dgm:prSet presAssocID="{2025DE65-48A9-4171-981C-786709E5C113}" presName="node" presStyleLbl="node1" presStyleIdx="4" presStyleCnt="6">
        <dgm:presLayoutVars>
          <dgm:bulletEnabled val="1"/>
        </dgm:presLayoutVars>
      </dgm:prSet>
      <dgm:spPr/>
    </dgm:pt>
    <dgm:pt modelId="{E7EA24CF-DF70-4EB1-8A83-FDC93CBFB37D}" type="pres">
      <dgm:prSet presAssocID="{1DC2A76D-44A1-44AD-BDD8-FB3CAF60C132}" presName="sibTrans" presStyleLbl="sibTrans1D1" presStyleIdx="4" presStyleCnt="5"/>
      <dgm:spPr/>
    </dgm:pt>
    <dgm:pt modelId="{42CB29CC-276F-4A83-906B-3FBB4185190A}" type="pres">
      <dgm:prSet presAssocID="{1DC2A76D-44A1-44AD-BDD8-FB3CAF60C132}" presName="connectorText" presStyleLbl="sibTrans1D1" presStyleIdx="4" presStyleCnt="5"/>
      <dgm:spPr/>
    </dgm:pt>
    <dgm:pt modelId="{2AC0FA9B-64AB-49EE-9DAF-7298D38A0801}" type="pres">
      <dgm:prSet presAssocID="{5FDACDF4-68A8-41D2-809A-8C53932301AA}" presName="node" presStyleLbl="node1" presStyleIdx="5" presStyleCnt="6">
        <dgm:presLayoutVars>
          <dgm:bulletEnabled val="1"/>
        </dgm:presLayoutVars>
      </dgm:prSet>
      <dgm:spPr/>
    </dgm:pt>
  </dgm:ptLst>
  <dgm:cxnLst>
    <dgm:cxn modelId="{88AA2F06-74F2-46DB-9BD3-95E117A8014D}" srcId="{4873FF5A-5823-4FE4-9A87-02A6B5E4D257}" destId="{643CFFCE-6C5C-4417-B1D3-8CE4A19EC194}" srcOrd="3" destOrd="0" parTransId="{9A23D3BE-E1A3-4CA1-BD5E-DBEB6CD0E45E}" sibTransId="{484A4CD6-40A9-43BF-8E07-87E7B4631C08}"/>
    <dgm:cxn modelId="{B6884907-AB42-419E-9467-B235D215BDBB}" type="presOf" srcId="{14EE8043-40F2-4AD2-9F44-D978C2633120}" destId="{0992CC43-986F-4D72-8CF7-17BBA8E7423E}" srcOrd="0" destOrd="0" presId="urn:microsoft.com/office/officeart/2016/7/layout/RepeatingBendingProcessNew"/>
    <dgm:cxn modelId="{1DC4D00A-98B2-462D-A60D-D49C73A15CEA}" type="presOf" srcId="{1DC2A76D-44A1-44AD-BDD8-FB3CAF60C132}" destId="{42CB29CC-276F-4A83-906B-3FBB4185190A}" srcOrd="1" destOrd="0" presId="urn:microsoft.com/office/officeart/2016/7/layout/RepeatingBendingProcessNew"/>
    <dgm:cxn modelId="{2753CB24-EE62-4E50-82D7-BDDCD41CF4F0}" type="presOf" srcId="{97CFFAF8-0869-4C1F-9F84-9AB0FA01D961}" destId="{DE17662F-DE43-48F5-960B-9938FCF40F59}" srcOrd="1" destOrd="0" presId="urn:microsoft.com/office/officeart/2016/7/layout/RepeatingBendingProcessNew"/>
    <dgm:cxn modelId="{2995CE2F-AF49-4D09-90A9-D39742939623}" srcId="{4873FF5A-5823-4FE4-9A87-02A6B5E4D257}" destId="{3AC054DC-FBD6-4D6C-B6BE-1770B19E031A}" srcOrd="2" destOrd="0" parTransId="{608A85E2-3B05-4C92-B80F-6DB090CF3550}" sibTransId="{9CCAC482-0BAE-4945-BA5F-868CFCD080AA}"/>
    <dgm:cxn modelId="{72A3145F-CC25-4BB0-AC21-78893E1DE319}" type="presOf" srcId="{4873FF5A-5823-4FE4-9A87-02A6B5E4D257}" destId="{2C8DA425-10FF-4957-9360-459BA34F504D}" srcOrd="0" destOrd="0" presId="urn:microsoft.com/office/officeart/2016/7/layout/RepeatingBendingProcessNew"/>
    <dgm:cxn modelId="{16AFCA48-76C9-441B-9DE0-8057CBE9FE48}" type="presOf" srcId="{5FDACDF4-68A8-41D2-809A-8C53932301AA}" destId="{2AC0FA9B-64AB-49EE-9DAF-7298D38A0801}" srcOrd="0" destOrd="0" presId="urn:microsoft.com/office/officeart/2016/7/layout/RepeatingBendingProcessNew"/>
    <dgm:cxn modelId="{DB7E346B-24A3-4219-A4AD-E2CE4FB313B2}" type="presOf" srcId="{484A4CD6-40A9-43BF-8E07-87E7B4631C08}" destId="{728DA5FE-901C-4A40-953C-7E94FE0D22B7}" srcOrd="0" destOrd="0" presId="urn:microsoft.com/office/officeart/2016/7/layout/RepeatingBendingProcessNew"/>
    <dgm:cxn modelId="{8D648754-4FBB-4157-A29C-89D330433FE9}" type="presOf" srcId="{643CFFCE-6C5C-4417-B1D3-8CE4A19EC194}" destId="{58D56E95-47BE-408C-A28B-5B4F8CC769EB}" srcOrd="0" destOrd="0" presId="urn:microsoft.com/office/officeart/2016/7/layout/RepeatingBendingProcessNew"/>
    <dgm:cxn modelId="{4B99AB57-6E8C-41ED-9157-72CE01CCC3BE}" srcId="{4873FF5A-5823-4FE4-9A87-02A6B5E4D257}" destId="{5FDACDF4-68A8-41D2-809A-8C53932301AA}" srcOrd="5" destOrd="0" parTransId="{DA9DB312-AA0A-4293-B0E6-3005278E656E}" sibTransId="{22DD7ADC-56FF-4EFC-8942-7C67F2E79935}"/>
    <dgm:cxn modelId="{C1E7577F-FE4F-4650-99CB-1484F48DC01B}" srcId="{4873FF5A-5823-4FE4-9A87-02A6B5E4D257}" destId="{14EE8043-40F2-4AD2-9F44-D978C2633120}" srcOrd="1" destOrd="0" parTransId="{AE08B9D7-8405-443E-B64A-5FD85217F4EC}" sibTransId="{97CFFAF8-0869-4C1F-9F84-9AB0FA01D961}"/>
    <dgm:cxn modelId="{8DAE5A86-BAD9-440F-9154-2C5B7C29180F}" type="presOf" srcId="{9CCAC482-0BAE-4945-BA5F-868CFCD080AA}" destId="{0623EE13-2142-4A94-8894-76D61CB9B1C3}" srcOrd="0" destOrd="0" presId="urn:microsoft.com/office/officeart/2016/7/layout/RepeatingBendingProcessNew"/>
    <dgm:cxn modelId="{861FE0AE-1E22-403B-92B8-D073751652AC}" type="presOf" srcId="{1DC2A76D-44A1-44AD-BDD8-FB3CAF60C132}" destId="{E7EA24CF-DF70-4EB1-8A83-FDC93CBFB37D}" srcOrd="0" destOrd="0" presId="urn:microsoft.com/office/officeart/2016/7/layout/RepeatingBendingProcessNew"/>
    <dgm:cxn modelId="{14CB5BBB-F6FD-42DF-A9CA-82687E33D2FC}" type="presOf" srcId="{354A453B-F084-48F3-B5F6-029787EA061E}" destId="{EF96B783-FD74-4C0B-B5D7-C4567884896D}" srcOrd="0" destOrd="0" presId="urn:microsoft.com/office/officeart/2016/7/layout/RepeatingBendingProcessNew"/>
    <dgm:cxn modelId="{6BF501C5-FC70-4498-A3DD-A48E86902A90}" type="presOf" srcId="{97CFFAF8-0869-4C1F-9F84-9AB0FA01D961}" destId="{60B8F885-7B1E-4771-B36F-A32A76A0D94D}" srcOrd="0" destOrd="0" presId="urn:microsoft.com/office/officeart/2016/7/layout/RepeatingBendingProcessNew"/>
    <dgm:cxn modelId="{9AFFEDC8-0846-40FD-84AE-93105E2D2300}" type="presOf" srcId="{3AC054DC-FBD6-4D6C-B6BE-1770B19E031A}" destId="{E92BAB8A-3103-4188-B328-E66845BAC7C1}" srcOrd="0" destOrd="0" presId="urn:microsoft.com/office/officeart/2016/7/layout/RepeatingBendingProcessNew"/>
    <dgm:cxn modelId="{2BD772CC-D799-4C7A-8D12-91CCC271D18E}" srcId="{4873FF5A-5823-4FE4-9A87-02A6B5E4D257}" destId="{30E394F0-9883-409F-80E1-24038F0824B9}" srcOrd="0" destOrd="0" parTransId="{DACA2197-9DF5-48AE-A5CB-33293E559270}" sibTransId="{354A453B-F084-48F3-B5F6-029787EA061E}"/>
    <dgm:cxn modelId="{37B150D7-8AD8-4049-B51A-E7C5B6464962}" type="presOf" srcId="{30E394F0-9883-409F-80E1-24038F0824B9}" destId="{9ED53CA0-C77E-4797-8676-E60800B0F810}" srcOrd="0" destOrd="0" presId="urn:microsoft.com/office/officeart/2016/7/layout/RepeatingBendingProcessNew"/>
    <dgm:cxn modelId="{FCEF1CD8-8840-49A2-82A1-34863E3DD415}" type="presOf" srcId="{354A453B-F084-48F3-B5F6-029787EA061E}" destId="{E739270C-6C91-41B0-8F5B-DD88AF1AF8CC}" srcOrd="1" destOrd="0" presId="urn:microsoft.com/office/officeart/2016/7/layout/RepeatingBendingProcessNew"/>
    <dgm:cxn modelId="{73EAAEE0-6978-40A8-A526-238974324985}" srcId="{4873FF5A-5823-4FE4-9A87-02A6B5E4D257}" destId="{2025DE65-48A9-4171-981C-786709E5C113}" srcOrd="4" destOrd="0" parTransId="{D1EB5C0A-F355-41A8-A3D8-51305E89BE0C}" sibTransId="{1DC2A76D-44A1-44AD-BDD8-FB3CAF60C132}"/>
    <dgm:cxn modelId="{F146A2ED-FC28-4E4B-8F81-640D98359BC6}" type="presOf" srcId="{484A4CD6-40A9-43BF-8E07-87E7B4631C08}" destId="{291B3496-576A-437C-BE19-85CEFA1D91F1}" srcOrd="1" destOrd="0" presId="urn:microsoft.com/office/officeart/2016/7/layout/RepeatingBendingProcessNew"/>
    <dgm:cxn modelId="{18959BF2-678F-46D1-8AF8-923AE358EDFC}" type="presOf" srcId="{2025DE65-48A9-4171-981C-786709E5C113}" destId="{5226A3AA-C366-45BD-A840-24FFA6BDA001}" srcOrd="0" destOrd="0" presId="urn:microsoft.com/office/officeart/2016/7/layout/RepeatingBendingProcessNew"/>
    <dgm:cxn modelId="{9CE956F9-D240-48C8-A221-B946BB4F3DB2}" type="presOf" srcId="{9CCAC482-0BAE-4945-BA5F-868CFCD080AA}" destId="{8C504B07-9C6B-4F76-A698-93BD489134F6}" srcOrd="1" destOrd="0" presId="urn:microsoft.com/office/officeart/2016/7/layout/RepeatingBendingProcessNew"/>
    <dgm:cxn modelId="{87DB3A59-43B0-4791-B966-D42DC879F478}" type="presParOf" srcId="{2C8DA425-10FF-4957-9360-459BA34F504D}" destId="{9ED53CA0-C77E-4797-8676-E60800B0F810}" srcOrd="0" destOrd="0" presId="urn:microsoft.com/office/officeart/2016/7/layout/RepeatingBendingProcessNew"/>
    <dgm:cxn modelId="{B67AED6D-1AD4-4F1D-A0F0-A3887C987557}" type="presParOf" srcId="{2C8DA425-10FF-4957-9360-459BA34F504D}" destId="{EF96B783-FD74-4C0B-B5D7-C4567884896D}" srcOrd="1" destOrd="0" presId="urn:microsoft.com/office/officeart/2016/7/layout/RepeatingBendingProcessNew"/>
    <dgm:cxn modelId="{FF725F0C-D9D9-4C99-8411-2558A4CDB521}" type="presParOf" srcId="{EF96B783-FD74-4C0B-B5D7-C4567884896D}" destId="{E739270C-6C91-41B0-8F5B-DD88AF1AF8CC}" srcOrd="0" destOrd="0" presId="urn:microsoft.com/office/officeart/2016/7/layout/RepeatingBendingProcessNew"/>
    <dgm:cxn modelId="{7A99853B-0821-42B8-8579-CC51EA3DFD0B}" type="presParOf" srcId="{2C8DA425-10FF-4957-9360-459BA34F504D}" destId="{0992CC43-986F-4D72-8CF7-17BBA8E7423E}" srcOrd="2" destOrd="0" presId="urn:microsoft.com/office/officeart/2016/7/layout/RepeatingBendingProcessNew"/>
    <dgm:cxn modelId="{84655D12-660B-4BD3-9FC3-DC2FAA2B7176}" type="presParOf" srcId="{2C8DA425-10FF-4957-9360-459BA34F504D}" destId="{60B8F885-7B1E-4771-B36F-A32A76A0D94D}" srcOrd="3" destOrd="0" presId="urn:microsoft.com/office/officeart/2016/7/layout/RepeatingBendingProcessNew"/>
    <dgm:cxn modelId="{4E00CDD8-994D-46B5-84A4-103AFE65D534}" type="presParOf" srcId="{60B8F885-7B1E-4771-B36F-A32A76A0D94D}" destId="{DE17662F-DE43-48F5-960B-9938FCF40F59}" srcOrd="0" destOrd="0" presId="urn:microsoft.com/office/officeart/2016/7/layout/RepeatingBendingProcessNew"/>
    <dgm:cxn modelId="{DF8C8D1A-66ED-45DD-8A43-D40B73B88250}" type="presParOf" srcId="{2C8DA425-10FF-4957-9360-459BA34F504D}" destId="{E92BAB8A-3103-4188-B328-E66845BAC7C1}" srcOrd="4" destOrd="0" presId="urn:microsoft.com/office/officeart/2016/7/layout/RepeatingBendingProcessNew"/>
    <dgm:cxn modelId="{67E85B94-67C5-4259-A158-EE6BB6982F61}" type="presParOf" srcId="{2C8DA425-10FF-4957-9360-459BA34F504D}" destId="{0623EE13-2142-4A94-8894-76D61CB9B1C3}" srcOrd="5" destOrd="0" presId="urn:microsoft.com/office/officeart/2016/7/layout/RepeatingBendingProcessNew"/>
    <dgm:cxn modelId="{5FF4C7EF-2FDB-4AED-9C7D-DCF09710E9D6}" type="presParOf" srcId="{0623EE13-2142-4A94-8894-76D61CB9B1C3}" destId="{8C504B07-9C6B-4F76-A698-93BD489134F6}" srcOrd="0" destOrd="0" presId="urn:microsoft.com/office/officeart/2016/7/layout/RepeatingBendingProcessNew"/>
    <dgm:cxn modelId="{65CD7684-74C5-4F2E-AC8E-5A5B81D3B4ED}" type="presParOf" srcId="{2C8DA425-10FF-4957-9360-459BA34F504D}" destId="{58D56E95-47BE-408C-A28B-5B4F8CC769EB}" srcOrd="6" destOrd="0" presId="urn:microsoft.com/office/officeart/2016/7/layout/RepeatingBendingProcessNew"/>
    <dgm:cxn modelId="{7558CE3E-3BB7-447E-90C9-08AA8497B012}" type="presParOf" srcId="{2C8DA425-10FF-4957-9360-459BA34F504D}" destId="{728DA5FE-901C-4A40-953C-7E94FE0D22B7}" srcOrd="7" destOrd="0" presId="urn:microsoft.com/office/officeart/2016/7/layout/RepeatingBendingProcessNew"/>
    <dgm:cxn modelId="{C6E174E8-BBDF-4569-9B4E-09F5B0168D7F}" type="presParOf" srcId="{728DA5FE-901C-4A40-953C-7E94FE0D22B7}" destId="{291B3496-576A-437C-BE19-85CEFA1D91F1}" srcOrd="0" destOrd="0" presId="urn:microsoft.com/office/officeart/2016/7/layout/RepeatingBendingProcessNew"/>
    <dgm:cxn modelId="{30F00750-31BA-40C7-BC0B-91FE58735678}" type="presParOf" srcId="{2C8DA425-10FF-4957-9360-459BA34F504D}" destId="{5226A3AA-C366-45BD-A840-24FFA6BDA001}" srcOrd="8" destOrd="0" presId="urn:microsoft.com/office/officeart/2016/7/layout/RepeatingBendingProcessNew"/>
    <dgm:cxn modelId="{E73421ED-ECA1-4A2A-B43B-F817AF630C05}" type="presParOf" srcId="{2C8DA425-10FF-4957-9360-459BA34F504D}" destId="{E7EA24CF-DF70-4EB1-8A83-FDC93CBFB37D}" srcOrd="9" destOrd="0" presId="urn:microsoft.com/office/officeart/2016/7/layout/RepeatingBendingProcessNew"/>
    <dgm:cxn modelId="{FC2B0283-0823-4709-B75B-F63C04D712CA}" type="presParOf" srcId="{E7EA24CF-DF70-4EB1-8A83-FDC93CBFB37D}" destId="{42CB29CC-276F-4A83-906B-3FBB4185190A}" srcOrd="0" destOrd="0" presId="urn:microsoft.com/office/officeart/2016/7/layout/RepeatingBendingProcessNew"/>
    <dgm:cxn modelId="{949A592F-17D7-4543-AB1D-D7B5E5BF3A78}" type="presParOf" srcId="{2C8DA425-10FF-4957-9360-459BA34F504D}" destId="{2AC0FA9B-64AB-49EE-9DAF-7298D38A0801}"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3D890CE-D250-44BD-B611-5FF39E6BD95B}"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D674A1D-6EF9-433F-95D8-BE9D7A67EB96}">
      <dgm:prSet/>
      <dgm:spPr/>
      <dgm:t>
        <a:bodyPr/>
        <a:lstStyle/>
        <a:p>
          <a:pPr>
            <a:lnSpc>
              <a:spcPct val="100000"/>
            </a:lnSpc>
          </a:pPr>
          <a:r>
            <a:rPr lang="en-US"/>
            <a:t>Data Cleaning</a:t>
          </a:r>
        </a:p>
      </dgm:t>
    </dgm:pt>
    <dgm:pt modelId="{67113AE9-D048-4175-A6A6-43D4753B1685}" type="parTrans" cxnId="{1554AD0D-51AA-45CE-8D3A-65C68911D53B}">
      <dgm:prSet/>
      <dgm:spPr/>
      <dgm:t>
        <a:bodyPr/>
        <a:lstStyle/>
        <a:p>
          <a:endParaRPr lang="en-US"/>
        </a:p>
      </dgm:t>
    </dgm:pt>
    <dgm:pt modelId="{0DFAAE57-8F24-419E-B7B0-D80FDBE85C3C}" type="sibTrans" cxnId="{1554AD0D-51AA-45CE-8D3A-65C68911D53B}">
      <dgm:prSet/>
      <dgm:spPr/>
      <dgm:t>
        <a:bodyPr/>
        <a:lstStyle/>
        <a:p>
          <a:pPr>
            <a:lnSpc>
              <a:spcPct val="100000"/>
            </a:lnSpc>
          </a:pPr>
          <a:endParaRPr lang="en-US"/>
        </a:p>
      </dgm:t>
    </dgm:pt>
    <dgm:pt modelId="{7AE5CEAB-BC7A-4FD1-9FD2-3178852189E6}">
      <dgm:prSet/>
      <dgm:spPr/>
      <dgm:t>
        <a:bodyPr/>
        <a:lstStyle/>
        <a:p>
          <a:pPr>
            <a:lnSpc>
              <a:spcPct val="100000"/>
            </a:lnSpc>
          </a:pPr>
          <a:r>
            <a:rPr lang="en-US"/>
            <a:t>Data Exploration</a:t>
          </a:r>
        </a:p>
      </dgm:t>
    </dgm:pt>
    <dgm:pt modelId="{3F69756A-8B86-44C2-8248-96A849B0F313}" type="parTrans" cxnId="{7597D0E1-0C45-4AC5-AB1A-2E7C549C3ED2}">
      <dgm:prSet/>
      <dgm:spPr/>
      <dgm:t>
        <a:bodyPr/>
        <a:lstStyle/>
        <a:p>
          <a:endParaRPr lang="en-US"/>
        </a:p>
      </dgm:t>
    </dgm:pt>
    <dgm:pt modelId="{3BCC66D8-2A3B-49DB-8C1B-5B5D7D06F46C}" type="sibTrans" cxnId="{7597D0E1-0C45-4AC5-AB1A-2E7C549C3ED2}">
      <dgm:prSet/>
      <dgm:spPr/>
      <dgm:t>
        <a:bodyPr/>
        <a:lstStyle/>
        <a:p>
          <a:pPr>
            <a:lnSpc>
              <a:spcPct val="100000"/>
            </a:lnSpc>
          </a:pPr>
          <a:endParaRPr lang="en-US"/>
        </a:p>
      </dgm:t>
    </dgm:pt>
    <dgm:pt modelId="{55010D2C-6170-44CC-8710-80C25FF33C0C}">
      <dgm:prSet/>
      <dgm:spPr/>
      <dgm:t>
        <a:bodyPr/>
        <a:lstStyle/>
        <a:p>
          <a:pPr>
            <a:lnSpc>
              <a:spcPct val="100000"/>
            </a:lnSpc>
          </a:pPr>
          <a:r>
            <a:rPr lang="en-US"/>
            <a:t>Comprehensive Data Analysis</a:t>
          </a:r>
        </a:p>
      </dgm:t>
    </dgm:pt>
    <dgm:pt modelId="{1C582BB4-448B-4A55-BED1-025AAA8ED27A}" type="parTrans" cxnId="{FE9AE421-7EB8-46D9-9D9A-1070420B9A3B}">
      <dgm:prSet/>
      <dgm:spPr/>
      <dgm:t>
        <a:bodyPr/>
        <a:lstStyle/>
        <a:p>
          <a:endParaRPr lang="en-US"/>
        </a:p>
      </dgm:t>
    </dgm:pt>
    <dgm:pt modelId="{AA67AFD1-3441-4D83-96F1-9F65068F7B43}" type="sibTrans" cxnId="{FE9AE421-7EB8-46D9-9D9A-1070420B9A3B}">
      <dgm:prSet/>
      <dgm:spPr/>
      <dgm:t>
        <a:bodyPr/>
        <a:lstStyle/>
        <a:p>
          <a:pPr>
            <a:lnSpc>
              <a:spcPct val="100000"/>
            </a:lnSpc>
          </a:pPr>
          <a:endParaRPr lang="en-US"/>
        </a:p>
      </dgm:t>
    </dgm:pt>
    <dgm:pt modelId="{68BA6141-AD6F-40B0-ADF1-E9ABD7EF20FB}">
      <dgm:prSet/>
      <dgm:spPr/>
      <dgm:t>
        <a:bodyPr/>
        <a:lstStyle/>
        <a:p>
          <a:pPr>
            <a:lnSpc>
              <a:spcPct val="100000"/>
            </a:lnSpc>
          </a:pPr>
          <a:r>
            <a:rPr lang="en-US"/>
            <a:t>Feature Engineering and Model Development</a:t>
          </a:r>
        </a:p>
      </dgm:t>
    </dgm:pt>
    <dgm:pt modelId="{61C0B3B8-4F90-4ADC-8AAC-266F8594C335}" type="parTrans" cxnId="{59E218E4-6750-4CDF-B0DB-9D470C496D33}">
      <dgm:prSet/>
      <dgm:spPr/>
      <dgm:t>
        <a:bodyPr/>
        <a:lstStyle/>
        <a:p>
          <a:endParaRPr lang="en-US"/>
        </a:p>
      </dgm:t>
    </dgm:pt>
    <dgm:pt modelId="{97FF9E76-F32F-488A-85B5-B5197569F5F7}" type="sibTrans" cxnId="{59E218E4-6750-4CDF-B0DB-9D470C496D33}">
      <dgm:prSet/>
      <dgm:spPr/>
      <dgm:t>
        <a:bodyPr/>
        <a:lstStyle/>
        <a:p>
          <a:pPr>
            <a:lnSpc>
              <a:spcPct val="100000"/>
            </a:lnSpc>
          </a:pPr>
          <a:endParaRPr lang="en-US"/>
        </a:p>
      </dgm:t>
    </dgm:pt>
    <dgm:pt modelId="{FC553E4D-5C75-45D5-ACC1-5A38A3EB3018}">
      <dgm:prSet/>
      <dgm:spPr/>
      <dgm:t>
        <a:bodyPr/>
        <a:lstStyle/>
        <a:p>
          <a:pPr>
            <a:lnSpc>
              <a:spcPct val="100000"/>
            </a:lnSpc>
          </a:pPr>
          <a:r>
            <a:rPr lang="en-US"/>
            <a:t>Model Evaluation and Fine-Tuning</a:t>
          </a:r>
        </a:p>
      </dgm:t>
    </dgm:pt>
    <dgm:pt modelId="{E5D622EC-68ED-40EC-B34B-80B82BC17402}" type="parTrans" cxnId="{51BB20CC-E840-46BB-9435-4AD2B69219F7}">
      <dgm:prSet/>
      <dgm:spPr/>
      <dgm:t>
        <a:bodyPr/>
        <a:lstStyle/>
        <a:p>
          <a:endParaRPr lang="en-US"/>
        </a:p>
      </dgm:t>
    </dgm:pt>
    <dgm:pt modelId="{44731FD2-A1DC-4FB2-A06C-5DD726487BCC}" type="sibTrans" cxnId="{51BB20CC-E840-46BB-9435-4AD2B69219F7}">
      <dgm:prSet/>
      <dgm:spPr/>
      <dgm:t>
        <a:bodyPr/>
        <a:lstStyle/>
        <a:p>
          <a:pPr>
            <a:lnSpc>
              <a:spcPct val="100000"/>
            </a:lnSpc>
          </a:pPr>
          <a:endParaRPr lang="en-US"/>
        </a:p>
      </dgm:t>
    </dgm:pt>
    <dgm:pt modelId="{4AA51FCD-F52F-4958-8C41-3F95A25C3FD3}">
      <dgm:prSet/>
      <dgm:spPr/>
      <dgm:t>
        <a:bodyPr/>
        <a:lstStyle/>
        <a:p>
          <a:pPr>
            <a:lnSpc>
              <a:spcPct val="100000"/>
            </a:lnSpc>
          </a:pPr>
          <a:r>
            <a:rPr lang="en-US"/>
            <a:t>Jupyter Notebook and PowerPoint Slides</a:t>
          </a:r>
        </a:p>
      </dgm:t>
    </dgm:pt>
    <dgm:pt modelId="{6B3B01A1-0368-45B4-9BB5-AB31519EA1C4}" type="parTrans" cxnId="{335E149F-316B-4827-9F28-C953922B2B37}">
      <dgm:prSet/>
      <dgm:spPr/>
      <dgm:t>
        <a:bodyPr/>
        <a:lstStyle/>
        <a:p>
          <a:endParaRPr lang="en-US"/>
        </a:p>
      </dgm:t>
    </dgm:pt>
    <dgm:pt modelId="{51B3D82C-5A96-4343-9201-D5E5E987FE7F}" type="sibTrans" cxnId="{335E149F-316B-4827-9F28-C953922B2B37}">
      <dgm:prSet/>
      <dgm:spPr/>
      <dgm:t>
        <a:bodyPr/>
        <a:lstStyle/>
        <a:p>
          <a:endParaRPr lang="en-US"/>
        </a:p>
      </dgm:t>
    </dgm:pt>
    <dgm:pt modelId="{03A0D923-130E-4B90-B636-6D3C49DFA63C}" type="pres">
      <dgm:prSet presAssocID="{73D890CE-D250-44BD-B611-5FF39E6BD95B}" presName="root" presStyleCnt="0">
        <dgm:presLayoutVars>
          <dgm:dir/>
          <dgm:resizeHandles val="exact"/>
        </dgm:presLayoutVars>
      </dgm:prSet>
      <dgm:spPr/>
    </dgm:pt>
    <dgm:pt modelId="{1D78062E-CC5D-4B8C-8926-DE8C48C41940}" type="pres">
      <dgm:prSet presAssocID="{73D890CE-D250-44BD-B611-5FF39E6BD95B}" presName="container" presStyleCnt="0">
        <dgm:presLayoutVars>
          <dgm:dir/>
          <dgm:resizeHandles val="exact"/>
        </dgm:presLayoutVars>
      </dgm:prSet>
      <dgm:spPr/>
    </dgm:pt>
    <dgm:pt modelId="{93B8956F-0E24-4F09-887F-5602D0BCA996}" type="pres">
      <dgm:prSet presAssocID="{4D674A1D-6EF9-433F-95D8-BE9D7A67EB96}" presName="compNode" presStyleCnt="0"/>
      <dgm:spPr/>
    </dgm:pt>
    <dgm:pt modelId="{88B397C9-21F1-4033-9DC9-B3F8F7D5EEB7}" type="pres">
      <dgm:prSet presAssocID="{4D674A1D-6EF9-433F-95D8-BE9D7A67EB96}" presName="iconBgRect" presStyleLbl="bgShp" presStyleIdx="0" presStyleCnt="6"/>
      <dgm:spPr/>
    </dgm:pt>
    <dgm:pt modelId="{34DFF5CD-10AC-43BC-81B8-B0700E671BFD}" type="pres">
      <dgm:prSet presAssocID="{4D674A1D-6EF9-433F-95D8-BE9D7A67EB96}"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p and bucket"/>
        </a:ext>
      </dgm:extLst>
    </dgm:pt>
    <dgm:pt modelId="{815F6062-07D4-4B1F-9537-0838374D6E09}" type="pres">
      <dgm:prSet presAssocID="{4D674A1D-6EF9-433F-95D8-BE9D7A67EB96}" presName="spaceRect" presStyleCnt="0"/>
      <dgm:spPr/>
    </dgm:pt>
    <dgm:pt modelId="{755C84BA-B794-4D33-910D-3D6051FEDE16}" type="pres">
      <dgm:prSet presAssocID="{4D674A1D-6EF9-433F-95D8-BE9D7A67EB96}" presName="textRect" presStyleLbl="revTx" presStyleIdx="0" presStyleCnt="6">
        <dgm:presLayoutVars>
          <dgm:chMax val="1"/>
          <dgm:chPref val="1"/>
        </dgm:presLayoutVars>
      </dgm:prSet>
      <dgm:spPr/>
    </dgm:pt>
    <dgm:pt modelId="{56E9D02D-65FB-4AC4-8A0F-D44A4A2FC81E}" type="pres">
      <dgm:prSet presAssocID="{0DFAAE57-8F24-419E-B7B0-D80FDBE85C3C}" presName="sibTrans" presStyleLbl="sibTrans2D1" presStyleIdx="0" presStyleCnt="0"/>
      <dgm:spPr/>
    </dgm:pt>
    <dgm:pt modelId="{B7E3D78D-4808-458F-89D6-C964F37960F4}" type="pres">
      <dgm:prSet presAssocID="{7AE5CEAB-BC7A-4FD1-9FD2-3178852189E6}" presName="compNode" presStyleCnt="0"/>
      <dgm:spPr/>
    </dgm:pt>
    <dgm:pt modelId="{768021E6-8FA0-4C0A-A4C5-DF27BE5A49EF}" type="pres">
      <dgm:prSet presAssocID="{7AE5CEAB-BC7A-4FD1-9FD2-3178852189E6}" presName="iconBgRect" presStyleLbl="bgShp" presStyleIdx="1" presStyleCnt="6"/>
      <dgm:spPr/>
    </dgm:pt>
    <dgm:pt modelId="{E82BFD5D-4636-4CD9-8DC7-3440E1EF91B7}" type="pres">
      <dgm:prSet presAssocID="{7AE5CEAB-BC7A-4FD1-9FD2-3178852189E6}"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ar chart"/>
        </a:ext>
      </dgm:extLst>
    </dgm:pt>
    <dgm:pt modelId="{C8ADF810-A603-4CFA-B50D-747F8F71D3B5}" type="pres">
      <dgm:prSet presAssocID="{7AE5CEAB-BC7A-4FD1-9FD2-3178852189E6}" presName="spaceRect" presStyleCnt="0"/>
      <dgm:spPr/>
    </dgm:pt>
    <dgm:pt modelId="{75A4676E-E568-4969-92E4-5F7EF274855A}" type="pres">
      <dgm:prSet presAssocID="{7AE5CEAB-BC7A-4FD1-9FD2-3178852189E6}" presName="textRect" presStyleLbl="revTx" presStyleIdx="1" presStyleCnt="6">
        <dgm:presLayoutVars>
          <dgm:chMax val="1"/>
          <dgm:chPref val="1"/>
        </dgm:presLayoutVars>
      </dgm:prSet>
      <dgm:spPr/>
    </dgm:pt>
    <dgm:pt modelId="{044DDC75-AC76-42EE-A167-1763BCB86B2B}" type="pres">
      <dgm:prSet presAssocID="{3BCC66D8-2A3B-49DB-8C1B-5B5D7D06F46C}" presName="sibTrans" presStyleLbl="sibTrans2D1" presStyleIdx="0" presStyleCnt="0"/>
      <dgm:spPr/>
    </dgm:pt>
    <dgm:pt modelId="{FDA657EA-FA3E-44F1-BFE2-633A4BACB710}" type="pres">
      <dgm:prSet presAssocID="{55010D2C-6170-44CC-8710-80C25FF33C0C}" presName="compNode" presStyleCnt="0"/>
      <dgm:spPr/>
    </dgm:pt>
    <dgm:pt modelId="{14310E94-5C5E-49F1-88F2-7EC5E3E86D90}" type="pres">
      <dgm:prSet presAssocID="{55010D2C-6170-44CC-8710-80C25FF33C0C}" presName="iconBgRect" presStyleLbl="bgShp" presStyleIdx="2" presStyleCnt="6"/>
      <dgm:spPr/>
    </dgm:pt>
    <dgm:pt modelId="{3122C256-2627-44D6-9182-5BF5FF0348BA}" type="pres">
      <dgm:prSet presAssocID="{55010D2C-6170-44CC-8710-80C25FF33C0C}"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pward trend"/>
        </a:ext>
      </dgm:extLst>
    </dgm:pt>
    <dgm:pt modelId="{432285F7-CC85-4F67-95DA-8922D8F3758A}" type="pres">
      <dgm:prSet presAssocID="{55010D2C-6170-44CC-8710-80C25FF33C0C}" presName="spaceRect" presStyleCnt="0"/>
      <dgm:spPr/>
    </dgm:pt>
    <dgm:pt modelId="{9EDD9C79-F52D-44B7-9DB3-C437EDD28F37}" type="pres">
      <dgm:prSet presAssocID="{55010D2C-6170-44CC-8710-80C25FF33C0C}" presName="textRect" presStyleLbl="revTx" presStyleIdx="2" presStyleCnt="6">
        <dgm:presLayoutVars>
          <dgm:chMax val="1"/>
          <dgm:chPref val="1"/>
        </dgm:presLayoutVars>
      </dgm:prSet>
      <dgm:spPr/>
    </dgm:pt>
    <dgm:pt modelId="{A3697E92-4388-44DE-86B9-42B2417E4FB4}" type="pres">
      <dgm:prSet presAssocID="{AA67AFD1-3441-4D83-96F1-9F65068F7B43}" presName="sibTrans" presStyleLbl="sibTrans2D1" presStyleIdx="0" presStyleCnt="0"/>
      <dgm:spPr/>
    </dgm:pt>
    <dgm:pt modelId="{10E2120A-9A46-4D66-9DEA-163844E5D8DC}" type="pres">
      <dgm:prSet presAssocID="{68BA6141-AD6F-40B0-ADF1-E9ABD7EF20FB}" presName="compNode" presStyleCnt="0"/>
      <dgm:spPr/>
    </dgm:pt>
    <dgm:pt modelId="{46F9EF35-EEE8-4B27-B22B-EB7E8F9499ED}" type="pres">
      <dgm:prSet presAssocID="{68BA6141-AD6F-40B0-ADF1-E9ABD7EF20FB}" presName="iconBgRect" presStyleLbl="bgShp" presStyleIdx="3" presStyleCnt="6"/>
      <dgm:spPr/>
    </dgm:pt>
    <dgm:pt modelId="{ADC8B068-6B27-4DA0-B7F5-BFE6125C5C6E}" type="pres">
      <dgm:prSet presAssocID="{68BA6141-AD6F-40B0-ADF1-E9ABD7EF20FB}"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Gears"/>
        </a:ext>
      </dgm:extLst>
    </dgm:pt>
    <dgm:pt modelId="{EE660BC3-DFD5-4DE7-AE19-1BAE28B280A2}" type="pres">
      <dgm:prSet presAssocID="{68BA6141-AD6F-40B0-ADF1-E9ABD7EF20FB}" presName="spaceRect" presStyleCnt="0"/>
      <dgm:spPr/>
    </dgm:pt>
    <dgm:pt modelId="{8A7CE701-10B0-4F08-938D-BEA5201A5AF4}" type="pres">
      <dgm:prSet presAssocID="{68BA6141-AD6F-40B0-ADF1-E9ABD7EF20FB}" presName="textRect" presStyleLbl="revTx" presStyleIdx="3" presStyleCnt="6">
        <dgm:presLayoutVars>
          <dgm:chMax val="1"/>
          <dgm:chPref val="1"/>
        </dgm:presLayoutVars>
      </dgm:prSet>
      <dgm:spPr/>
    </dgm:pt>
    <dgm:pt modelId="{EF84A6BC-3BAF-47AB-ABA8-1D93E6DBFADE}" type="pres">
      <dgm:prSet presAssocID="{97FF9E76-F32F-488A-85B5-B5197569F5F7}" presName="sibTrans" presStyleLbl="sibTrans2D1" presStyleIdx="0" presStyleCnt="0"/>
      <dgm:spPr/>
    </dgm:pt>
    <dgm:pt modelId="{35345616-659B-4202-9333-46EC99C69A08}" type="pres">
      <dgm:prSet presAssocID="{FC553E4D-5C75-45D5-ACC1-5A38A3EB3018}" presName="compNode" presStyleCnt="0"/>
      <dgm:spPr/>
    </dgm:pt>
    <dgm:pt modelId="{E3B33DF2-812F-43A9-8A06-CBD1941F0A24}" type="pres">
      <dgm:prSet presAssocID="{FC553E4D-5C75-45D5-ACC1-5A38A3EB3018}" presName="iconBgRect" presStyleLbl="bgShp" presStyleIdx="4" presStyleCnt="6"/>
      <dgm:spPr/>
    </dgm:pt>
    <dgm:pt modelId="{6830FEEC-6B36-4D2E-91DD-A91994C4BC8D}" type="pres">
      <dgm:prSet presAssocID="{FC553E4D-5C75-45D5-ACC1-5A38A3EB3018}"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heckmark"/>
        </a:ext>
      </dgm:extLst>
    </dgm:pt>
    <dgm:pt modelId="{F28A3858-9205-45EE-ACD1-0702E89755C0}" type="pres">
      <dgm:prSet presAssocID="{FC553E4D-5C75-45D5-ACC1-5A38A3EB3018}" presName="spaceRect" presStyleCnt="0"/>
      <dgm:spPr/>
    </dgm:pt>
    <dgm:pt modelId="{DEF0FD48-5144-45C2-B2E0-ECA7C14B04FA}" type="pres">
      <dgm:prSet presAssocID="{FC553E4D-5C75-45D5-ACC1-5A38A3EB3018}" presName="textRect" presStyleLbl="revTx" presStyleIdx="4" presStyleCnt="6">
        <dgm:presLayoutVars>
          <dgm:chMax val="1"/>
          <dgm:chPref val="1"/>
        </dgm:presLayoutVars>
      </dgm:prSet>
      <dgm:spPr/>
    </dgm:pt>
    <dgm:pt modelId="{191C3C1D-7C3A-4D63-84E3-E61D64B5E34C}" type="pres">
      <dgm:prSet presAssocID="{44731FD2-A1DC-4FB2-A06C-5DD726487BCC}" presName="sibTrans" presStyleLbl="sibTrans2D1" presStyleIdx="0" presStyleCnt="0"/>
      <dgm:spPr/>
    </dgm:pt>
    <dgm:pt modelId="{91254C84-72D1-43C9-9D39-C28FC10E0E8C}" type="pres">
      <dgm:prSet presAssocID="{4AA51FCD-F52F-4958-8C41-3F95A25C3FD3}" presName="compNode" presStyleCnt="0"/>
      <dgm:spPr/>
    </dgm:pt>
    <dgm:pt modelId="{85FF41A6-7DE8-4C54-BB69-81516DBCAEED}" type="pres">
      <dgm:prSet presAssocID="{4AA51FCD-F52F-4958-8C41-3F95A25C3FD3}" presName="iconBgRect" presStyleLbl="bgShp" presStyleIdx="5" presStyleCnt="6"/>
      <dgm:spPr/>
    </dgm:pt>
    <dgm:pt modelId="{FFB69353-7E3F-416D-91AD-542B5BFCA058}" type="pres">
      <dgm:prSet presAssocID="{4AA51FCD-F52F-4958-8C41-3F95A25C3FD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Teacher"/>
        </a:ext>
      </dgm:extLst>
    </dgm:pt>
    <dgm:pt modelId="{E6D90C31-6C39-4D69-AD11-A1CC75BB0B32}" type="pres">
      <dgm:prSet presAssocID="{4AA51FCD-F52F-4958-8C41-3F95A25C3FD3}" presName="spaceRect" presStyleCnt="0"/>
      <dgm:spPr/>
    </dgm:pt>
    <dgm:pt modelId="{02CD5AA3-2FD9-412B-8211-9F949CBAC68F}" type="pres">
      <dgm:prSet presAssocID="{4AA51FCD-F52F-4958-8C41-3F95A25C3FD3}" presName="textRect" presStyleLbl="revTx" presStyleIdx="5" presStyleCnt="6">
        <dgm:presLayoutVars>
          <dgm:chMax val="1"/>
          <dgm:chPref val="1"/>
        </dgm:presLayoutVars>
      </dgm:prSet>
      <dgm:spPr/>
    </dgm:pt>
  </dgm:ptLst>
  <dgm:cxnLst>
    <dgm:cxn modelId="{1554AD0D-51AA-45CE-8D3A-65C68911D53B}" srcId="{73D890CE-D250-44BD-B611-5FF39E6BD95B}" destId="{4D674A1D-6EF9-433F-95D8-BE9D7A67EB96}" srcOrd="0" destOrd="0" parTransId="{67113AE9-D048-4175-A6A6-43D4753B1685}" sibTransId="{0DFAAE57-8F24-419E-B7B0-D80FDBE85C3C}"/>
    <dgm:cxn modelId="{BFFBDF0D-867D-44B9-9982-627C82904E20}" type="presOf" srcId="{3BCC66D8-2A3B-49DB-8C1B-5B5D7D06F46C}" destId="{044DDC75-AC76-42EE-A167-1763BCB86B2B}" srcOrd="0" destOrd="0" presId="urn:microsoft.com/office/officeart/2018/2/layout/IconCircleList"/>
    <dgm:cxn modelId="{FE9AE421-7EB8-46D9-9D9A-1070420B9A3B}" srcId="{73D890CE-D250-44BD-B611-5FF39E6BD95B}" destId="{55010D2C-6170-44CC-8710-80C25FF33C0C}" srcOrd="2" destOrd="0" parTransId="{1C582BB4-448B-4A55-BED1-025AAA8ED27A}" sibTransId="{AA67AFD1-3441-4D83-96F1-9F65068F7B43}"/>
    <dgm:cxn modelId="{36A55637-7C92-48E1-BF36-3FA348C7B246}" type="presOf" srcId="{FC553E4D-5C75-45D5-ACC1-5A38A3EB3018}" destId="{DEF0FD48-5144-45C2-B2E0-ECA7C14B04FA}" srcOrd="0" destOrd="0" presId="urn:microsoft.com/office/officeart/2018/2/layout/IconCircleList"/>
    <dgm:cxn modelId="{4E2BAA38-00BD-4B0E-88E8-36846B40ED2B}" type="presOf" srcId="{97FF9E76-F32F-488A-85B5-B5197569F5F7}" destId="{EF84A6BC-3BAF-47AB-ABA8-1D93E6DBFADE}" srcOrd="0" destOrd="0" presId="urn:microsoft.com/office/officeart/2018/2/layout/IconCircleList"/>
    <dgm:cxn modelId="{E21C1239-397F-42F0-874B-F29431FCFA1C}" type="presOf" srcId="{44731FD2-A1DC-4FB2-A06C-5DD726487BCC}" destId="{191C3C1D-7C3A-4D63-84E3-E61D64B5E34C}" srcOrd="0" destOrd="0" presId="urn:microsoft.com/office/officeart/2018/2/layout/IconCircleList"/>
    <dgm:cxn modelId="{2909A482-9540-4D1E-A32A-64AC4C1125B2}" type="presOf" srcId="{73D890CE-D250-44BD-B611-5FF39E6BD95B}" destId="{03A0D923-130E-4B90-B636-6D3C49DFA63C}" srcOrd="0" destOrd="0" presId="urn:microsoft.com/office/officeart/2018/2/layout/IconCircleList"/>
    <dgm:cxn modelId="{335E149F-316B-4827-9F28-C953922B2B37}" srcId="{73D890CE-D250-44BD-B611-5FF39E6BD95B}" destId="{4AA51FCD-F52F-4958-8C41-3F95A25C3FD3}" srcOrd="5" destOrd="0" parTransId="{6B3B01A1-0368-45B4-9BB5-AB31519EA1C4}" sibTransId="{51B3D82C-5A96-4343-9201-D5E5E987FE7F}"/>
    <dgm:cxn modelId="{94E80AB0-6D25-4DDB-822C-743572DDE3E0}" type="presOf" srcId="{AA67AFD1-3441-4D83-96F1-9F65068F7B43}" destId="{A3697E92-4388-44DE-86B9-42B2417E4FB4}" srcOrd="0" destOrd="0" presId="urn:microsoft.com/office/officeart/2018/2/layout/IconCircleList"/>
    <dgm:cxn modelId="{CEF806B3-BC31-4582-B6CD-C35936D1C7C3}" type="presOf" srcId="{0DFAAE57-8F24-419E-B7B0-D80FDBE85C3C}" destId="{56E9D02D-65FB-4AC4-8A0F-D44A4A2FC81E}" srcOrd="0" destOrd="0" presId="urn:microsoft.com/office/officeart/2018/2/layout/IconCircleList"/>
    <dgm:cxn modelId="{5A1BB2C0-0ACB-443E-AA0E-8B0FDDF7E946}" type="presOf" srcId="{4D674A1D-6EF9-433F-95D8-BE9D7A67EB96}" destId="{755C84BA-B794-4D33-910D-3D6051FEDE16}" srcOrd="0" destOrd="0" presId="urn:microsoft.com/office/officeart/2018/2/layout/IconCircleList"/>
    <dgm:cxn modelId="{51BB20CC-E840-46BB-9435-4AD2B69219F7}" srcId="{73D890CE-D250-44BD-B611-5FF39E6BD95B}" destId="{FC553E4D-5C75-45D5-ACC1-5A38A3EB3018}" srcOrd="4" destOrd="0" parTransId="{E5D622EC-68ED-40EC-B34B-80B82BC17402}" sibTransId="{44731FD2-A1DC-4FB2-A06C-5DD726487BCC}"/>
    <dgm:cxn modelId="{3B5B25E0-2936-460A-955A-43AFD391AF34}" type="presOf" srcId="{68BA6141-AD6F-40B0-ADF1-E9ABD7EF20FB}" destId="{8A7CE701-10B0-4F08-938D-BEA5201A5AF4}" srcOrd="0" destOrd="0" presId="urn:microsoft.com/office/officeart/2018/2/layout/IconCircleList"/>
    <dgm:cxn modelId="{7597D0E1-0C45-4AC5-AB1A-2E7C549C3ED2}" srcId="{73D890CE-D250-44BD-B611-5FF39E6BD95B}" destId="{7AE5CEAB-BC7A-4FD1-9FD2-3178852189E6}" srcOrd="1" destOrd="0" parTransId="{3F69756A-8B86-44C2-8248-96A849B0F313}" sibTransId="{3BCC66D8-2A3B-49DB-8C1B-5B5D7D06F46C}"/>
    <dgm:cxn modelId="{59E218E4-6750-4CDF-B0DB-9D470C496D33}" srcId="{73D890CE-D250-44BD-B611-5FF39E6BD95B}" destId="{68BA6141-AD6F-40B0-ADF1-E9ABD7EF20FB}" srcOrd="3" destOrd="0" parTransId="{61C0B3B8-4F90-4ADC-8AAC-266F8594C335}" sibTransId="{97FF9E76-F32F-488A-85B5-B5197569F5F7}"/>
    <dgm:cxn modelId="{C1313AE5-9F99-496F-89F7-935C03280D5C}" type="presOf" srcId="{4AA51FCD-F52F-4958-8C41-3F95A25C3FD3}" destId="{02CD5AA3-2FD9-412B-8211-9F949CBAC68F}" srcOrd="0" destOrd="0" presId="urn:microsoft.com/office/officeart/2018/2/layout/IconCircleList"/>
    <dgm:cxn modelId="{2472E6F3-4EFE-4C26-8281-D81207EC3E4A}" type="presOf" srcId="{7AE5CEAB-BC7A-4FD1-9FD2-3178852189E6}" destId="{75A4676E-E568-4969-92E4-5F7EF274855A}" srcOrd="0" destOrd="0" presId="urn:microsoft.com/office/officeart/2018/2/layout/IconCircleList"/>
    <dgm:cxn modelId="{60F9B7F6-776A-4B48-B49B-C235BDAEA3A4}" type="presOf" srcId="{55010D2C-6170-44CC-8710-80C25FF33C0C}" destId="{9EDD9C79-F52D-44B7-9DB3-C437EDD28F37}" srcOrd="0" destOrd="0" presId="urn:microsoft.com/office/officeart/2018/2/layout/IconCircleList"/>
    <dgm:cxn modelId="{DFCD87F8-EE78-4715-A127-E09F2F782726}" type="presParOf" srcId="{03A0D923-130E-4B90-B636-6D3C49DFA63C}" destId="{1D78062E-CC5D-4B8C-8926-DE8C48C41940}" srcOrd="0" destOrd="0" presId="urn:microsoft.com/office/officeart/2018/2/layout/IconCircleList"/>
    <dgm:cxn modelId="{44DDA3B0-EC6B-421B-9815-5277915E9252}" type="presParOf" srcId="{1D78062E-CC5D-4B8C-8926-DE8C48C41940}" destId="{93B8956F-0E24-4F09-887F-5602D0BCA996}" srcOrd="0" destOrd="0" presId="urn:microsoft.com/office/officeart/2018/2/layout/IconCircleList"/>
    <dgm:cxn modelId="{F66AE84E-8C08-471B-A995-EE7D8217BE04}" type="presParOf" srcId="{93B8956F-0E24-4F09-887F-5602D0BCA996}" destId="{88B397C9-21F1-4033-9DC9-B3F8F7D5EEB7}" srcOrd="0" destOrd="0" presId="urn:microsoft.com/office/officeart/2018/2/layout/IconCircleList"/>
    <dgm:cxn modelId="{38132AE4-2C39-4937-A02D-2412CE412707}" type="presParOf" srcId="{93B8956F-0E24-4F09-887F-5602D0BCA996}" destId="{34DFF5CD-10AC-43BC-81B8-B0700E671BFD}" srcOrd="1" destOrd="0" presId="urn:microsoft.com/office/officeart/2018/2/layout/IconCircleList"/>
    <dgm:cxn modelId="{E45381DB-0D87-4335-A730-36B7CF23ACA0}" type="presParOf" srcId="{93B8956F-0E24-4F09-887F-5602D0BCA996}" destId="{815F6062-07D4-4B1F-9537-0838374D6E09}" srcOrd="2" destOrd="0" presId="urn:microsoft.com/office/officeart/2018/2/layout/IconCircleList"/>
    <dgm:cxn modelId="{C3583C57-8782-4DD5-8867-BD54989D9DC9}" type="presParOf" srcId="{93B8956F-0E24-4F09-887F-5602D0BCA996}" destId="{755C84BA-B794-4D33-910D-3D6051FEDE16}" srcOrd="3" destOrd="0" presId="urn:microsoft.com/office/officeart/2018/2/layout/IconCircleList"/>
    <dgm:cxn modelId="{C7C03219-D096-4B0B-9D70-4E7892696009}" type="presParOf" srcId="{1D78062E-CC5D-4B8C-8926-DE8C48C41940}" destId="{56E9D02D-65FB-4AC4-8A0F-D44A4A2FC81E}" srcOrd="1" destOrd="0" presId="urn:microsoft.com/office/officeart/2018/2/layout/IconCircleList"/>
    <dgm:cxn modelId="{1F67EAEE-65EA-4D33-BC4F-90A70EE81504}" type="presParOf" srcId="{1D78062E-CC5D-4B8C-8926-DE8C48C41940}" destId="{B7E3D78D-4808-458F-89D6-C964F37960F4}" srcOrd="2" destOrd="0" presId="urn:microsoft.com/office/officeart/2018/2/layout/IconCircleList"/>
    <dgm:cxn modelId="{45EDFCB8-4F86-4498-ACA7-EA5A03655FF7}" type="presParOf" srcId="{B7E3D78D-4808-458F-89D6-C964F37960F4}" destId="{768021E6-8FA0-4C0A-A4C5-DF27BE5A49EF}" srcOrd="0" destOrd="0" presId="urn:microsoft.com/office/officeart/2018/2/layout/IconCircleList"/>
    <dgm:cxn modelId="{AFF27800-C2FD-4A90-9B99-C51AE5C4AE0F}" type="presParOf" srcId="{B7E3D78D-4808-458F-89D6-C964F37960F4}" destId="{E82BFD5D-4636-4CD9-8DC7-3440E1EF91B7}" srcOrd="1" destOrd="0" presId="urn:microsoft.com/office/officeart/2018/2/layout/IconCircleList"/>
    <dgm:cxn modelId="{E0777BE7-7985-47B6-BD99-3B2F924F66C7}" type="presParOf" srcId="{B7E3D78D-4808-458F-89D6-C964F37960F4}" destId="{C8ADF810-A603-4CFA-B50D-747F8F71D3B5}" srcOrd="2" destOrd="0" presId="urn:microsoft.com/office/officeart/2018/2/layout/IconCircleList"/>
    <dgm:cxn modelId="{FE4AEE13-FCC3-4B3B-9415-7AF7710EB3BF}" type="presParOf" srcId="{B7E3D78D-4808-458F-89D6-C964F37960F4}" destId="{75A4676E-E568-4969-92E4-5F7EF274855A}" srcOrd="3" destOrd="0" presId="urn:microsoft.com/office/officeart/2018/2/layout/IconCircleList"/>
    <dgm:cxn modelId="{BDE061D1-E25A-41B9-96E5-1ABEF8E4B632}" type="presParOf" srcId="{1D78062E-CC5D-4B8C-8926-DE8C48C41940}" destId="{044DDC75-AC76-42EE-A167-1763BCB86B2B}" srcOrd="3" destOrd="0" presId="urn:microsoft.com/office/officeart/2018/2/layout/IconCircleList"/>
    <dgm:cxn modelId="{1D3F6E4C-CA50-4753-83E1-8497F00C9486}" type="presParOf" srcId="{1D78062E-CC5D-4B8C-8926-DE8C48C41940}" destId="{FDA657EA-FA3E-44F1-BFE2-633A4BACB710}" srcOrd="4" destOrd="0" presId="urn:microsoft.com/office/officeart/2018/2/layout/IconCircleList"/>
    <dgm:cxn modelId="{492E8714-5B18-4B1B-862E-6759E8A91CEE}" type="presParOf" srcId="{FDA657EA-FA3E-44F1-BFE2-633A4BACB710}" destId="{14310E94-5C5E-49F1-88F2-7EC5E3E86D90}" srcOrd="0" destOrd="0" presId="urn:microsoft.com/office/officeart/2018/2/layout/IconCircleList"/>
    <dgm:cxn modelId="{91293E37-EF96-48C8-AB2E-8B994CF8ABB8}" type="presParOf" srcId="{FDA657EA-FA3E-44F1-BFE2-633A4BACB710}" destId="{3122C256-2627-44D6-9182-5BF5FF0348BA}" srcOrd="1" destOrd="0" presId="urn:microsoft.com/office/officeart/2018/2/layout/IconCircleList"/>
    <dgm:cxn modelId="{87BFFE9D-E13D-4146-BE66-627F260E98B1}" type="presParOf" srcId="{FDA657EA-FA3E-44F1-BFE2-633A4BACB710}" destId="{432285F7-CC85-4F67-95DA-8922D8F3758A}" srcOrd="2" destOrd="0" presId="urn:microsoft.com/office/officeart/2018/2/layout/IconCircleList"/>
    <dgm:cxn modelId="{3D9B9004-B8E7-42D0-94FA-B42A287947E4}" type="presParOf" srcId="{FDA657EA-FA3E-44F1-BFE2-633A4BACB710}" destId="{9EDD9C79-F52D-44B7-9DB3-C437EDD28F37}" srcOrd="3" destOrd="0" presId="urn:microsoft.com/office/officeart/2018/2/layout/IconCircleList"/>
    <dgm:cxn modelId="{26C67592-E055-4066-A8E8-9139BA96D606}" type="presParOf" srcId="{1D78062E-CC5D-4B8C-8926-DE8C48C41940}" destId="{A3697E92-4388-44DE-86B9-42B2417E4FB4}" srcOrd="5" destOrd="0" presId="urn:microsoft.com/office/officeart/2018/2/layout/IconCircleList"/>
    <dgm:cxn modelId="{E38ABE9B-0FD5-404A-9168-D78FE8F24C42}" type="presParOf" srcId="{1D78062E-CC5D-4B8C-8926-DE8C48C41940}" destId="{10E2120A-9A46-4D66-9DEA-163844E5D8DC}" srcOrd="6" destOrd="0" presId="urn:microsoft.com/office/officeart/2018/2/layout/IconCircleList"/>
    <dgm:cxn modelId="{66B0055E-9031-4C56-90BB-224EDCE5AC64}" type="presParOf" srcId="{10E2120A-9A46-4D66-9DEA-163844E5D8DC}" destId="{46F9EF35-EEE8-4B27-B22B-EB7E8F9499ED}" srcOrd="0" destOrd="0" presId="urn:microsoft.com/office/officeart/2018/2/layout/IconCircleList"/>
    <dgm:cxn modelId="{54DE58A8-E15D-452D-8019-2DB8BCBE0BE3}" type="presParOf" srcId="{10E2120A-9A46-4D66-9DEA-163844E5D8DC}" destId="{ADC8B068-6B27-4DA0-B7F5-BFE6125C5C6E}" srcOrd="1" destOrd="0" presId="urn:microsoft.com/office/officeart/2018/2/layout/IconCircleList"/>
    <dgm:cxn modelId="{2EDD5828-D3EE-4111-9EC8-C0E6F8A7E2F6}" type="presParOf" srcId="{10E2120A-9A46-4D66-9DEA-163844E5D8DC}" destId="{EE660BC3-DFD5-4DE7-AE19-1BAE28B280A2}" srcOrd="2" destOrd="0" presId="urn:microsoft.com/office/officeart/2018/2/layout/IconCircleList"/>
    <dgm:cxn modelId="{5D378DEE-3489-479E-B134-065AA6CD9F6B}" type="presParOf" srcId="{10E2120A-9A46-4D66-9DEA-163844E5D8DC}" destId="{8A7CE701-10B0-4F08-938D-BEA5201A5AF4}" srcOrd="3" destOrd="0" presId="urn:microsoft.com/office/officeart/2018/2/layout/IconCircleList"/>
    <dgm:cxn modelId="{7F8E55B1-C06E-4482-B6FD-948B2383835C}" type="presParOf" srcId="{1D78062E-CC5D-4B8C-8926-DE8C48C41940}" destId="{EF84A6BC-3BAF-47AB-ABA8-1D93E6DBFADE}" srcOrd="7" destOrd="0" presId="urn:microsoft.com/office/officeart/2018/2/layout/IconCircleList"/>
    <dgm:cxn modelId="{1D8612A2-A92A-4068-A350-D0F54EEFDFD2}" type="presParOf" srcId="{1D78062E-CC5D-4B8C-8926-DE8C48C41940}" destId="{35345616-659B-4202-9333-46EC99C69A08}" srcOrd="8" destOrd="0" presId="urn:microsoft.com/office/officeart/2018/2/layout/IconCircleList"/>
    <dgm:cxn modelId="{533DDB51-2DD6-4A96-ADE0-8F81E82F965B}" type="presParOf" srcId="{35345616-659B-4202-9333-46EC99C69A08}" destId="{E3B33DF2-812F-43A9-8A06-CBD1941F0A24}" srcOrd="0" destOrd="0" presId="urn:microsoft.com/office/officeart/2018/2/layout/IconCircleList"/>
    <dgm:cxn modelId="{BE0C566C-9341-4938-BD77-930B0A90C597}" type="presParOf" srcId="{35345616-659B-4202-9333-46EC99C69A08}" destId="{6830FEEC-6B36-4D2E-91DD-A91994C4BC8D}" srcOrd="1" destOrd="0" presId="urn:microsoft.com/office/officeart/2018/2/layout/IconCircleList"/>
    <dgm:cxn modelId="{70395CE2-FD45-4645-94B9-3E382CD4830C}" type="presParOf" srcId="{35345616-659B-4202-9333-46EC99C69A08}" destId="{F28A3858-9205-45EE-ACD1-0702E89755C0}" srcOrd="2" destOrd="0" presId="urn:microsoft.com/office/officeart/2018/2/layout/IconCircleList"/>
    <dgm:cxn modelId="{A77B9DAB-CBE7-4B47-AB18-D87065D461D7}" type="presParOf" srcId="{35345616-659B-4202-9333-46EC99C69A08}" destId="{DEF0FD48-5144-45C2-B2E0-ECA7C14B04FA}" srcOrd="3" destOrd="0" presId="urn:microsoft.com/office/officeart/2018/2/layout/IconCircleList"/>
    <dgm:cxn modelId="{90FB6BFB-72C6-4077-9BC9-009647660FA9}" type="presParOf" srcId="{1D78062E-CC5D-4B8C-8926-DE8C48C41940}" destId="{191C3C1D-7C3A-4D63-84E3-E61D64B5E34C}" srcOrd="9" destOrd="0" presId="urn:microsoft.com/office/officeart/2018/2/layout/IconCircleList"/>
    <dgm:cxn modelId="{3875EEA7-3DB2-45BB-931A-906D87CF839D}" type="presParOf" srcId="{1D78062E-CC5D-4B8C-8926-DE8C48C41940}" destId="{91254C84-72D1-43C9-9D39-C28FC10E0E8C}" srcOrd="10" destOrd="0" presId="urn:microsoft.com/office/officeart/2018/2/layout/IconCircleList"/>
    <dgm:cxn modelId="{460A57B9-45BE-43EA-A6DA-30048DC40FD6}" type="presParOf" srcId="{91254C84-72D1-43C9-9D39-C28FC10E0E8C}" destId="{85FF41A6-7DE8-4C54-BB69-81516DBCAEED}" srcOrd="0" destOrd="0" presId="urn:microsoft.com/office/officeart/2018/2/layout/IconCircleList"/>
    <dgm:cxn modelId="{9D0B715E-BB9D-4FDB-87BB-F16DE7F7E7A7}" type="presParOf" srcId="{91254C84-72D1-43C9-9D39-C28FC10E0E8C}" destId="{FFB69353-7E3F-416D-91AD-542B5BFCA058}" srcOrd="1" destOrd="0" presId="urn:microsoft.com/office/officeart/2018/2/layout/IconCircleList"/>
    <dgm:cxn modelId="{D302B81B-D251-46E8-A0AA-9ABCA9844AE4}" type="presParOf" srcId="{91254C84-72D1-43C9-9D39-C28FC10E0E8C}" destId="{E6D90C31-6C39-4D69-AD11-A1CC75BB0B32}" srcOrd="2" destOrd="0" presId="urn:microsoft.com/office/officeart/2018/2/layout/IconCircleList"/>
    <dgm:cxn modelId="{9E1F2854-DB0B-4CC6-9884-868CC6141E50}" type="presParOf" srcId="{91254C84-72D1-43C9-9D39-C28FC10E0E8C}" destId="{02CD5AA3-2FD9-412B-8211-9F949CBAC68F}"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D7E69-84F8-45C4-8E2F-D8FBC361E99C}">
      <dsp:nvSpPr>
        <dsp:cNvPr id="0" name=""/>
        <dsp:cNvSpPr/>
      </dsp:nvSpPr>
      <dsp:spPr>
        <a:xfrm>
          <a:off x="0" y="95441"/>
          <a:ext cx="5175384" cy="128663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Hotel Haven is a luxury hotel chain with multiple locations.</a:t>
          </a:r>
        </a:p>
      </dsp:txBody>
      <dsp:txXfrm>
        <a:off x="62808" y="158249"/>
        <a:ext cx="5049768" cy="1161018"/>
      </dsp:txXfrm>
    </dsp:sp>
    <dsp:sp modelId="{B33770DB-7A9B-49AC-95BE-2C55851158FC}">
      <dsp:nvSpPr>
        <dsp:cNvPr id="0" name=""/>
        <dsp:cNvSpPr/>
      </dsp:nvSpPr>
      <dsp:spPr>
        <a:xfrm>
          <a:off x="0" y="1448316"/>
          <a:ext cx="5175384" cy="1286634"/>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Offers various room types, meal plans, and parking options.</a:t>
          </a:r>
        </a:p>
      </dsp:txBody>
      <dsp:txXfrm>
        <a:off x="62808" y="1511124"/>
        <a:ext cx="5049768" cy="1161018"/>
      </dsp:txXfrm>
    </dsp:sp>
    <dsp:sp modelId="{71C8CCBB-EEAD-4055-A36A-7ACFFD4473A7}">
      <dsp:nvSpPr>
        <dsp:cNvPr id="0" name=""/>
        <dsp:cNvSpPr/>
      </dsp:nvSpPr>
      <dsp:spPr>
        <a:xfrm>
          <a:off x="0" y="2801190"/>
          <a:ext cx="5175384" cy="1286634"/>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Faces challenges in predicting customer cancellations, which impacts their ability to </a:t>
          </a:r>
          <a:r>
            <a:rPr lang="en-US" sz="2300" b="1" kern="1200" dirty="0"/>
            <a:t>manage resources </a:t>
          </a:r>
          <a:r>
            <a:rPr lang="en-US" sz="2300" kern="1200" dirty="0"/>
            <a:t>effectively.</a:t>
          </a:r>
        </a:p>
      </dsp:txBody>
      <dsp:txXfrm>
        <a:off x="62808" y="2863998"/>
        <a:ext cx="5049768" cy="1161018"/>
      </dsp:txXfrm>
    </dsp:sp>
    <dsp:sp modelId="{D81608BE-DBB1-47C6-BE36-2FC216053B24}">
      <dsp:nvSpPr>
        <dsp:cNvPr id="0" name=""/>
        <dsp:cNvSpPr/>
      </dsp:nvSpPr>
      <dsp:spPr>
        <a:xfrm>
          <a:off x="0" y="4154064"/>
          <a:ext cx="5175384" cy="1286634"/>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Goal: Understand booking patterns and create strategies to improve customer retention and reduce cancellations.</a:t>
          </a:r>
        </a:p>
      </dsp:txBody>
      <dsp:txXfrm>
        <a:off x="62808" y="4216872"/>
        <a:ext cx="5049768" cy="11610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5BC24-729B-4725-8BA6-74E613759104}">
      <dsp:nvSpPr>
        <dsp:cNvPr id="0" name=""/>
        <dsp:cNvSpPr/>
      </dsp:nvSpPr>
      <dsp:spPr>
        <a:xfrm>
          <a:off x="0" y="3630439"/>
          <a:ext cx="5000124" cy="1822999"/>
        </a:xfrm>
        <a:prstGeom prst="rect">
          <a:avLst/>
        </a:prstGeom>
        <a:gradFill rotWithShape="0">
          <a:gsLst>
            <a:gs pos="0">
              <a:schemeClr val="accent2">
                <a:hueOff val="0"/>
                <a:satOff val="0"/>
                <a:lumOff val="0"/>
                <a:alphaOff val="0"/>
                <a:tint val="100000"/>
                <a:shade val="100000"/>
                <a:satMod val="130000"/>
              </a:schemeClr>
            </a:gs>
            <a:gs pos="100000">
              <a:schemeClr val="accent2">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002060"/>
              </a:solidFill>
            </a:rPr>
            <a:t>Management seeks to predict cancellations based on booking data to improve operational efficiency and customer retention.</a:t>
          </a:r>
        </a:p>
      </dsp:txBody>
      <dsp:txXfrm>
        <a:off x="0" y="3630439"/>
        <a:ext cx="5000124" cy="1822999"/>
      </dsp:txXfrm>
    </dsp:sp>
    <dsp:sp modelId="{D97D6B8A-5D02-4BB7-AAE8-F46BC080206F}">
      <dsp:nvSpPr>
        <dsp:cNvPr id="0" name=""/>
        <dsp:cNvSpPr/>
      </dsp:nvSpPr>
      <dsp:spPr>
        <a:xfrm rot="10800000">
          <a:off x="0" y="1815460"/>
          <a:ext cx="5000124" cy="1832855"/>
        </a:xfrm>
        <a:prstGeom prst="upArrowCallout">
          <a:avLst/>
        </a:prstGeom>
        <a:gradFill rotWithShape="0">
          <a:gsLst>
            <a:gs pos="0">
              <a:schemeClr val="accent2">
                <a:hueOff val="2340759"/>
                <a:satOff val="-2919"/>
                <a:lumOff val="686"/>
                <a:alphaOff val="0"/>
                <a:tint val="100000"/>
                <a:shade val="100000"/>
                <a:satMod val="130000"/>
              </a:schemeClr>
            </a:gs>
            <a:gs pos="100000">
              <a:schemeClr val="accent2">
                <a:hueOff val="2340759"/>
                <a:satOff val="-2919"/>
                <a:lumOff val="686"/>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002060"/>
              </a:solidFill>
            </a:rPr>
            <a:t>Existing system lacks insights into why customers cancel their bookings</a:t>
          </a:r>
          <a:r>
            <a:rPr lang="en-US" sz="2100" kern="1200" dirty="0"/>
            <a:t>.</a:t>
          </a:r>
        </a:p>
      </dsp:txBody>
      <dsp:txXfrm rot="10800000">
        <a:off x="0" y="1815460"/>
        <a:ext cx="5000124" cy="1190934"/>
      </dsp:txXfrm>
    </dsp:sp>
    <dsp:sp modelId="{E4CBBD72-0BC3-430E-AAFE-2E0B49248BAD}">
      <dsp:nvSpPr>
        <dsp:cNvPr id="0" name=""/>
        <dsp:cNvSpPr/>
      </dsp:nvSpPr>
      <dsp:spPr>
        <a:xfrm rot="10800000">
          <a:off x="0" y="480"/>
          <a:ext cx="5000124" cy="1832855"/>
        </a:xfrm>
        <a:prstGeom prst="upArrowCallout">
          <a:avLst/>
        </a:prstGeom>
        <a:gradFill rotWithShape="0">
          <a:gsLst>
            <a:gs pos="0">
              <a:schemeClr val="accent2">
                <a:hueOff val="4681519"/>
                <a:satOff val="-5839"/>
                <a:lumOff val="1373"/>
                <a:alphaOff val="0"/>
                <a:tint val="100000"/>
                <a:shade val="100000"/>
                <a:satMod val="130000"/>
              </a:schemeClr>
            </a:gs>
            <a:gs pos="100000">
              <a:schemeClr val="accent2">
                <a:hueOff val="4681519"/>
                <a:satOff val="-5839"/>
                <a:lumOff val="1373"/>
                <a:alphaOff val="0"/>
                <a:tint val="50000"/>
                <a:shade val="100000"/>
                <a:satMod val="350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dirty="0">
              <a:solidFill>
                <a:srgbClr val="002060"/>
              </a:solidFill>
            </a:rPr>
            <a:t>High cancellation rates lead to lost revenue and inefficient resource allocation</a:t>
          </a:r>
          <a:r>
            <a:rPr lang="en-US" sz="2100" kern="1200" dirty="0">
              <a:solidFill>
                <a:srgbClr val="FF0000"/>
              </a:solidFill>
            </a:rPr>
            <a:t>.</a:t>
          </a:r>
        </a:p>
      </dsp:txBody>
      <dsp:txXfrm rot="10800000">
        <a:off x="0" y="480"/>
        <a:ext cx="5000124" cy="11909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E303C2-8827-4658-B2C5-BD67CCD7BD27}">
      <dsp:nvSpPr>
        <dsp:cNvPr id="0" name=""/>
        <dsp:cNvSpPr/>
      </dsp:nvSpPr>
      <dsp:spPr>
        <a:xfrm>
          <a:off x="25368"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8B3E67-A292-4526-900B-199420200CC4}">
      <dsp:nvSpPr>
        <dsp:cNvPr id="0" name=""/>
        <dsp:cNvSpPr/>
      </dsp:nvSpPr>
      <dsp:spPr>
        <a:xfrm>
          <a:off x="252752" y="1022877"/>
          <a:ext cx="628012" cy="6280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727B95D-3791-497E-A486-1AA134646686}">
      <dsp:nvSpPr>
        <dsp:cNvPr id="0" name=""/>
        <dsp:cNvSpPr/>
      </dsp:nvSpPr>
      <dsp:spPr>
        <a:xfrm>
          <a:off x="1340173"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What are the key factors that influence booking cancellations in the hospitality industry?</a:t>
          </a:r>
        </a:p>
      </dsp:txBody>
      <dsp:txXfrm>
        <a:off x="1340173" y="795493"/>
        <a:ext cx="2552269" cy="1082781"/>
      </dsp:txXfrm>
    </dsp:sp>
    <dsp:sp modelId="{9978BEBF-B3A2-4C4B-83E5-98B7194E8262}">
      <dsp:nvSpPr>
        <dsp:cNvPr id="0" name=""/>
        <dsp:cNvSpPr/>
      </dsp:nvSpPr>
      <dsp:spPr>
        <a:xfrm>
          <a:off x="4337156" y="795493"/>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C9D29A-D05B-465F-B231-A539F86EEB66}">
      <dsp:nvSpPr>
        <dsp:cNvPr id="0" name=""/>
        <dsp:cNvSpPr/>
      </dsp:nvSpPr>
      <dsp:spPr>
        <a:xfrm>
          <a:off x="4564540" y="1022877"/>
          <a:ext cx="628012" cy="6280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454F80-2817-48C2-955F-103FB1D8511A}">
      <dsp:nvSpPr>
        <dsp:cNvPr id="0" name=""/>
        <dsp:cNvSpPr/>
      </dsp:nvSpPr>
      <dsp:spPr>
        <a:xfrm>
          <a:off x="5651962" y="795493"/>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How accurately can booking status be predicted using available customer and booking data?</a:t>
          </a:r>
        </a:p>
      </dsp:txBody>
      <dsp:txXfrm>
        <a:off x="5651962" y="795493"/>
        <a:ext cx="2552269" cy="1082781"/>
      </dsp:txXfrm>
    </dsp:sp>
    <dsp:sp modelId="{325D734A-2E9D-449A-B23D-78BF075FAEBD}">
      <dsp:nvSpPr>
        <dsp:cNvPr id="0" name=""/>
        <dsp:cNvSpPr/>
      </dsp:nvSpPr>
      <dsp:spPr>
        <a:xfrm>
          <a:off x="25368"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6D3B82-ACB4-402D-A2EB-B8D4472277FC}">
      <dsp:nvSpPr>
        <dsp:cNvPr id="0" name=""/>
        <dsp:cNvSpPr/>
      </dsp:nvSpPr>
      <dsp:spPr>
        <a:xfrm>
          <a:off x="252752" y="2875072"/>
          <a:ext cx="628012" cy="62801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12B3285-DE75-4DB9-B569-4976A85C1CF8}">
      <dsp:nvSpPr>
        <dsp:cNvPr id="0" name=""/>
        <dsp:cNvSpPr/>
      </dsp:nvSpPr>
      <dsp:spPr>
        <a:xfrm>
          <a:off x="1340173"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Which data features contribute most to customer retention and reduced cancellations?</a:t>
          </a:r>
        </a:p>
      </dsp:txBody>
      <dsp:txXfrm>
        <a:off x="1340173" y="2647688"/>
        <a:ext cx="2552269" cy="1082781"/>
      </dsp:txXfrm>
    </dsp:sp>
    <dsp:sp modelId="{558BFF6C-C96E-4907-A146-69F9A909CB40}">
      <dsp:nvSpPr>
        <dsp:cNvPr id="0" name=""/>
        <dsp:cNvSpPr/>
      </dsp:nvSpPr>
      <dsp:spPr>
        <a:xfrm>
          <a:off x="4337156" y="2647688"/>
          <a:ext cx="1082781" cy="1082781"/>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B4164D-D0B8-4D35-874C-2330629A6553}">
      <dsp:nvSpPr>
        <dsp:cNvPr id="0" name=""/>
        <dsp:cNvSpPr/>
      </dsp:nvSpPr>
      <dsp:spPr>
        <a:xfrm>
          <a:off x="4564540" y="2875072"/>
          <a:ext cx="628012" cy="62801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358F250-F835-477A-A0C4-D4C1099CA945}">
      <dsp:nvSpPr>
        <dsp:cNvPr id="0" name=""/>
        <dsp:cNvSpPr/>
      </dsp:nvSpPr>
      <dsp:spPr>
        <a:xfrm>
          <a:off x="5651962" y="2647688"/>
          <a:ext cx="2552269" cy="10827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755650">
            <a:lnSpc>
              <a:spcPct val="100000"/>
            </a:lnSpc>
            <a:spcBef>
              <a:spcPct val="0"/>
            </a:spcBef>
            <a:spcAft>
              <a:spcPct val="35000"/>
            </a:spcAft>
            <a:buNone/>
          </a:pPr>
          <a:r>
            <a:rPr lang="en-US" sz="1700" kern="1200"/>
            <a:t>How can predictive insights be used to optimize hotel resource management?</a:t>
          </a:r>
        </a:p>
      </dsp:txBody>
      <dsp:txXfrm>
        <a:off x="5651962" y="2647688"/>
        <a:ext cx="2552269" cy="108278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DD50A1-BA7B-4AB9-B119-0DDE9BCE028E}">
      <dsp:nvSpPr>
        <dsp:cNvPr id="0" name=""/>
        <dsp:cNvSpPr/>
      </dsp:nvSpPr>
      <dsp:spPr>
        <a:xfrm>
          <a:off x="0" y="51855"/>
          <a:ext cx="2561209" cy="3585693"/>
        </a:xfrm>
        <a:prstGeom prst="rect">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682" tIns="330200" rIns="199682" bIns="330200" numCol="1" spcCol="1270" anchor="t" anchorCtr="0">
          <a:noAutofit/>
        </a:bodyPr>
        <a:lstStyle/>
        <a:p>
          <a:pPr marL="0" lvl="0" indent="0" algn="l" defTabSz="577850">
            <a:lnSpc>
              <a:spcPct val="90000"/>
            </a:lnSpc>
            <a:spcBef>
              <a:spcPct val="0"/>
            </a:spcBef>
            <a:spcAft>
              <a:spcPct val="35000"/>
            </a:spcAft>
            <a:buNone/>
          </a:pPr>
          <a:r>
            <a:rPr lang="en-US" sz="1300" kern="1200" dirty="0"/>
            <a:t>Understanding Cancellation: Analyze booking patterns to uncover reasons for cancellations.</a:t>
          </a:r>
        </a:p>
      </dsp:txBody>
      <dsp:txXfrm>
        <a:off x="0" y="1414419"/>
        <a:ext cx="2561209" cy="2151416"/>
      </dsp:txXfrm>
    </dsp:sp>
    <dsp:sp modelId="{C82F9FC4-DFD6-4B15-B97D-17F6C270BDBC}">
      <dsp:nvSpPr>
        <dsp:cNvPr id="0" name=""/>
        <dsp:cNvSpPr/>
      </dsp:nvSpPr>
      <dsp:spPr>
        <a:xfrm>
          <a:off x="742750" y="410425"/>
          <a:ext cx="1075708" cy="1075708"/>
        </a:xfrm>
        <a:prstGeom prst="ellips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66" tIns="12700" rIns="83866"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900284" y="567959"/>
        <a:ext cx="760640" cy="760640"/>
      </dsp:txXfrm>
    </dsp:sp>
    <dsp:sp modelId="{0EDEF7AC-3E07-44A4-9A17-7BC5F645C0F3}">
      <dsp:nvSpPr>
        <dsp:cNvPr id="0" name=""/>
        <dsp:cNvSpPr/>
      </dsp:nvSpPr>
      <dsp:spPr>
        <a:xfrm>
          <a:off x="0" y="3637477"/>
          <a:ext cx="2561209" cy="72"/>
        </a:xfrm>
        <a:prstGeom prst="rect">
          <a:avLst/>
        </a:prstGeom>
        <a:solidFill>
          <a:schemeClr val="accent2">
            <a:hueOff val="936304"/>
            <a:satOff val="-1168"/>
            <a:lumOff val="275"/>
            <a:alphaOff val="0"/>
          </a:schemeClr>
        </a:solidFill>
        <a:ln w="25400" cap="flat" cmpd="sng" algn="ctr">
          <a:solidFill>
            <a:schemeClr val="accent2">
              <a:hueOff val="936304"/>
              <a:satOff val="-1168"/>
              <a:lumOff val="27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A191708-E687-4721-B9E4-5D58223BA123}">
      <dsp:nvSpPr>
        <dsp:cNvPr id="0" name=""/>
        <dsp:cNvSpPr/>
      </dsp:nvSpPr>
      <dsp:spPr>
        <a:xfrm>
          <a:off x="2817330" y="51855"/>
          <a:ext cx="2561209" cy="3585693"/>
        </a:xfrm>
        <a:prstGeom prst="rect">
          <a:avLst/>
        </a:prstGeom>
        <a:solidFill>
          <a:schemeClr val="accent2">
            <a:tint val="40000"/>
            <a:alpha val="90000"/>
            <a:hueOff val="2512910"/>
            <a:satOff val="-2189"/>
            <a:lumOff val="-3"/>
            <a:alphaOff val="0"/>
          </a:schemeClr>
        </a:solidFill>
        <a:ln w="25400" cap="flat" cmpd="sng" algn="ctr">
          <a:solidFill>
            <a:schemeClr val="accent2">
              <a:tint val="40000"/>
              <a:alpha val="90000"/>
              <a:hueOff val="2512910"/>
              <a:satOff val="-2189"/>
              <a:lumOff val="-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682" tIns="330200" rIns="199682" bIns="330200" numCol="1" spcCol="1270" anchor="t" anchorCtr="0">
          <a:noAutofit/>
        </a:bodyPr>
        <a:lstStyle/>
        <a:p>
          <a:pPr marL="0" lvl="0" indent="0" algn="l" defTabSz="577850">
            <a:lnSpc>
              <a:spcPct val="90000"/>
            </a:lnSpc>
            <a:spcBef>
              <a:spcPct val="0"/>
            </a:spcBef>
            <a:spcAft>
              <a:spcPct val="35000"/>
            </a:spcAft>
            <a:buNone/>
          </a:pPr>
          <a:r>
            <a:rPr lang="en-US" sz="1300" kern="1200" dirty="0"/>
            <a:t>Identifying Key Factors: By examining variables like lead time, room type, market segment, and price, specific factors that influence customers' decisions to either cancel or keep their bookings are identified.</a:t>
          </a:r>
        </a:p>
      </dsp:txBody>
      <dsp:txXfrm>
        <a:off x="2817330" y="1414419"/>
        <a:ext cx="2561209" cy="2151416"/>
      </dsp:txXfrm>
    </dsp:sp>
    <dsp:sp modelId="{4EA5AA1B-55DB-4303-A7EB-8C6E1ADE20B8}">
      <dsp:nvSpPr>
        <dsp:cNvPr id="0" name=""/>
        <dsp:cNvSpPr/>
      </dsp:nvSpPr>
      <dsp:spPr>
        <a:xfrm>
          <a:off x="3560081" y="410425"/>
          <a:ext cx="1075708" cy="1075708"/>
        </a:xfrm>
        <a:prstGeom prst="ellipse">
          <a:avLst/>
        </a:prstGeom>
        <a:solidFill>
          <a:schemeClr val="accent2">
            <a:hueOff val="1872608"/>
            <a:satOff val="-2336"/>
            <a:lumOff val="549"/>
            <a:alphaOff val="0"/>
          </a:schemeClr>
        </a:solidFill>
        <a:ln w="25400" cap="flat" cmpd="sng" algn="ctr">
          <a:solidFill>
            <a:schemeClr val="accent2">
              <a:hueOff val="1872608"/>
              <a:satOff val="-2336"/>
              <a:lumOff val="54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66" tIns="12700" rIns="83866"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3717615" y="567959"/>
        <a:ext cx="760640" cy="760640"/>
      </dsp:txXfrm>
    </dsp:sp>
    <dsp:sp modelId="{13323EC5-04D0-4188-9878-321A5E5C5F78}">
      <dsp:nvSpPr>
        <dsp:cNvPr id="0" name=""/>
        <dsp:cNvSpPr/>
      </dsp:nvSpPr>
      <dsp:spPr>
        <a:xfrm>
          <a:off x="2817330" y="3637477"/>
          <a:ext cx="2561209" cy="72"/>
        </a:xfrm>
        <a:prstGeom prst="rect">
          <a:avLst/>
        </a:prstGeom>
        <a:solidFill>
          <a:schemeClr val="accent2">
            <a:hueOff val="2808911"/>
            <a:satOff val="-3503"/>
            <a:lumOff val="824"/>
            <a:alphaOff val="0"/>
          </a:schemeClr>
        </a:solidFill>
        <a:ln w="25400" cap="flat" cmpd="sng" algn="ctr">
          <a:solidFill>
            <a:schemeClr val="accent2">
              <a:hueOff val="2808911"/>
              <a:satOff val="-3503"/>
              <a:lumOff val="82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B4FF82B-39D3-4143-9B76-1E4CF54B47FC}">
      <dsp:nvSpPr>
        <dsp:cNvPr id="0" name=""/>
        <dsp:cNvSpPr/>
      </dsp:nvSpPr>
      <dsp:spPr>
        <a:xfrm>
          <a:off x="5634661" y="51855"/>
          <a:ext cx="2561209" cy="3585693"/>
        </a:xfrm>
        <a:prstGeom prst="rect">
          <a:avLst/>
        </a:prstGeom>
        <a:solidFill>
          <a:schemeClr val="accent2">
            <a:tint val="40000"/>
            <a:alpha val="90000"/>
            <a:hueOff val="5025821"/>
            <a:satOff val="-4378"/>
            <a:lumOff val="-6"/>
            <a:alphaOff val="0"/>
          </a:schemeClr>
        </a:solidFill>
        <a:ln w="25400" cap="flat" cmpd="sng" algn="ctr">
          <a:solidFill>
            <a:schemeClr val="accent2">
              <a:tint val="40000"/>
              <a:alpha val="90000"/>
              <a:hueOff val="5025821"/>
              <a:satOff val="-4378"/>
              <a:lumOff val="-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99682" tIns="330200" rIns="199682" bIns="330200" numCol="1" spcCol="1270" anchor="t" anchorCtr="0">
          <a:noAutofit/>
        </a:bodyPr>
        <a:lstStyle/>
        <a:p>
          <a:pPr marL="0" lvl="0" indent="0" algn="l" defTabSz="577850">
            <a:lnSpc>
              <a:spcPct val="90000"/>
            </a:lnSpc>
            <a:spcBef>
              <a:spcPct val="0"/>
            </a:spcBef>
            <a:spcAft>
              <a:spcPct val="35000"/>
            </a:spcAft>
            <a:buNone/>
          </a:pPr>
          <a:r>
            <a:rPr lang="en-US" sz="1300" kern="1200" dirty="0"/>
            <a:t>Optimizing Satisfaction: By minimizing cancellations, the hotel can ensure better resource allocation and improved guest experience.</a:t>
          </a:r>
        </a:p>
      </dsp:txBody>
      <dsp:txXfrm>
        <a:off x="5634661" y="1414419"/>
        <a:ext cx="2561209" cy="2151416"/>
      </dsp:txXfrm>
    </dsp:sp>
    <dsp:sp modelId="{6105A6E0-AB8D-4721-9F78-E99582670A55}">
      <dsp:nvSpPr>
        <dsp:cNvPr id="0" name=""/>
        <dsp:cNvSpPr/>
      </dsp:nvSpPr>
      <dsp:spPr>
        <a:xfrm>
          <a:off x="6377412" y="410425"/>
          <a:ext cx="1075708" cy="1075708"/>
        </a:xfrm>
        <a:prstGeom prst="ellipse">
          <a:avLst/>
        </a:prstGeom>
        <a:solidFill>
          <a:schemeClr val="accent2">
            <a:hueOff val="3745215"/>
            <a:satOff val="-4671"/>
            <a:lumOff val="1098"/>
            <a:alphaOff val="0"/>
          </a:schemeClr>
        </a:solidFill>
        <a:ln w="25400" cap="flat" cmpd="sng" algn="ctr">
          <a:solidFill>
            <a:schemeClr val="accent2">
              <a:hueOff val="3745215"/>
              <a:satOff val="-4671"/>
              <a:lumOff val="109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66" tIns="12700" rIns="83866"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6534946" y="567959"/>
        <a:ext cx="760640" cy="760640"/>
      </dsp:txXfrm>
    </dsp:sp>
    <dsp:sp modelId="{BA28B3A8-1C80-4573-8B7A-86846193F657}">
      <dsp:nvSpPr>
        <dsp:cNvPr id="0" name=""/>
        <dsp:cNvSpPr/>
      </dsp:nvSpPr>
      <dsp:spPr>
        <a:xfrm>
          <a:off x="5634661" y="3637477"/>
          <a:ext cx="2561209" cy="72"/>
        </a:xfrm>
        <a:prstGeom prst="rect">
          <a:avLst/>
        </a:prstGeom>
        <a:solidFill>
          <a:schemeClr val="accent2">
            <a:hueOff val="4681519"/>
            <a:satOff val="-5839"/>
            <a:lumOff val="1373"/>
            <a:alphaOff val="0"/>
          </a:schemeClr>
        </a:solidFill>
        <a:ln w="25400" cap="flat" cmpd="sng" algn="ctr">
          <a:solidFill>
            <a:schemeClr val="accent2">
              <a:hueOff val="4681519"/>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4602E6-2952-4E48-B822-3CC3B8B6E0ED}">
      <dsp:nvSpPr>
        <dsp:cNvPr id="0" name=""/>
        <dsp:cNvSpPr/>
      </dsp:nvSpPr>
      <dsp:spPr>
        <a:xfrm>
          <a:off x="1746655" y="1074050"/>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22196" y="1117761"/>
        <a:ext cx="20088" cy="4017"/>
      </dsp:txXfrm>
    </dsp:sp>
    <dsp:sp modelId="{05079B2C-FDAD-4869-A0BF-A655A5107AE7}">
      <dsp:nvSpPr>
        <dsp:cNvPr id="0" name=""/>
        <dsp:cNvSpPr/>
      </dsp:nvSpPr>
      <dsp:spPr>
        <a:xfrm>
          <a:off x="1630" y="595722"/>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Booking ID: Unique identifier for each booking (String)</a:t>
          </a:r>
        </a:p>
      </dsp:txBody>
      <dsp:txXfrm>
        <a:off x="1630" y="595722"/>
        <a:ext cx="1746825" cy="1048095"/>
      </dsp:txXfrm>
    </dsp:sp>
    <dsp:sp modelId="{FB10DFBA-1894-43CD-9CD0-81D6F6B7872B}">
      <dsp:nvSpPr>
        <dsp:cNvPr id="0" name=""/>
        <dsp:cNvSpPr/>
      </dsp:nvSpPr>
      <dsp:spPr>
        <a:xfrm>
          <a:off x="3895250" y="1074050"/>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70791" y="1117761"/>
        <a:ext cx="20088" cy="4017"/>
      </dsp:txXfrm>
    </dsp:sp>
    <dsp:sp modelId="{CB32762B-DA74-4EAA-B080-E805EF225DC9}">
      <dsp:nvSpPr>
        <dsp:cNvPr id="0" name=""/>
        <dsp:cNvSpPr/>
      </dsp:nvSpPr>
      <dsp:spPr>
        <a:xfrm>
          <a:off x="2150225" y="595722"/>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Number of adults and children (Integer)</a:t>
          </a:r>
        </a:p>
      </dsp:txBody>
      <dsp:txXfrm>
        <a:off x="2150225" y="595722"/>
        <a:ext cx="1746825" cy="1048095"/>
      </dsp:txXfrm>
    </dsp:sp>
    <dsp:sp modelId="{8EB8228D-C5C8-482E-BEA5-B70C9AE8B555}">
      <dsp:nvSpPr>
        <dsp:cNvPr id="0" name=""/>
        <dsp:cNvSpPr/>
      </dsp:nvSpPr>
      <dsp:spPr>
        <a:xfrm>
          <a:off x="6043845" y="1074050"/>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19386" y="1117761"/>
        <a:ext cx="20088" cy="4017"/>
      </dsp:txXfrm>
    </dsp:sp>
    <dsp:sp modelId="{A82B6788-3B9B-42F9-BC94-B8549EE68276}">
      <dsp:nvSpPr>
        <dsp:cNvPr id="0" name=""/>
        <dsp:cNvSpPr/>
      </dsp:nvSpPr>
      <dsp:spPr>
        <a:xfrm>
          <a:off x="4298820" y="595722"/>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Number of weekend and week nights (Integer)</a:t>
          </a:r>
        </a:p>
      </dsp:txBody>
      <dsp:txXfrm>
        <a:off x="4298820" y="595722"/>
        <a:ext cx="1746825" cy="1048095"/>
      </dsp:txXfrm>
    </dsp:sp>
    <dsp:sp modelId="{B8170BF3-A9FA-4C03-AA95-445A34AE4D10}">
      <dsp:nvSpPr>
        <dsp:cNvPr id="0" name=""/>
        <dsp:cNvSpPr/>
      </dsp:nvSpPr>
      <dsp:spPr>
        <a:xfrm>
          <a:off x="875043" y="1642017"/>
          <a:ext cx="6445784" cy="371169"/>
        </a:xfrm>
        <a:custGeom>
          <a:avLst/>
          <a:gdLst/>
          <a:ahLst/>
          <a:cxnLst/>
          <a:rect l="0" t="0" r="0" b="0"/>
          <a:pathLst>
            <a:path>
              <a:moveTo>
                <a:pt x="6445784" y="0"/>
              </a:moveTo>
              <a:lnTo>
                <a:pt x="6445784" y="202684"/>
              </a:lnTo>
              <a:lnTo>
                <a:pt x="0" y="202684"/>
              </a:lnTo>
              <a:lnTo>
                <a:pt x="0" y="371169"/>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36478" y="1825593"/>
        <a:ext cx="322914" cy="4017"/>
      </dsp:txXfrm>
    </dsp:sp>
    <dsp:sp modelId="{9A46ECD5-C056-4E7F-8649-EF6A100DAC00}">
      <dsp:nvSpPr>
        <dsp:cNvPr id="0" name=""/>
        <dsp:cNvSpPr/>
      </dsp:nvSpPr>
      <dsp:spPr>
        <a:xfrm>
          <a:off x="6447415" y="595722"/>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Meal plan selection (Categorical)</a:t>
          </a:r>
        </a:p>
      </dsp:txBody>
      <dsp:txXfrm>
        <a:off x="6447415" y="595722"/>
        <a:ext cx="1746825" cy="1048095"/>
      </dsp:txXfrm>
    </dsp:sp>
    <dsp:sp modelId="{DFE65467-11F4-499B-AF57-0C883599E137}">
      <dsp:nvSpPr>
        <dsp:cNvPr id="0" name=""/>
        <dsp:cNvSpPr/>
      </dsp:nvSpPr>
      <dsp:spPr>
        <a:xfrm>
          <a:off x="1746655" y="2523914"/>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22196" y="2567626"/>
        <a:ext cx="20088" cy="4017"/>
      </dsp:txXfrm>
    </dsp:sp>
    <dsp:sp modelId="{E3BDD09B-096E-4BD5-839D-48926E11AFBB}">
      <dsp:nvSpPr>
        <dsp:cNvPr id="0" name=""/>
        <dsp:cNvSpPr/>
      </dsp:nvSpPr>
      <dsp:spPr>
        <a:xfrm>
          <a:off x="1630" y="2045587"/>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Car parking space (Binary)</a:t>
          </a:r>
        </a:p>
      </dsp:txBody>
      <dsp:txXfrm>
        <a:off x="1630" y="2045587"/>
        <a:ext cx="1746825" cy="1048095"/>
      </dsp:txXfrm>
    </dsp:sp>
    <dsp:sp modelId="{9CCD3692-7F00-48EC-BFDA-655ABC2AA5AD}">
      <dsp:nvSpPr>
        <dsp:cNvPr id="0" name=""/>
        <dsp:cNvSpPr/>
      </dsp:nvSpPr>
      <dsp:spPr>
        <a:xfrm>
          <a:off x="3895250" y="2523914"/>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70791" y="2567626"/>
        <a:ext cx="20088" cy="4017"/>
      </dsp:txXfrm>
    </dsp:sp>
    <dsp:sp modelId="{B51E1AC8-4D7F-4DBE-8B5D-46F7D737EA8E}">
      <dsp:nvSpPr>
        <dsp:cNvPr id="0" name=""/>
        <dsp:cNvSpPr/>
      </dsp:nvSpPr>
      <dsp:spPr>
        <a:xfrm>
          <a:off x="2150225" y="2045587"/>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Room type (Categorical)</a:t>
          </a:r>
        </a:p>
      </dsp:txBody>
      <dsp:txXfrm>
        <a:off x="2150225" y="2045587"/>
        <a:ext cx="1746825" cy="1048095"/>
      </dsp:txXfrm>
    </dsp:sp>
    <dsp:sp modelId="{4A9C8AD2-FE79-447F-9987-2763A5883715}">
      <dsp:nvSpPr>
        <dsp:cNvPr id="0" name=""/>
        <dsp:cNvSpPr/>
      </dsp:nvSpPr>
      <dsp:spPr>
        <a:xfrm>
          <a:off x="6043845" y="2523914"/>
          <a:ext cx="371169" cy="91440"/>
        </a:xfrm>
        <a:custGeom>
          <a:avLst/>
          <a:gdLst/>
          <a:ahLst/>
          <a:cxnLst/>
          <a:rect l="0" t="0" r="0" b="0"/>
          <a:pathLst>
            <a:path>
              <a:moveTo>
                <a:pt x="0" y="45720"/>
              </a:moveTo>
              <a:lnTo>
                <a:pt x="371169"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19386" y="2567626"/>
        <a:ext cx="20088" cy="4017"/>
      </dsp:txXfrm>
    </dsp:sp>
    <dsp:sp modelId="{E777E749-144B-4F66-AF8F-1C501E63EB5B}">
      <dsp:nvSpPr>
        <dsp:cNvPr id="0" name=""/>
        <dsp:cNvSpPr/>
      </dsp:nvSpPr>
      <dsp:spPr>
        <a:xfrm>
          <a:off x="4298820" y="2045587"/>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Lead time (Integer)</a:t>
          </a:r>
        </a:p>
      </dsp:txBody>
      <dsp:txXfrm>
        <a:off x="4298820" y="2045587"/>
        <a:ext cx="1746825" cy="1048095"/>
      </dsp:txXfrm>
    </dsp:sp>
    <dsp:sp modelId="{E0C9F821-305F-40AB-9616-922D359E0079}">
      <dsp:nvSpPr>
        <dsp:cNvPr id="0" name=""/>
        <dsp:cNvSpPr/>
      </dsp:nvSpPr>
      <dsp:spPr>
        <a:xfrm>
          <a:off x="6447415" y="2045587"/>
          <a:ext cx="1746825" cy="104809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5596" tIns="89848" rIns="85596" bIns="89848" numCol="1" spcCol="1270" anchor="ctr" anchorCtr="0">
          <a:noAutofit/>
        </a:bodyPr>
        <a:lstStyle/>
        <a:p>
          <a:pPr marL="0" lvl="0" indent="0" algn="ctr" defTabSz="666750">
            <a:lnSpc>
              <a:spcPct val="90000"/>
            </a:lnSpc>
            <a:spcBef>
              <a:spcPct val="0"/>
            </a:spcBef>
            <a:spcAft>
              <a:spcPct val="35000"/>
            </a:spcAft>
            <a:buNone/>
          </a:pPr>
          <a:r>
            <a:rPr lang="en-US" sz="1500" kern="1200"/>
            <a:t>Market segment type (Categorical)</a:t>
          </a:r>
        </a:p>
      </dsp:txBody>
      <dsp:txXfrm>
        <a:off x="6447415" y="2045587"/>
        <a:ext cx="1746825" cy="104809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96B783-FD74-4C0B-B5D7-C4567884896D}">
      <dsp:nvSpPr>
        <dsp:cNvPr id="0" name=""/>
        <dsp:cNvSpPr/>
      </dsp:nvSpPr>
      <dsp:spPr>
        <a:xfrm>
          <a:off x="2369600" y="817458"/>
          <a:ext cx="513376" cy="91440"/>
        </a:xfrm>
        <a:custGeom>
          <a:avLst/>
          <a:gdLst/>
          <a:ahLst/>
          <a:cxnLst/>
          <a:rect l="0" t="0" r="0" b="0"/>
          <a:pathLst>
            <a:path>
              <a:moveTo>
                <a:pt x="0" y="45720"/>
              </a:moveTo>
              <a:lnTo>
                <a:pt x="5133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2689" y="860459"/>
        <a:ext cx="27198" cy="5439"/>
      </dsp:txXfrm>
    </dsp:sp>
    <dsp:sp modelId="{9ED53CA0-C77E-4797-8676-E60800B0F810}">
      <dsp:nvSpPr>
        <dsp:cNvPr id="0" name=""/>
        <dsp:cNvSpPr/>
      </dsp:nvSpPr>
      <dsp:spPr>
        <a:xfrm>
          <a:off x="6282" y="153643"/>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Repeat customer status (Binary)</a:t>
          </a:r>
        </a:p>
      </dsp:txBody>
      <dsp:txXfrm>
        <a:off x="6282" y="153643"/>
        <a:ext cx="2365117" cy="1419070"/>
      </dsp:txXfrm>
    </dsp:sp>
    <dsp:sp modelId="{60B8F885-7B1E-4771-B36F-A32A76A0D94D}">
      <dsp:nvSpPr>
        <dsp:cNvPr id="0" name=""/>
        <dsp:cNvSpPr/>
      </dsp:nvSpPr>
      <dsp:spPr>
        <a:xfrm>
          <a:off x="5278694" y="817458"/>
          <a:ext cx="513376" cy="91440"/>
        </a:xfrm>
        <a:custGeom>
          <a:avLst/>
          <a:gdLst/>
          <a:ahLst/>
          <a:cxnLst/>
          <a:rect l="0" t="0" r="0" b="0"/>
          <a:pathLst>
            <a:path>
              <a:moveTo>
                <a:pt x="0" y="45720"/>
              </a:moveTo>
              <a:lnTo>
                <a:pt x="5133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21783" y="860459"/>
        <a:ext cx="27198" cy="5439"/>
      </dsp:txXfrm>
    </dsp:sp>
    <dsp:sp modelId="{0992CC43-986F-4D72-8CF7-17BBA8E7423E}">
      <dsp:nvSpPr>
        <dsp:cNvPr id="0" name=""/>
        <dsp:cNvSpPr/>
      </dsp:nvSpPr>
      <dsp:spPr>
        <a:xfrm>
          <a:off x="2915376" y="153643"/>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Customer profile indicators (Binary)</a:t>
          </a:r>
        </a:p>
      </dsp:txBody>
      <dsp:txXfrm>
        <a:off x="2915376" y="153643"/>
        <a:ext cx="2365117" cy="1419070"/>
      </dsp:txXfrm>
    </dsp:sp>
    <dsp:sp modelId="{0623EE13-2142-4A94-8894-76D61CB9B1C3}">
      <dsp:nvSpPr>
        <dsp:cNvPr id="0" name=""/>
        <dsp:cNvSpPr/>
      </dsp:nvSpPr>
      <dsp:spPr>
        <a:xfrm>
          <a:off x="1188841" y="1570914"/>
          <a:ext cx="5818187" cy="513376"/>
        </a:xfrm>
        <a:custGeom>
          <a:avLst/>
          <a:gdLst/>
          <a:ahLst/>
          <a:cxnLst/>
          <a:rect l="0" t="0" r="0" b="0"/>
          <a:pathLst>
            <a:path>
              <a:moveTo>
                <a:pt x="5818187" y="0"/>
              </a:moveTo>
              <a:lnTo>
                <a:pt x="5818187" y="273788"/>
              </a:lnTo>
              <a:lnTo>
                <a:pt x="0" y="273788"/>
              </a:lnTo>
              <a:lnTo>
                <a:pt x="0" y="513376"/>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51846" y="1824882"/>
        <a:ext cx="292178" cy="5439"/>
      </dsp:txXfrm>
    </dsp:sp>
    <dsp:sp modelId="{E92BAB8A-3103-4188-B328-E66845BAC7C1}">
      <dsp:nvSpPr>
        <dsp:cNvPr id="0" name=""/>
        <dsp:cNvSpPr/>
      </dsp:nvSpPr>
      <dsp:spPr>
        <a:xfrm>
          <a:off x="5824470" y="153643"/>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Average price (Float)</a:t>
          </a:r>
        </a:p>
      </dsp:txBody>
      <dsp:txXfrm>
        <a:off x="5824470" y="153643"/>
        <a:ext cx="2365117" cy="1419070"/>
      </dsp:txXfrm>
    </dsp:sp>
    <dsp:sp modelId="{728DA5FE-901C-4A40-953C-7E94FE0D22B7}">
      <dsp:nvSpPr>
        <dsp:cNvPr id="0" name=""/>
        <dsp:cNvSpPr/>
      </dsp:nvSpPr>
      <dsp:spPr>
        <a:xfrm>
          <a:off x="2369600" y="2780506"/>
          <a:ext cx="513376" cy="91440"/>
        </a:xfrm>
        <a:custGeom>
          <a:avLst/>
          <a:gdLst/>
          <a:ahLst/>
          <a:cxnLst/>
          <a:rect l="0" t="0" r="0" b="0"/>
          <a:pathLst>
            <a:path>
              <a:moveTo>
                <a:pt x="0" y="45720"/>
              </a:moveTo>
              <a:lnTo>
                <a:pt x="5133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612689" y="2823506"/>
        <a:ext cx="27198" cy="5439"/>
      </dsp:txXfrm>
    </dsp:sp>
    <dsp:sp modelId="{58D56E95-47BE-408C-A28B-5B4F8CC769EB}">
      <dsp:nvSpPr>
        <dsp:cNvPr id="0" name=""/>
        <dsp:cNvSpPr/>
      </dsp:nvSpPr>
      <dsp:spPr>
        <a:xfrm>
          <a:off x="6282" y="2116690"/>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Special requests (Integer)</a:t>
          </a:r>
        </a:p>
      </dsp:txBody>
      <dsp:txXfrm>
        <a:off x="6282" y="2116690"/>
        <a:ext cx="2365117" cy="1419070"/>
      </dsp:txXfrm>
    </dsp:sp>
    <dsp:sp modelId="{E7EA24CF-DF70-4EB1-8A83-FDC93CBFB37D}">
      <dsp:nvSpPr>
        <dsp:cNvPr id="0" name=""/>
        <dsp:cNvSpPr/>
      </dsp:nvSpPr>
      <dsp:spPr>
        <a:xfrm>
          <a:off x="5278694" y="2780506"/>
          <a:ext cx="513376" cy="91440"/>
        </a:xfrm>
        <a:custGeom>
          <a:avLst/>
          <a:gdLst/>
          <a:ahLst/>
          <a:cxnLst/>
          <a:rect l="0" t="0" r="0" b="0"/>
          <a:pathLst>
            <a:path>
              <a:moveTo>
                <a:pt x="0" y="45720"/>
              </a:moveTo>
              <a:lnTo>
                <a:pt x="513376" y="45720"/>
              </a:lnTo>
            </a:path>
          </a:pathLst>
        </a:custGeom>
        <a:noFill/>
        <a:ln w="9525" cap="flat"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521783" y="2823506"/>
        <a:ext cx="27198" cy="5439"/>
      </dsp:txXfrm>
    </dsp:sp>
    <dsp:sp modelId="{5226A3AA-C366-45BD-A840-24FFA6BDA001}">
      <dsp:nvSpPr>
        <dsp:cNvPr id="0" name=""/>
        <dsp:cNvSpPr/>
      </dsp:nvSpPr>
      <dsp:spPr>
        <a:xfrm>
          <a:off x="2915376" y="2116690"/>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Date of reservation (Date)</a:t>
          </a:r>
        </a:p>
      </dsp:txBody>
      <dsp:txXfrm>
        <a:off x="2915376" y="2116690"/>
        <a:ext cx="2365117" cy="1419070"/>
      </dsp:txXfrm>
    </dsp:sp>
    <dsp:sp modelId="{2AC0FA9B-64AB-49EE-9DAF-7298D38A0801}">
      <dsp:nvSpPr>
        <dsp:cNvPr id="0" name=""/>
        <dsp:cNvSpPr/>
      </dsp:nvSpPr>
      <dsp:spPr>
        <a:xfrm>
          <a:off x="5824470" y="2116690"/>
          <a:ext cx="2365117" cy="141907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5893" tIns="121650" rIns="115893" bIns="121650" numCol="1" spcCol="1270" anchor="ctr" anchorCtr="0">
          <a:noAutofit/>
        </a:bodyPr>
        <a:lstStyle/>
        <a:p>
          <a:pPr marL="0" lvl="0" indent="0" algn="ctr" defTabSz="1066800">
            <a:lnSpc>
              <a:spcPct val="90000"/>
            </a:lnSpc>
            <a:spcBef>
              <a:spcPct val="0"/>
            </a:spcBef>
            <a:spcAft>
              <a:spcPct val="35000"/>
            </a:spcAft>
            <a:buNone/>
          </a:pPr>
          <a:r>
            <a:rPr lang="en-US" sz="2400" kern="1200"/>
            <a:t>Booking status (Categorical)</a:t>
          </a:r>
        </a:p>
      </dsp:txBody>
      <dsp:txXfrm>
        <a:off x="5824470" y="2116690"/>
        <a:ext cx="2365117" cy="14190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397C9-21F1-4033-9DC9-B3F8F7D5EEB7}">
      <dsp:nvSpPr>
        <dsp:cNvPr id="0" name=""/>
        <dsp:cNvSpPr/>
      </dsp:nvSpPr>
      <dsp:spPr>
        <a:xfrm>
          <a:off x="426530"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DFF5CD-10AC-43BC-81B8-B0700E671BFD}">
      <dsp:nvSpPr>
        <dsp:cNvPr id="0" name=""/>
        <dsp:cNvSpPr/>
      </dsp:nvSpPr>
      <dsp:spPr>
        <a:xfrm>
          <a:off x="631609" y="233801"/>
          <a:ext cx="566406" cy="56640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5C84BA-B794-4D33-910D-3D6051FEDE16}">
      <dsp:nvSpPr>
        <dsp:cNvPr id="0" name=""/>
        <dsp:cNvSpPr/>
      </dsp:nvSpPr>
      <dsp:spPr>
        <a:xfrm>
          <a:off x="1612357"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Data Cleaning</a:t>
          </a:r>
        </a:p>
      </dsp:txBody>
      <dsp:txXfrm>
        <a:off x="1612357" y="28723"/>
        <a:ext cx="2301898" cy="976563"/>
      </dsp:txXfrm>
    </dsp:sp>
    <dsp:sp modelId="{768021E6-8FA0-4C0A-A4C5-DF27BE5A49EF}">
      <dsp:nvSpPr>
        <dsp:cNvPr id="0" name=""/>
        <dsp:cNvSpPr/>
      </dsp:nvSpPr>
      <dsp:spPr>
        <a:xfrm>
          <a:off x="4315344" y="28723"/>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2BFD5D-4636-4CD9-8DC7-3440E1EF91B7}">
      <dsp:nvSpPr>
        <dsp:cNvPr id="0" name=""/>
        <dsp:cNvSpPr/>
      </dsp:nvSpPr>
      <dsp:spPr>
        <a:xfrm>
          <a:off x="4520422" y="233801"/>
          <a:ext cx="566406" cy="56640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5A4676E-E568-4969-92E4-5F7EF274855A}">
      <dsp:nvSpPr>
        <dsp:cNvPr id="0" name=""/>
        <dsp:cNvSpPr/>
      </dsp:nvSpPr>
      <dsp:spPr>
        <a:xfrm>
          <a:off x="5501170" y="28723"/>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Data Exploration</a:t>
          </a:r>
        </a:p>
      </dsp:txBody>
      <dsp:txXfrm>
        <a:off x="5501170" y="28723"/>
        <a:ext cx="2301898" cy="976563"/>
      </dsp:txXfrm>
    </dsp:sp>
    <dsp:sp modelId="{14310E94-5C5E-49F1-88F2-7EC5E3E86D90}">
      <dsp:nvSpPr>
        <dsp:cNvPr id="0" name=""/>
        <dsp:cNvSpPr/>
      </dsp:nvSpPr>
      <dsp:spPr>
        <a:xfrm>
          <a:off x="426530"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22C256-2627-44D6-9182-5BF5FF0348BA}">
      <dsp:nvSpPr>
        <dsp:cNvPr id="0" name=""/>
        <dsp:cNvSpPr/>
      </dsp:nvSpPr>
      <dsp:spPr>
        <a:xfrm>
          <a:off x="631609" y="1979778"/>
          <a:ext cx="566406" cy="56640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EDD9C79-F52D-44B7-9DB3-C437EDD28F37}">
      <dsp:nvSpPr>
        <dsp:cNvPr id="0" name=""/>
        <dsp:cNvSpPr/>
      </dsp:nvSpPr>
      <dsp:spPr>
        <a:xfrm>
          <a:off x="1612357"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Comprehensive Data Analysis</a:t>
          </a:r>
        </a:p>
      </dsp:txBody>
      <dsp:txXfrm>
        <a:off x="1612357" y="1774700"/>
        <a:ext cx="2301898" cy="976563"/>
      </dsp:txXfrm>
    </dsp:sp>
    <dsp:sp modelId="{46F9EF35-EEE8-4B27-B22B-EB7E8F9499ED}">
      <dsp:nvSpPr>
        <dsp:cNvPr id="0" name=""/>
        <dsp:cNvSpPr/>
      </dsp:nvSpPr>
      <dsp:spPr>
        <a:xfrm>
          <a:off x="4315344" y="1774700"/>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DC8B068-6B27-4DA0-B7F5-BFE6125C5C6E}">
      <dsp:nvSpPr>
        <dsp:cNvPr id="0" name=""/>
        <dsp:cNvSpPr/>
      </dsp:nvSpPr>
      <dsp:spPr>
        <a:xfrm>
          <a:off x="4520422" y="1979778"/>
          <a:ext cx="566406" cy="56640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A7CE701-10B0-4F08-938D-BEA5201A5AF4}">
      <dsp:nvSpPr>
        <dsp:cNvPr id="0" name=""/>
        <dsp:cNvSpPr/>
      </dsp:nvSpPr>
      <dsp:spPr>
        <a:xfrm>
          <a:off x="5501170" y="1774700"/>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Feature Engineering and Model Development</a:t>
          </a:r>
        </a:p>
      </dsp:txBody>
      <dsp:txXfrm>
        <a:off x="5501170" y="1774700"/>
        <a:ext cx="2301898" cy="976563"/>
      </dsp:txXfrm>
    </dsp:sp>
    <dsp:sp modelId="{E3B33DF2-812F-43A9-8A06-CBD1941F0A24}">
      <dsp:nvSpPr>
        <dsp:cNvPr id="0" name=""/>
        <dsp:cNvSpPr/>
      </dsp:nvSpPr>
      <dsp:spPr>
        <a:xfrm>
          <a:off x="426530" y="3520676"/>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30FEEC-6B36-4D2E-91DD-A91994C4BC8D}">
      <dsp:nvSpPr>
        <dsp:cNvPr id="0" name=""/>
        <dsp:cNvSpPr/>
      </dsp:nvSpPr>
      <dsp:spPr>
        <a:xfrm>
          <a:off x="631609" y="3725754"/>
          <a:ext cx="566406" cy="566406"/>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F0FD48-5144-45C2-B2E0-ECA7C14B04FA}">
      <dsp:nvSpPr>
        <dsp:cNvPr id="0" name=""/>
        <dsp:cNvSpPr/>
      </dsp:nvSpPr>
      <dsp:spPr>
        <a:xfrm>
          <a:off x="1612357" y="3520676"/>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Model Evaluation and Fine-Tuning</a:t>
          </a:r>
        </a:p>
      </dsp:txBody>
      <dsp:txXfrm>
        <a:off x="1612357" y="3520676"/>
        <a:ext cx="2301898" cy="976563"/>
      </dsp:txXfrm>
    </dsp:sp>
    <dsp:sp modelId="{85FF41A6-7DE8-4C54-BB69-81516DBCAEED}">
      <dsp:nvSpPr>
        <dsp:cNvPr id="0" name=""/>
        <dsp:cNvSpPr/>
      </dsp:nvSpPr>
      <dsp:spPr>
        <a:xfrm>
          <a:off x="4315344" y="3520676"/>
          <a:ext cx="976563" cy="976563"/>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B69353-7E3F-416D-91AD-542B5BFCA058}">
      <dsp:nvSpPr>
        <dsp:cNvPr id="0" name=""/>
        <dsp:cNvSpPr/>
      </dsp:nvSpPr>
      <dsp:spPr>
        <a:xfrm>
          <a:off x="4520422" y="3725754"/>
          <a:ext cx="566406" cy="566406"/>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CD5AA3-2FD9-412B-8211-9F949CBAC68F}">
      <dsp:nvSpPr>
        <dsp:cNvPr id="0" name=""/>
        <dsp:cNvSpPr/>
      </dsp:nvSpPr>
      <dsp:spPr>
        <a:xfrm>
          <a:off x="5501170" y="3520676"/>
          <a:ext cx="2301898" cy="9765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US" sz="2000" kern="1200"/>
            <a:t>Jupyter Notebook and PowerPoint Slides</a:t>
          </a:r>
        </a:p>
      </dsp:txBody>
      <dsp:txXfrm>
        <a:off x="5501170" y="3520676"/>
        <a:ext cx="2301898" cy="97656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3T13:41:26.683"/>
    </inkml:context>
    <inkml:brush xml:id="br0">
      <inkml:brushProperty name="width" value="0.035" units="cm"/>
      <inkml:brushProperty name="height" value="0.035" units="cm"/>
      <inkml:brushProperty name="ignorePressure" value="1"/>
    </inkml:brush>
  </inkml:definitions>
  <inkml:trace contextRef="#ctx0" brushRef="#br0">0 1,'0'14156,"0"-14118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3T13:41:31.324"/>
    </inkml:context>
    <inkml:brush xml:id="br0">
      <inkml:brushProperty name="width" value="0.035" units="cm"/>
      <inkml:brushProperty name="height" value="0.035" units="cm"/>
      <inkml:brushProperty name="ignorePressure" value="1"/>
    </inkml:brush>
  </inkml:definitions>
  <inkml:trace contextRef="#ctx0" brushRef="#br0">1 1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3T13:41:33.099"/>
    </inkml:context>
    <inkml:brush xml:id="br0">
      <inkml:brushProperty name="width" value="0.035" units="cm"/>
      <inkml:brushProperty name="height" value="0.035" units="cm"/>
      <inkml:brushProperty name="ignorePressure" value="1"/>
    </inkml:brush>
  </inkml:definitions>
  <inkml:trace contextRef="#ctx0" brushRef="#br0">0 1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A688E7-5ABA-4DB7-B156-2ACA30146E26}" type="datetimeFigureOut">
              <a:rPr lang="en-US" smtClean="0"/>
              <a:t>12/14/2025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5492C-22D2-4E01-BAA2-257966BF1230}" type="slidenum">
              <a:rPr lang="en-US" smtClean="0"/>
              <a:t>‹#›</a:t>
            </a:fld>
            <a:endParaRPr lang="en-US"/>
          </a:p>
        </p:txBody>
      </p:sp>
    </p:spTree>
    <p:extLst>
      <p:ext uri="{BB962C8B-B14F-4D97-AF65-F5344CB8AC3E}">
        <p14:creationId xmlns:p14="http://schemas.microsoft.com/office/powerpoint/2010/main" val="37819525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confirm the data dictionary</a:t>
            </a:r>
          </a:p>
        </p:txBody>
      </p:sp>
      <p:sp>
        <p:nvSpPr>
          <p:cNvPr id="4" name="Slide Number Placeholder 3"/>
          <p:cNvSpPr>
            <a:spLocks noGrp="1"/>
          </p:cNvSpPr>
          <p:nvPr>
            <p:ph type="sldNum" sz="quarter" idx="5"/>
          </p:nvPr>
        </p:nvSpPr>
        <p:spPr/>
        <p:txBody>
          <a:bodyPr/>
          <a:lstStyle/>
          <a:p>
            <a:fld id="{7EB5492C-22D2-4E01-BAA2-257966BF1230}" type="slidenum">
              <a:rPr lang="en-US" smtClean="0"/>
              <a:t>13</a:t>
            </a:fld>
            <a:endParaRPr lang="en-US"/>
          </a:p>
        </p:txBody>
      </p:sp>
    </p:spTree>
    <p:extLst>
      <p:ext uri="{BB962C8B-B14F-4D97-AF65-F5344CB8AC3E}">
        <p14:creationId xmlns:p14="http://schemas.microsoft.com/office/powerpoint/2010/main" val="3320104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5492C-22D2-4E01-BAA2-257966BF1230}" type="slidenum">
              <a:rPr lang="en-US" smtClean="0"/>
              <a:t>33</a:t>
            </a:fld>
            <a:endParaRPr lang="en-US"/>
          </a:p>
        </p:txBody>
      </p:sp>
    </p:spTree>
    <p:extLst>
      <p:ext uri="{BB962C8B-B14F-4D97-AF65-F5344CB8AC3E}">
        <p14:creationId xmlns:p14="http://schemas.microsoft.com/office/powerpoint/2010/main" val="2800490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1FA67-BC00-EC4F-C155-7F78BBE796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3CC9A-D778-6437-D2AA-2A44B61298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75AA87-6504-95C6-3C19-CBB3D24D3A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AF07C1-2574-DAA0-8856-E6AA054E0BEA}"/>
              </a:ext>
            </a:extLst>
          </p:cNvPr>
          <p:cNvSpPr>
            <a:spLocks noGrp="1"/>
          </p:cNvSpPr>
          <p:nvPr>
            <p:ph type="sldNum" sz="quarter" idx="5"/>
          </p:nvPr>
        </p:nvSpPr>
        <p:spPr/>
        <p:txBody>
          <a:bodyPr/>
          <a:lstStyle/>
          <a:p>
            <a:fld id="{7EB5492C-22D2-4E01-BAA2-257966BF1230}" type="slidenum">
              <a:rPr lang="en-US" smtClean="0"/>
              <a:t>34</a:t>
            </a:fld>
            <a:endParaRPr lang="en-US"/>
          </a:p>
        </p:txBody>
      </p:sp>
    </p:spTree>
    <p:extLst>
      <p:ext uri="{BB962C8B-B14F-4D97-AF65-F5344CB8AC3E}">
        <p14:creationId xmlns:p14="http://schemas.microsoft.com/office/powerpoint/2010/main" val="18813709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86605-CE5C-6D9C-8522-52A44CF16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91477D-8A1E-7D5B-FA9E-4C0E8BC45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0257D2-5F0A-3881-98FF-0F47D7672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646AE4-391B-9A39-0F54-F1D82661F674}"/>
              </a:ext>
            </a:extLst>
          </p:cNvPr>
          <p:cNvSpPr>
            <a:spLocks noGrp="1"/>
          </p:cNvSpPr>
          <p:nvPr>
            <p:ph type="sldNum" sz="quarter" idx="5"/>
          </p:nvPr>
        </p:nvSpPr>
        <p:spPr/>
        <p:txBody>
          <a:bodyPr/>
          <a:lstStyle/>
          <a:p>
            <a:fld id="{7EB5492C-22D2-4E01-BAA2-257966BF1230}" type="slidenum">
              <a:rPr lang="en-US" smtClean="0"/>
              <a:t>35</a:t>
            </a:fld>
            <a:endParaRPr lang="en-US"/>
          </a:p>
        </p:txBody>
      </p:sp>
    </p:spTree>
    <p:extLst>
      <p:ext uri="{BB962C8B-B14F-4D97-AF65-F5344CB8AC3E}">
        <p14:creationId xmlns:p14="http://schemas.microsoft.com/office/powerpoint/2010/main" val="3398103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27AF9-2DFA-982C-AB0D-693A5E816B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65FBBA-5A69-1CC5-2F90-1A5FBAD54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10A9D7-78C0-926D-1CAF-EA58837285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148012-68A9-0FCD-5B5B-E3B2105F7452}"/>
              </a:ext>
            </a:extLst>
          </p:cNvPr>
          <p:cNvSpPr>
            <a:spLocks noGrp="1"/>
          </p:cNvSpPr>
          <p:nvPr>
            <p:ph type="sldNum" sz="quarter" idx="5"/>
          </p:nvPr>
        </p:nvSpPr>
        <p:spPr/>
        <p:txBody>
          <a:bodyPr/>
          <a:lstStyle/>
          <a:p>
            <a:fld id="{7EB5492C-22D2-4E01-BAA2-257966BF1230}" type="slidenum">
              <a:rPr lang="en-US" smtClean="0"/>
              <a:t>36</a:t>
            </a:fld>
            <a:endParaRPr lang="en-US"/>
          </a:p>
        </p:txBody>
      </p:sp>
    </p:spTree>
    <p:extLst>
      <p:ext uri="{BB962C8B-B14F-4D97-AF65-F5344CB8AC3E}">
        <p14:creationId xmlns:p14="http://schemas.microsoft.com/office/powerpoint/2010/main" val="3143066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BBBE4-8D4F-E238-FE2D-25742188B0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310D6-1AE2-94FA-D450-1F61D3185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C1889-6CAC-C4EE-C2EC-5E3CB89A2C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FB8E3-DC20-2660-4FB8-242DA06FCB93}"/>
              </a:ext>
            </a:extLst>
          </p:cNvPr>
          <p:cNvSpPr>
            <a:spLocks noGrp="1"/>
          </p:cNvSpPr>
          <p:nvPr>
            <p:ph type="sldNum" sz="quarter" idx="5"/>
          </p:nvPr>
        </p:nvSpPr>
        <p:spPr/>
        <p:txBody>
          <a:bodyPr/>
          <a:lstStyle/>
          <a:p>
            <a:fld id="{7EB5492C-22D2-4E01-BAA2-257966BF1230}" type="slidenum">
              <a:rPr lang="en-US" smtClean="0"/>
              <a:t>37</a:t>
            </a:fld>
            <a:endParaRPr lang="en-US"/>
          </a:p>
        </p:txBody>
      </p:sp>
    </p:spTree>
    <p:extLst>
      <p:ext uri="{BB962C8B-B14F-4D97-AF65-F5344CB8AC3E}">
        <p14:creationId xmlns:p14="http://schemas.microsoft.com/office/powerpoint/2010/main" val="2989391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image" Target="../media/image63.png"/><Relationship Id="rId7" Type="http://schemas.openxmlformats.org/officeDocument/2006/relationships/image" Target="../media/image550.png"/><Relationship Id="rId2" Type="http://schemas.openxmlformats.org/officeDocument/2006/relationships/image" Target="../media/image62.png"/><Relationship Id="rId1" Type="http://schemas.openxmlformats.org/officeDocument/2006/relationships/slideLayout" Target="../slideLayouts/slideLayout5.xml"/><Relationship Id="rId6" Type="http://schemas.openxmlformats.org/officeDocument/2006/relationships/customXml" Target="../ink/ink2.xml"/><Relationship Id="rId5" Type="http://schemas.openxmlformats.org/officeDocument/2006/relationships/image" Target="../media/image540.png"/><Relationship Id="rId4" Type="http://schemas.openxmlformats.org/officeDocument/2006/relationships/customXml" Target="../ink/ink1.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5.svg"/><Relationship Id="rId2" Type="http://schemas.openxmlformats.org/officeDocument/2006/relationships/image" Target="../media/image74.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7AF4AC-13B3-94F9-BF1E-A050DBC97CF3}"/>
              </a:ext>
            </a:extLst>
          </p:cNvPr>
          <p:cNvPicPr>
            <a:picLocks noChangeAspect="1"/>
          </p:cNvPicPr>
          <p:nvPr/>
        </p:nvPicPr>
        <p:blipFill>
          <a:blip r:embed="rId2">
            <a:alphaModFix amt="50000"/>
          </a:blip>
          <a:srcRect l="1521" r="23479"/>
          <a:stretch>
            <a:fillRect/>
          </a:stretch>
        </p:blipFill>
        <p:spPr>
          <a:xfrm>
            <a:off x="20" y="1"/>
            <a:ext cx="9143980" cy="6857999"/>
          </a:xfrm>
          <a:prstGeom prst="rect">
            <a:avLst/>
          </a:prstGeom>
        </p:spPr>
      </p:pic>
      <p:sp>
        <p:nvSpPr>
          <p:cNvPr id="2" name="Title 1"/>
          <p:cNvSpPr>
            <a:spLocks noGrp="1"/>
          </p:cNvSpPr>
          <p:nvPr>
            <p:ph type="title"/>
          </p:nvPr>
        </p:nvSpPr>
        <p:spPr>
          <a:xfrm>
            <a:off x="1143000" y="1122362"/>
            <a:ext cx="6858000" cy="2900518"/>
          </a:xfrm>
        </p:spPr>
        <p:txBody>
          <a:bodyPr vert="horz" lIns="91440" tIns="45720" rIns="91440" bIns="45720" rtlCol="0" anchor="b">
            <a:normAutofit/>
          </a:bodyPr>
          <a:lstStyle/>
          <a:p>
            <a:pPr defTabSz="914400">
              <a:lnSpc>
                <a:spcPct val="90000"/>
              </a:lnSpc>
            </a:pPr>
            <a:r>
              <a:rPr lang="en-US" sz="6000">
                <a:solidFill>
                  <a:srgbClr val="FFFFFF"/>
                </a:solidFill>
              </a:rPr>
              <a:t>Analyzing Booking Trends in the Hospitality Industry</a:t>
            </a:r>
          </a:p>
        </p:txBody>
      </p:sp>
      <p:sp>
        <p:nvSpPr>
          <p:cNvPr id="3" name="Subtitle 2"/>
          <p:cNvSpPr>
            <a:spLocks noGrp="1"/>
          </p:cNvSpPr>
          <p:nvPr>
            <p:ph idx="1"/>
          </p:nvPr>
        </p:nvSpPr>
        <p:spPr>
          <a:xfrm>
            <a:off x="1143000" y="4159404"/>
            <a:ext cx="6858000" cy="2118658"/>
          </a:xfrm>
        </p:spPr>
        <p:txBody>
          <a:bodyPr vert="horz" lIns="91440" tIns="45720" rIns="91440" bIns="45720" rtlCol="0">
            <a:normAutofit/>
          </a:bodyPr>
          <a:lstStyle/>
          <a:p>
            <a:pPr marL="0" indent="0" algn="ctr" defTabSz="914400">
              <a:lnSpc>
                <a:spcPct val="90000"/>
              </a:lnSpc>
              <a:spcBef>
                <a:spcPts val="1000"/>
              </a:spcBef>
              <a:buNone/>
            </a:pPr>
            <a:r>
              <a:rPr lang="en-US" sz="2400" dirty="0">
                <a:solidFill>
                  <a:srgbClr val="FFFFFF"/>
                </a:solidFill>
              </a:rPr>
              <a:t>A predictive model to determine the booking status of a customer</a:t>
            </a:r>
          </a:p>
          <a:p>
            <a:pPr marL="0" indent="0" algn="ctr" defTabSz="914400">
              <a:lnSpc>
                <a:spcPct val="90000"/>
              </a:lnSpc>
              <a:spcBef>
                <a:spcPts val="1000"/>
              </a:spcBef>
              <a:buNone/>
            </a:pPr>
            <a:endParaRPr lang="en-US" sz="2400" dirty="0">
              <a:solidFill>
                <a:srgbClr val="FFFFFF"/>
              </a:solidFill>
            </a:endParaRPr>
          </a:p>
          <a:p>
            <a:pPr marL="0" indent="0" algn="ctr" defTabSz="914400">
              <a:lnSpc>
                <a:spcPct val="90000"/>
              </a:lnSpc>
              <a:spcBef>
                <a:spcPts val="1000"/>
              </a:spcBef>
              <a:buNone/>
            </a:pPr>
            <a:endParaRPr lang="en-US" sz="2400" dirty="0">
              <a:solidFill>
                <a:srgbClr val="FFFFFF"/>
              </a:solidFill>
            </a:endParaRPr>
          </a:p>
          <a:p>
            <a:pPr marL="0" indent="0" algn="ctr" defTabSz="914400">
              <a:lnSpc>
                <a:spcPct val="90000"/>
              </a:lnSpc>
              <a:spcBef>
                <a:spcPts val="1000"/>
              </a:spcBef>
              <a:buNone/>
            </a:pPr>
            <a:r>
              <a:rPr lang="en-US" sz="2400" dirty="0">
                <a:solidFill>
                  <a:srgbClr val="FFFFFF"/>
                </a:solidFill>
              </a:rPr>
              <a:t>Benita  E. </a:t>
            </a:r>
            <a:r>
              <a:rPr lang="en-US" sz="2400" dirty="0" err="1">
                <a:solidFill>
                  <a:srgbClr val="FFFFFF"/>
                </a:solidFill>
              </a:rPr>
              <a:t>Irukwu</a:t>
            </a:r>
            <a:endParaRPr lang="en-US" sz="24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3600"/>
              <a:t>Business Introduction</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sX0" fmla="*/ 0 w 5410200"/>
              <a:gd name="csY0" fmla="*/ 0 h 13716"/>
              <a:gd name="csX1" fmla="*/ 568071 w 5410200"/>
              <a:gd name="csY1" fmla="*/ 0 h 13716"/>
              <a:gd name="csX2" fmla="*/ 1298448 w 5410200"/>
              <a:gd name="csY2" fmla="*/ 0 h 13716"/>
              <a:gd name="csX3" fmla="*/ 1920621 w 5410200"/>
              <a:gd name="csY3" fmla="*/ 0 h 13716"/>
              <a:gd name="csX4" fmla="*/ 2488692 w 5410200"/>
              <a:gd name="csY4" fmla="*/ 0 h 13716"/>
              <a:gd name="csX5" fmla="*/ 3219069 w 5410200"/>
              <a:gd name="csY5" fmla="*/ 0 h 13716"/>
              <a:gd name="csX6" fmla="*/ 3895344 w 5410200"/>
              <a:gd name="csY6" fmla="*/ 0 h 13716"/>
              <a:gd name="csX7" fmla="*/ 4571619 w 5410200"/>
              <a:gd name="csY7" fmla="*/ 0 h 13716"/>
              <a:gd name="csX8" fmla="*/ 5410200 w 5410200"/>
              <a:gd name="csY8" fmla="*/ 0 h 13716"/>
              <a:gd name="csX9" fmla="*/ 5410200 w 5410200"/>
              <a:gd name="csY9" fmla="*/ 13716 h 13716"/>
              <a:gd name="csX10" fmla="*/ 4842129 w 5410200"/>
              <a:gd name="csY10" fmla="*/ 13716 h 13716"/>
              <a:gd name="csX11" fmla="*/ 4328160 w 5410200"/>
              <a:gd name="csY11" fmla="*/ 13716 h 13716"/>
              <a:gd name="csX12" fmla="*/ 3597783 w 5410200"/>
              <a:gd name="csY12" fmla="*/ 13716 h 13716"/>
              <a:gd name="csX13" fmla="*/ 3029712 w 5410200"/>
              <a:gd name="csY13" fmla="*/ 13716 h 13716"/>
              <a:gd name="csX14" fmla="*/ 2299335 w 5410200"/>
              <a:gd name="csY14" fmla="*/ 13716 h 13716"/>
              <a:gd name="csX15" fmla="*/ 1514856 w 5410200"/>
              <a:gd name="csY15" fmla="*/ 13716 h 13716"/>
              <a:gd name="csX16" fmla="*/ 892683 w 5410200"/>
              <a:gd name="csY16" fmla="*/ 13716 h 13716"/>
              <a:gd name="csX17" fmla="*/ 0 w 5410200"/>
              <a:gd name="csY17" fmla="*/ 13716 h 13716"/>
              <a:gd name="csX18" fmla="*/ 0 w 5410200"/>
              <a:gd name="csY18" fmla="*/ 0 h 137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91942CB8-9EE2-8F2C-71FD-257F78D95310}"/>
              </a:ext>
            </a:extLst>
          </p:cNvPr>
          <p:cNvGraphicFramePr>
            <a:graphicFrameLocks noGrp="1"/>
          </p:cNvGraphicFramePr>
          <p:nvPr>
            <p:ph idx="1"/>
            <p:extLst>
              <p:ext uri="{D42A27DB-BD31-4B8C-83A1-F6EECF244321}">
                <p14:modId xmlns:p14="http://schemas.microsoft.com/office/powerpoint/2010/main" val="4040665048"/>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2" y="350196"/>
            <a:ext cx="3485178" cy="1624520"/>
          </a:xfrm>
        </p:spPr>
        <p:txBody>
          <a:bodyPr anchor="ctr">
            <a:normAutofit/>
          </a:bodyPr>
          <a:lstStyle/>
          <a:p>
            <a:r>
              <a:rPr lang="en-US" sz="3500"/>
              <a:t>Table of Contents</a:t>
            </a:r>
          </a:p>
        </p:txBody>
      </p:sp>
      <p:sp>
        <p:nvSpPr>
          <p:cNvPr id="3" name="Content Placeholder 2"/>
          <p:cNvSpPr>
            <a:spLocks noGrp="1"/>
          </p:cNvSpPr>
          <p:nvPr>
            <p:ph idx="1"/>
          </p:nvPr>
        </p:nvSpPr>
        <p:spPr>
          <a:xfrm>
            <a:off x="614310" y="1736746"/>
            <a:ext cx="3485179" cy="4633369"/>
          </a:xfrm>
        </p:spPr>
        <p:txBody>
          <a:bodyPr anchor="ctr">
            <a:normAutofit/>
          </a:bodyPr>
          <a:lstStyle/>
          <a:p>
            <a:endParaRPr lang="en-US" sz="1700" dirty="0"/>
          </a:p>
          <a:p>
            <a:r>
              <a:rPr lang="en-US" sz="1700" dirty="0"/>
              <a:t>Business Introduction</a:t>
            </a:r>
          </a:p>
          <a:p>
            <a:r>
              <a:rPr lang="en-US" sz="1700" dirty="0"/>
              <a:t>Problem Statement</a:t>
            </a:r>
          </a:p>
          <a:p>
            <a:r>
              <a:rPr lang="en-US" sz="1700" dirty="0"/>
              <a:t>Aim of the Project</a:t>
            </a:r>
          </a:p>
          <a:p>
            <a:r>
              <a:rPr lang="en-US" sz="1700" dirty="0"/>
              <a:t>Research Questions</a:t>
            </a:r>
          </a:p>
          <a:p>
            <a:r>
              <a:rPr lang="en-US" sz="1700" dirty="0"/>
              <a:t>Rationale for the Project</a:t>
            </a:r>
          </a:p>
          <a:p>
            <a:r>
              <a:rPr lang="en-US" sz="1700" dirty="0"/>
              <a:t>Summary</a:t>
            </a:r>
          </a:p>
          <a:p>
            <a:r>
              <a:rPr lang="en-US" sz="1700" dirty="0"/>
              <a:t>Data Description</a:t>
            </a:r>
          </a:p>
          <a:p>
            <a:r>
              <a:rPr lang="en-US" sz="1700" dirty="0"/>
              <a:t>Deliverables</a:t>
            </a:r>
          </a:p>
          <a:p>
            <a:r>
              <a:rPr lang="en-US" sz="1700" dirty="0"/>
              <a:t>Feature Importance Analysis</a:t>
            </a:r>
          </a:p>
          <a:p>
            <a:r>
              <a:rPr lang="en-US" sz="1700" dirty="0"/>
              <a:t>Overall Strategic Insight</a:t>
            </a:r>
          </a:p>
          <a:p>
            <a:r>
              <a:rPr lang="en-US" sz="1700" dirty="0"/>
              <a:t>Conclusion</a:t>
            </a:r>
          </a:p>
          <a:p>
            <a:r>
              <a:rPr lang="en-US" sz="1700" dirty="0" err="1"/>
              <a:t>Reccommendation</a:t>
            </a:r>
            <a:endParaRPr lang="en-US" sz="1700" dirty="0"/>
          </a:p>
          <a:p>
            <a:r>
              <a:rPr lang="en-US" sz="1700" dirty="0"/>
              <a:t>Final Remark</a:t>
            </a:r>
          </a:p>
        </p:txBody>
      </p:sp>
      <p:pic>
        <p:nvPicPr>
          <p:cNvPr id="5" name="Picture 4" descr="Desk with productivity items">
            <a:extLst>
              <a:ext uri="{FF2B5EF4-FFF2-40B4-BE49-F238E27FC236}">
                <a16:creationId xmlns:a16="http://schemas.microsoft.com/office/drawing/2014/main" id="{65FE63A9-6984-AB4B-E3D2-C920B669389D}"/>
              </a:ext>
            </a:extLst>
          </p:cNvPr>
          <p:cNvPicPr>
            <a:picLocks noChangeAspect="1"/>
          </p:cNvPicPr>
          <p:nvPr/>
        </p:nvPicPr>
        <p:blipFill>
          <a:blip r:embed="rId2"/>
          <a:srcRect l="35350" r="20100" b="-2"/>
          <a:stretch>
            <a:fillRect/>
          </a:stretch>
        </p:blipFill>
        <p:spPr>
          <a:xfrm>
            <a:off x="4572000" y="1"/>
            <a:ext cx="4577118"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2" y="1914808"/>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39858" y="1683756"/>
            <a:ext cx="2336449" cy="2396359"/>
          </a:xfrm>
        </p:spPr>
        <p:txBody>
          <a:bodyPr anchor="b">
            <a:normAutofit/>
          </a:bodyPr>
          <a:lstStyle/>
          <a:p>
            <a:pPr algn="r"/>
            <a:r>
              <a:rPr lang="en-US" sz="3500">
                <a:solidFill>
                  <a:srgbClr val="FFFFFF"/>
                </a:solidFill>
              </a:rPr>
              <a:t>Problem Statement</a:t>
            </a:r>
          </a:p>
        </p:txBody>
      </p:sp>
      <p:graphicFrame>
        <p:nvGraphicFramePr>
          <p:cNvPr id="5" name="Content Placeholder 2">
            <a:extLst>
              <a:ext uri="{FF2B5EF4-FFF2-40B4-BE49-F238E27FC236}">
                <a16:creationId xmlns:a16="http://schemas.microsoft.com/office/drawing/2014/main" id="{B2E7ACA7-0FB9-54A3-0A91-DE74088EEBF4}"/>
              </a:ext>
            </a:extLst>
          </p:cNvPr>
          <p:cNvGraphicFramePr>
            <a:graphicFrameLocks noGrp="1"/>
          </p:cNvGraphicFramePr>
          <p:nvPr>
            <p:ph idx="1"/>
            <p:extLst>
              <p:ext uri="{D42A27DB-BD31-4B8C-83A1-F6EECF244321}">
                <p14:modId xmlns:p14="http://schemas.microsoft.com/office/powerpoint/2010/main" val="2104735464"/>
              </p:ext>
            </p:extLst>
          </p:nvPr>
        </p:nvGraphicFramePr>
        <p:xfrm>
          <a:off x="3678789" y="750440"/>
          <a:ext cx="5000124"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Aim of the Project</a:t>
            </a:r>
          </a:p>
        </p:txBody>
      </p:sp>
      <p:sp>
        <p:nvSpPr>
          <p:cNvPr id="3" name="Content Placeholder 2"/>
          <p:cNvSpPr>
            <a:spLocks noGrp="1"/>
          </p:cNvSpPr>
          <p:nvPr>
            <p:ph idx="1"/>
          </p:nvPr>
        </p:nvSpPr>
        <p:spPr>
          <a:xfrm>
            <a:off x="571349" y="1924059"/>
            <a:ext cx="4000647" cy="3769835"/>
          </a:xfrm>
        </p:spPr>
        <p:txBody>
          <a:bodyPr anchor="ctr">
            <a:normAutofit/>
          </a:bodyPr>
          <a:lstStyle/>
          <a:p>
            <a:endParaRPr lang="en-US" sz="1700" dirty="0"/>
          </a:p>
          <a:p>
            <a:r>
              <a:rPr lang="en-US" sz="1700" dirty="0"/>
              <a:t>Develop a predictive model to determine the booking status of hotel customers</a:t>
            </a:r>
          </a:p>
          <a:p>
            <a:r>
              <a:rPr lang="en-US" sz="1700" dirty="0"/>
              <a:t>Analyze booking data to identify patterns and factors influencing cancellations</a:t>
            </a:r>
          </a:p>
          <a:p>
            <a:r>
              <a:rPr lang="en-US" sz="1700" dirty="0"/>
              <a:t>Support management in making data-driven decisions to improve customer retention and resource allocation</a:t>
            </a:r>
          </a:p>
          <a:p>
            <a:r>
              <a:rPr lang="en-US" sz="1700" dirty="0"/>
              <a:t>Enhance operational efficiency and guest satisfaction by reducing cancellation rates</a:t>
            </a:r>
          </a:p>
        </p:txBody>
      </p:sp>
      <p:pic>
        <p:nvPicPr>
          <p:cNvPr id="5" name="Picture 4">
            <a:extLst>
              <a:ext uri="{FF2B5EF4-FFF2-40B4-BE49-F238E27FC236}">
                <a16:creationId xmlns:a16="http://schemas.microsoft.com/office/drawing/2014/main" id="{302DD5FD-9558-11D8-6E04-B0D5E0C5E3D7}"/>
              </a:ext>
            </a:extLst>
          </p:cNvPr>
          <p:cNvPicPr>
            <a:picLocks noChangeAspect="1"/>
          </p:cNvPicPr>
          <p:nvPr/>
        </p:nvPicPr>
        <p:blipFill>
          <a:blip r:embed="rId2"/>
          <a:srcRect l="22640" r="44598"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Research Questions</a:t>
            </a:r>
          </a:p>
        </p:txBody>
      </p:sp>
      <p:graphicFrame>
        <p:nvGraphicFramePr>
          <p:cNvPr id="5" name="Content Placeholder 2">
            <a:extLst>
              <a:ext uri="{FF2B5EF4-FFF2-40B4-BE49-F238E27FC236}">
                <a16:creationId xmlns:a16="http://schemas.microsoft.com/office/drawing/2014/main" id="{61BAD5BF-90D3-1937-F915-027278E160F7}"/>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136268"/>
          </a:xfrm>
        </p:spPr>
        <p:txBody>
          <a:bodyPr anchor="ctr">
            <a:normAutofit/>
          </a:bodyPr>
          <a:lstStyle/>
          <a:p>
            <a:r>
              <a:rPr lang="en-US" sz="3500" dirty="0">
                <a:solidFill>
                  <a:srgbClr val="FFFFFF"/>
                </a:solidFill>
              </a:rPr>
              <a:t>Rationale for the Project</a:t>
            </a:r>
          </a:p>
        </p:txBody>
      </p:sp>
      <p:graphicFrame>
        <p:nvGraphicFramePr>
          <p:cNvPr id="5" name="Content Placeholder 2">
            <a:extLst>
              <a:ext uri="{FF2B5EF4-FFF2-40B4-BE49-F238E27FC236}">
                <a16:creationId xmlns:a16="http://schemas.microsoft.com/office/drawing/2014/main" id="{FEF5466B-74BA-969B-1AF7-2D8EE2953333}"/>
              </a:ext>
            </a:extLst>
          </p:cNvPr>
          <p:cNvGraphicFramePr>
            <a:graphicFrameLocks noGrp="1"/>
          </p:cNvGraphicFramePr>
          <p:nvPr>
            <p:ph idx="1"/>
            <p:extLst>
              <p:ext uri="{D42A27DB-BD31-4B8C-83A1-F6EECF244321}">
                <p14:modId xmlns:p14="http://schemas.microsoft.com/office/powerpoint/2010/main" val="3835732089"/>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20" name="Rectangle 19">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91835"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BFBE2D-A1AC-5E2E-9153-0C4628F9A45A}"/>
              </a:ext>
            </a:extLst>
          </p:cNvPr>
          <p:cNvSpPr>
            <a:spLocks noGrp="1"/>
          </p:cNvSpPr>
          <p:nvPr>
            <p:ph type="title"/>
          </p:nvPr>
        </p:nvSpPr>
        <p:spPr>
          <a:xfrm>
            <a:off x="571352" y="350196"/>
            <a:ext cx="3485178" cy="1624520"/>
          </a:xfrm>
        </p:spPr>
        <p:txBody>
          <a:bodyPr vert="horz" lIns="91440" tIns="45720" rIns="91440" bIns="45720" rtlCol="0" anchor="ctr">
            <a:normAutofit/>
          </a:bodyPr>
          <a:lstStyle/>
          <a:p>
            <a:pPr defTabSz="914400">
              <a:lnSpc>
                <a:spcPct val="90000"/>
              </a:lnSpc>
            </a:pPr>
            <a:r>
              <a:rPr lang="en-US" sz="3500"/>
              <a:t>Summary</a:t>
            </a:r>
          </a:p>
        </p:txBody>
      </p:sp>
      <p:sp>
        <p:nvSpPr>
          <p:cNvPr id="3" name="Content Placeholder 2">
            <a:extLst>
              <a:ext uri="{FF2B5EF4-FFF2-40B4-BE49-F238E27FC236}">
                <a16:creationId xmlns:a16="http://schemas.microsoft.com/office/drawing/2014/main" id="{B7AAA743-E337-3534-3E94-627B0D9A5CD8}"/>
              </a:ext>
            </a:extLst>
          </p:cNvPr>
          <p:cNvSpPr>
            <a:spLocks noGrp="1"/>
          </p:cNvSpPr>
          <p:nvPr>
            <p:ph idx="1"/>
          </p:nvPr>
        </p:nvSpPr>
        <p:spPr>
          <a:xfrm>
            <a:off x="405037" y="2037456"/>
            <a:ext cx="3651494" cy="4318894"/>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1700" dirty="0"/>
              <a:t>The presentation outlines a data-driven approach to help Hotel Haven predict booking cancellations, understand customer behavior, and optimize hotel operations. The project involves cleaning and analyzing booking data, developing predictive models, and delivering actionable insights to improve customer retention and resource management.</a:t>
            </a:r>
          </a:p>
        </p:txBody>
      </p:sp>
      <p:pic>
        <p:nvPicPr>
          <p:cNvPr id="14" name="Picture 13" descr="Angled shot of pen on a graph">
            <a:extLst>
              <a:ext uri="{FF2B5EF4-FFF2-40B4-BE49-F238E27FC236}">
                <a16:creationId xmlns:a16="http://schemas.microsoft.com/office/drawing/2014/main" id="{57E7C4E5-15A6-8E58-30E8-F26C3043260C}"/>
              </a:ext>
            </a:extLst>
          </p:cNvPr>
          <p:cNvPicPr>
            <a:picLocks noChangeAspect="1"/>
          </p:cNvPicPr>
          <p:nvPr/>
        </p:nvPicPr>
        <p:blipFill>
          <a:blip r:embed="rId2"/>
          <a:srcRect l="8992" r="46458" b="-2"/>
          <a:stretch>
            <a:fillRect/>
          </a:stretch>
        </p:blipFill>
        <p:spPr>
          <a:xfrm>
            <a:off x="4572000" y="1"/>
            <a:ext cx="4577118" cy="6858000"/>
          </a:xfrm>
          <a:prstGeom prst="rect">
            <a:avLst/>
          </a:prstGeom>
        </p:spPr>
      </p:pic>
    </p:spTree>
    <p:extLst>
      <p:ext uri="{BB962C8B-B14F-4D97-AF65-F5344CB8AC3E}">
        <p14:creationId xmlns:p14="http://schemas.microsoft.com/office/powerpoint/2010/main" val="966365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Data Description (Part 1)</a:t>
            </a:r>
          </a:p>
        </p:txBody>
      </p:sp>
      <p:graphicFrame>
        <p:nvGraphicFramePr>
          <p:cNvPr id="5" name="Content Placeholder 2">
            <a:extLst>
              <a:ext uri="{FF2B5EF4-FFF2-40B4-BE49-F238E27FC236}">
                <a16:creationId xmlns:a16="http://schemas.microsoft.com/office/drawing/2014/main" id="{ED2EC5CB-EB48-6AB0-0B58-052701AA72FE}"/>
              </a:ext>
            </a:extLst>
          </p:cNvPr>
          <p:cNvGraphicFramePr>
            <a:graphicFrameLocks noGrp="1"/>
          </p:cNvGraphicFramePr>
          <p:nvPr>
            <p:ph idx="1"/>
            <p:extLst>
              <p:ext uri="{D42A27DB-BD31-4B8C-83A1-F6EECF244321}">
                <p14:modId xmlns:p14="http://schemas.microsoft.com/office/powerpoint/2010/main" val="2844020424"/>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62114" y="0"/>
            <a:ext cx="3072908"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486646" y="-3486043"/>
            <a:ext cx="2170709" cy="9144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1037673" y="348865"/>
            <a:ext cx="7288583" cy="1576446"/>
          </a:xfrm>
        </p:spPr>
        <p:txBody>
          <a:bodyPr anchor="ctr">
            <a:normAutofit/>
          </a:bodyPr>
          <a:lstStyle/>
          <a:p>
            <a:r>
              <a:rPr lang="en-US" sz="3500">
                <a:solidFill>
                  <a:srgbClr val="FFFFFF"/>
                </a:solidFill>
              </a:rPr>
              <a:t>Data Description (Part 2)</a:t>
            </a:r>
          </a:p>
        </p:txBody>
      </p:sp>
      <p:graphicFrame>
        <p:nvGraphicFramePr>
          <p:cNvPr id="5" name="Content Placeholder 2">
            <a:extLst>
              <a:ext uri="{FF2B5EF4-FFF2-40B4-BE49-F238E27FC236}">
                <a16:creationId xmlns:a16="http://schemas.microsoft.com/office/drawing/2014/main" id="{A3672F14-91A5-4C84-6553-64AFCC1B7CDA}"/>
              </a:ext>
            </a:extLst>
          </p:cNvPr>
          <p:cNvGraphicFramePr>
            <a:graphicFrameLocks noGrp="1"/>
          </p:cNvGraphicFramePr>
          <p:nvPr>
            <p:ph idx="1"/>
            <p:extLst>
              <p:ext uri="{D42A27DB-BD31-4B8C-83A1-F6EECF244321}">
                <p14:modId xmlns:p14="http://schemas.microsoft.com/office/powerpoint/2010/main" val="956139688"/>
              </p:ext>
            </p:extLst>
          </p:nvPr>
        </p:nvGraphicFramePr>
        <p:xfrm>
          <a:off x="483042" y="2615979"/>
          <a:ext cx="8195871"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Deliverables</a:t>
            </a:r>
          </a:p>
        </p:txBody>
      </p:sp>
      <p:graphicFrame>
        <p:nvGraphicFramePr>
          <p:cNvPr id="5" name="Content Placeholder 2">
            <a:extLst>
              <a:ext uri="{FF2B5EF4-FFF2-40B4-BE49-F238E27FC236}">
                <a16:creationId xmlns:a16="http://schemas.microsoft.com/office/drawing/2014/main" id="{D24CD1D9-4D8A-408B-CF29-97328C6E18CB}"/>
              </a:ext>
            </a:extLst>
          </p:cNvPr>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449CE6-4862-0531-8C4F-BFC32CE4E524}"/>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Data Info</a:t>
            </a:r>
          </a:p>
        </p:txBody>
      </p:sp>
      <p:pic>
        <p:nvPicPr>
          <p:cNvPr id="4" name="Content Placeholder 11" descr="A screenshot of a computer&#10;&#10;AI-generated content may be incorrect.">
            <a:extLst>
              <a:ext uri="{FF2B5EF4-FFF2-40B4-BE49-F238E27FC236}">
                <a16:creationId xmlns:a16="http://schemas.microsoft.com/office/drawing/2014/main" id="{6A77B986-0C1C-FDA8-9406-10DC3E633E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4168" y="2843687"/>
            <a:ext cx="8495662" cy="2697372"/>
          </a:xfrm>
          <a:prstGeom prst="rect">
            <a:avLst/>
          </a:prstGeom>
        </p:spPr>
      </p:pic>
    </p:spTree>
    <p:extLst>
      <p:ext uri="{BB962C8B-B14F-4D97-AF65-F5344CB8AC3E}">
        <p14:creationId xmlns:p14="http://schemas.microsoft.com/office/powerpoint/2010/main" val="13313284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D073016-B734-483B-8953-5BADEE1451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8950" y="0"/>
            <a:ext cx="6118093" cy="6858000"/>
          </a:xfrm>
          <a:prstGeom prst="rect">
            <a:avLst/>
          </a:prstGeom>
          <a:gradFill>
            <a:gsLst>
              <a:gs pos="2000">
                <a:schemeClr val="accent1"/>
              </a:gs>
              <a:gs pos="78000">
                <a:schemeClr val="accent1">
                  <a:lumMod val="50000"/>
                </a:schemeClr>
              </a:gs>
              <a:gs pos="100000">
                <a:srgbClr val="000000">
                  <a:alpha val="85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0A7EAB6-59D3-4325-8DE6-E0CA4009CE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25902" y="1839884"/>
            <a:ext cx="6118095" cy="5017687"/>
          </a:xfrm>
          <a:prstGeom prst="rect">
            <a:avLst/>
          </a:prstGeom>
          <a:gradFill>
            <a:gsLst>
              <a:gs pos="0">
                <a:schemeClr val="accent1">
                  <a:lumMod val="60000"/>
                  <a:lumOff val="40000"/>
                  <a:alpha val="30000"/>
                </a:schemeClr>
              </a:gs>
              <a:gs pos="100000">
                <a:srgbClr val="000000">
                  <a:alpha val="44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190134" y="832294"/>
            <a:ext cx="6857999" cy="5192552"/>
          </a:xfrm>
          <a:prstGeom prst="rect">
            <a:avLst/>
          </a:prstGeom>
          <a:gradFill>
            <a:gsLst>
              <a:gs pos="56000">
                <a:schemeClr val="accent1">
                  <a:lumMod val="60000"/>
                  <a:lumOff val="40000"/>
                  <a:alpha val="0"/>
                </a:schemeClr>
              </a:gs>
              <a:gs pos="100000">
                <a:schemeClr val="accent1"/>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8CAB8CC9-FBBB-F7A1-5C29-736D1EEC5466}"/>
              </a:ext>
            </a:extLst>
          </p:cNvPr>
          <p:cNvPicPr>
            <a:picLocks noGrp="1" noChangeAspect="1"/>
          </p:cNvPicPr>
          <p:nvPr>
            <p:ph idx="1"/>
          </p:nvPr>
        </p:nvPicPr>
        <p:blipFill>
          <a:blip r:embed="rId3"/>
          <a:stretch>
            <a:fillRect/>
          </a:stretch>
        </p:blipFill>
        <p:spPr>
          <a:xfrm>
            <a:off x="342900" y="1843088"/>
            <a:ext cx="8458200" cy="3171823"/>
          </a:xfrm>
          <a:prstGeom prst="rect">
            <a:avLst/>
          </a:prstGeom>
        </p:spPr>
      </p:pic>
    </p:spTree>
    <p:extLst>
      <p:ext uri="{BB962C8B-B14F-4D97-AF65-F5344CB8AC3E}">
        <p14:creationId xmlns:p14="http://schemas.microsoft.com/office/powerpoint/2010/main" val="24169291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9" name="Rectangle 88">
            <a:extLst>
              <a:ext uri="{FF2B5EF4-FFF2-40B4-BE49-F238E27FC236}">
                <a16:creationId xmlns:a16="http://schemas.microsoft.com/office/drawing/2014/main" id="{9203DE33-2CD4-4CA8-9AF3-37C3B6513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9144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0AF57B88-1D4C-41FA-A761-EC1DD10C35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Rectangle 90">
            <a:extLst>
              <a:ext uri="{FF2B5EF4-FFF2-40B4-BE49-F238E27FC236}">
                <a16:creationId xmlns:a16="http://schemas.microsoft.com/office/drawing/2014/main" id="{D2548F45-5164-4ABB-8212-7F293FDED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4123" y="3164497"/>
            <a:ext cx="4355594" cy="3030557"/>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screenshot of a computer&#10;&#10;AI-generated content may be incorrect.">
            <a:extLst>
              <a:ext uri="{FF2B5EF4-FFF2-40B4-BE49-F238E27FC236}">
                <a16:creationId xmlns:a16="http://schemas.microsoft.com/office/drawing/2014/main" id="{82AAB7A1-254D-C190-BDCC-84D7EA744D7E}"/>
              </a:ext>
            </a:extLst>
          </p:cNvPr>
          <p:cNvPicPr>
            <a:picLocks noChangeAspect="1"/>
          </p:cNvPicPr>
          <p:nvPr/>
        </p:nvPicPr>
        <p:blipFill>
          <a:blip r:embed="rId2"/>
          <a:srcRect r="28347" b="-2"/>
          <a:stretch>
            <a:fillRect/>
          </a:stretch>
        </p:blipFill>
        <p:spPr>
          <a:xfrm>
            <a:off x="3028949" y="10"/>
            <a:ext cx="6120019" cy="6875809"/>
          </a:xfrm>
          <a:prstGeom prst="rect">
            <a:avLst/>
          </a:prstGeom>
        </p:spPr>
      </p:pic>
      <p:sp>
        <p:nvSpPr>
          <p:cNvPr id="92" name="Freeform: Shape 91">
            <a:extLst>
              <a:ext uri="{FF2B5EF4-FFF2-40B4-BE49-F238E27FC236}">
                <a16:creationId xmlns:a16="http://schemas.microsoft.com/office/drawing/2014/main" id="{5E81CCFB-7BEF-4186-86FB-D09450B4D0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B0F27B6-FCCA-AC69-CD32-E552E63A73C7}"/>
              </a:ext>
            </a:extLst>
          </p:cNvPr>
          <p:cNvSpPr>
            <a:spLocks noGrp="1"/>
          </p:cNvSpPr>
          <p:nvPr>
            <p:ph type="title"/>
          </p:nvPr>
        </p:nvSpPr>
        <p:spPr>
          <a:xfrm>
            <a:off x="400854" y="2950387"/>
            <a:ext cx="2289220" cy="3531403"/>
          </a:xfrm>
        </p:spPr>
        <p:txBody>
          <a:bodyPr vert="horz" lIns="91440" tIns="45720" rIns="91440" bIns="45720" rtlCol="0" anchor="t">
            <a:normAutofit/>
          </a:bodyPr>
          <a:lstStyle/>
          <a:p>
            <a:pPr algn="r" defTabSz="914400">
              <a:lnSpc>
                <a:spcPct val="90000"/>
              </a:lnSpc>
            </a:pPr>
            <a:r>
              <a:rPr lang="en-US" sz="3200">
                <a:solidFill>
                  <a:srgbClr val="FFFFFF"/>
                </a:solidFill>
              </a:rPr>
              <a:t>Investigating The Data Set</a:t>
            </a:r>
          </a:p>
        </p:txBody>
      </p:sp>
    </p:spTree>
    <p:extLst>
      <p:ext uri="{BB962C8B-B14F-4D97-AF65-F5344CB8AC3E}">
        <p14:creationId xmlns:p14="http://schemas.microsoft.com/office/powerpoint/2010/main" val="2959503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screenshot of a graph&#10;&#10;AI-generated content may be incorrect.">
            <a:extLst>
              <a:ext uri="{FF2B5EF4-FFF2-40B4-BE49-F238E27FC236}">
                <a16:creationId xmlns:a16="http://schemas.microsoft.com/office/drawing/2014/main" id="{D787163B-5CC3-D621-FC54-F42BF5AD2CFA}"/>
              </a:ext>
            </a:extLst>
          </p:cNvPr>
          <p:cNvPicPr>
            <a:picLocks noGrp="1" noChangeAspect="1"/>
          </p:cNvPicPr>
          <p:nvPr>
            <p:ph idx="1"/>
          </p:nvPr>
        </p:nvPicPr>
        <p:blipFill>
          <a:blip r:embed="rId2"/>
          <a:stretch>
            <a:fillRect/>
          </a:stretch>
        </p:blipFill>
        <p:spPr>
          <a:xfrm>
            <a:off x="386627" y="398899"/>
            <a:ext cx="8425980" cy="5891437"/>
          </a:xfrm>
          <a:prstGeom prst="rect">
            <a:avLst/>
          </a:prstGeom>
        </p:spPr>
      </p:pic>
    </p:spTree>
    <p:extLst>
      <p:ext uri="{BB962C8B-B14F-4D97-AF65-F5344CB8AC3E}">
        <p14:creationId xmlns:p14="http://schemas.microsoft.com/office/powerpoint/2010/main" val="33035519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67BEDB-0EB3-66B6-BF94-94B9BF092F69}"/>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Numerical Statistical Analysis</a:t>
            </a:r>
          </a:p>
        </p:txBody>
      </p:sp>
      <p:pic>
        <p:nvPicPr>
          <p:cNvPr id="8" name="Content Placeholder 7" descr="A screenshot of a computer&#10;&#10;AI-generated content may be incorrect.">
            <a:extLst>
              <a:ext uri="{FF2B5EF4-FFF2-40B4-BE49-F238E27FC236}">
                <a16:creationId xmlns:a16="http://schemas.microsoft.com/office/drawing/2014/main" id="{A5650F49-D90A-79D3-D40D-5FEAA46F27B3}"/>
              </a:ext>
            </a:extLst>
          </p:cNvPr>
          <p:cNvPicPr>
            <a:picLocks noGrp="1" noChangeAspect="1"/>
          </p:cNvPicPr>
          <p:nvPr>
            <p:ph idx="1"/>
          </p:nvPr>
        </p:nvPicPr>
        <p:blipFill>
          <a:blip r:embed="rId2"/>
          <a:stretch>
            <a:fillRect/>
          </a:stretch>
        </p:blipFill>
        <p:spPr>
          <a:xfrm>
            <a:off x="128875" y="2080413"/>
            <a:ext cx="8891571" cy="4197649"/>
          </a:xfrm>
          <a:prstGeom prst="rect">
            <a:avLst/>
          </a:prstGeom>
        </p:spPr>
      </p:pic>
    </p:spTree>
    <p:extLst>
      <p:ext uri="{BB962C8B-B14F-4D97-AF65-F5344CB8AC3E}">
        <p14:creationId xmlns:p14="http://schemas.microsoft.com/office/powerpoint/2010/main" val="4219174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54B316-2774-977E-3D8C-8ECCE728C3E6}"/>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Categorical Statistical Analysis</a:t>
            </a:r>
          </a:p>
        </p:txBody>
      </p:sp>
      <p:pic>
        <p:nvPicPr>
          <p:cNvPr id="8" name="Picture 7" descr="A screenshot of a computer&#10;&#10;AI-generated content may be incorrect.">
            <a:extLst>
              <a:ext uri="{FF2B5EF4-FFF2-40B4-BE49-F238E27FC236}">
                <a16:creationId xmlns:a16="http://schemas.microsoft.com/office/drawing/2014/main" id="{55FB5397-EC1F-A6B7-1703-0F45D2B17066}"/>
              </a:ext>
            </a:extLst>
          </p:cNvPr>
          <p:cNvPicPr>
            <a:picLocks noChangeAspect="1"/>
          </p:cNvPicPr>
          <p:nvPr/>
        </p:nvPicPr>
        <p:blipFill>
          <a:blip r:embed="rId2"/>
          <a:stretch>
            <a:fillRect/>
          </a:stretch>
        </p:blipFill>
        <p:spPr>
          <a:xfrm>
            <a:off x="324168" y="2221562"/>
            <a:ext cx="8495662" cy="3718969"/>
          </a:xfrm>
          <a:prstGeom prst="rect">
            <a:avLst/>
          </a:prstGeom>
        </p:spPr>
      </p:pic>
    </p:spTree>
    <p:extLst>
      <p:ext uri="{BB962C8B-B14F-4D97-AF65-F5344CB8AC3E}">
        <p14:creationId xmlns:p14="http://schemas.microsoft.com/office/powerpoint/2010/main" val="367095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4B55FE4-1BA4-57CA-0AE9-668CAA4FE1BF}"/>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a:solidFill>
                  <a:srgbClr val="FFFFFF"/>
                </a:solidFill>
                <a:latin typeface="+mj-lt"/>
                <a:ea typeface="+mj-ea"/>
                <a:cs typeface="+mj-cs"/>
              </a:rPr>
              <a:t>Data Cleaning</a:t>
            </a:r>
          </a:p>
        </p:txBody>
      </p:sp>
      <p:pic>
        <p:nvPicPr>
          <p:cNvPr id="5" name="Content Placeholder 4" descr="A screenshot of a computer&#10;&#10;AI-generated content may be incorrect.">
            <a:extLst>
              <a:ext uri="{FF2B5EF4-FFF2-40B4-BE49-F238E27FC236}">
                <a16:creationId xmlns:a16="http://schemas.microsoft.com/office/drawing/2014/main" id="{017904C9-5FA6-5137-4BA7-B650CC267EF5}"/>
              </a:ext>
            </a:extLst>
          </p:cNvPr>
          <p:cNvPicPr>
            <a:picLocks noGrp="1" noChangeAspect="1"/>
          </p:cNvPicPr>
          <p:nvPr>
            <p:ph idx="1"/>
          </p:nvPr>
        </p:nvPicPr>
        <p:blipFill>
          <a:blip r:embed="rId2"/>
          <a:stretch>
            <a:fillRect/>
          </a:stretch>
        </p:blipFill>
        <p:spPr>
          <a:xfrm>
            <a:off x="3376821" y="698869"/>
            <a:ext cx="5419311" cy="5460262"/>
          </a:xfrm>
          <a:prstGeom prst="rect">
            <a:avLst/>
          </a:prstGeom>
        </p:spPr>
      </p:pic>
    </p:spTree>
    <p:extLst>
      <p:ext uri="{BB962C8B-B14F-4D97-AF65-F5344CB8AC3E}">
        <p14:creationId xmlns:p14="http://schemas.microsoft.com/office/powerpoint/2010/main" val="1248534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Binary Code Globe">
            <a:extLst>
              <a:ext uri="{FF2B5EF4-FFF2-40B4-BE49-F238E27FC236}">
                <a16:creationId xmlns:a16="http://schemas.microsoft.com/office/drawing/2014/main" id="{C363F230-BA6E-8135-425F-E72D1EF581A5}"/>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2784" r="2002" b="-1"/>
          <a:stretch>
            <a:fillRect/>
          </a:stretch>
        </p:blipFill>
        <p:spPr>
          <a:xfrm>
            <a:off x="-2285" y="10"/>
            <a:ext cx="9143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9143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06EA5E-3301-5ECD-124B-70701870B7B6}"/>
              </a:ext>
            </a:extLst>
          </p:cNvPr>
          <p:cNvSpPr>
            <a:spLocks noGrp="1"/>
          </p:cNvSpPr>
          <p:nvPr>
            <p:ph type="title"/>
          </p:nvPr>
        </p:nvSpPr>
        <p:spPr>
          <a:xfrm>
            <a:off x="822960" y="325550"/>
            <a:ext cx="75438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defTabSz="914400">
              <a:lnSpc>
                <a:spcPct val="90000"/>
              </a:lnSpc>
            </a:pPr>
            <a:r>
              <a:rPr lang="en-US" sz="4500" dirty="0">
                <a:solidFill>
                  <a:srgbClr val="FFFFFF"/>
                </a:solidFill>
              </a:rPr>
              <a:t>Exploratory Data Analysis</a:t>
            </a:r>
          </a:p>
        </p:txBody>
      </p:sp>
    </p:spTree>
    <p:extLst>
      <p:ext uri="{BB962C8B-B14F-4D97-AF65-F5344CB8AC3E}">
        <p14:creationId xmlns:p14="http://schemas.microsoft.com/office/powerpoint/2010/main" val="418458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4E37431-20F0-4DD6-84A9-ED2B644943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E98B72-66C6-4AB4-AF0D-BA830DE86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336136" y="1336710"/>
            <a:ext cx="6858000" cy="418458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07EAFC6-733F-403D-BB4D-05A3A2874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88181" y="1092216"/>
            <a:ext cx="6346209" cy="418206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7A36730-4CB0-4F61-AD11-A44C976583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833933" y="3515977"/>
            <a:ext cx="2501979" cy="418206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C69C79E1-F916-4929-A4F3-DE763D4BF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176002" y="1496845"/>
            <a:ext cx="6858001" cy="3864309"/>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767334AB-16BD-4EC7-8C6B-4B51716009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277" y="1668285"/>
            <a:ext cx="4318303" cy="3238727"/>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D45A08A-6348-595F-4281-3067927769DD}"/>
              </a:ext>
            </a:extLst>
          </p:cNvPr>
          <p:cNvSpPr>
            <a:spLocks noGrp="1"/>
          </p:cNvSpPr>
          <p:nvPr>
            <p:ph type="title"/>
          </p:nvPr>
        </p:nvSpPr>
        <p:spPr>
          <a:xfrm>
            <a:off x="251162" y="891652"/>
            <a:ext cx="3552885" cy="783725"/>
          </a:xfrm>
        </p:spPr>
        <p:txBody>
          <a:bodyPr vert="horz" lIns="91440" tIns="45720" rIns="91440" bIns="45720" rtlCol="0" anchor="b">
            <a:normAutofit/>
          </a:bodyPr>
          <a:lstStyle/>
          <a:p>
            <a:pPr algn="r" defTabSz="914400">
              <a:lnSpc>
                <a:spcPct val="90000"/>
              </a:lnSpc>
            </a:pPr>
            <a:r>
              <a:rPr lang="en-US" sz="3500" kern="1200" dirty="0">
                <a:solidFill>
                  <a:srgbClr val="FFFFFF"/>
                </a:solidFill>
                <a:latin typeface="+mj-lt"/>
                <a:ea typeface="+mj-ea"/>
                <a:cs typeface="+mj-cs"/>
              </a:rPr>
              <a:t>Key Observation</a:t>
            </a:r>
          </a:p>
        </p:txBody>
      </p:sp>
      <p:sp>
        <p:nvSpPr>
          <p:cNvPr id="3" name="Content Placeholder 2">
            <a:extLst>
              <a:ext uri="{FF2B5EF4-FFF2-40B4-BE49-F238E27FC236}">
                <a16:creationId xmlns:a16="http://schemas.microsoft.com/office/drawing/2014/main" id="{844DC14A-04B2-8917-D8A0-2E7619A7E3C3}"/>
              </a:ext>
            </a:extLst>
          </p:cNvPr>
          <p:cNvSpPr>
            <a:spLocks noGrp="1"/>
          </p:cNvSpPr>
          <p:nvPr>
            <p:ph idx="1"/>
          </p:nvPr>
        </p:nvSpPr>
        <p:spPr>
          <a:xfrm>
            <a:off x="365760" y="2456159"/>
            <a:ext cx="3094704" cy="2501980"/>
          </a:xfrm>
        </p:spPr>
        <p:txBody>
          <a:bodyPr vert="horz" lIns="91440" tIns="45720" rIns="91440" bIns="45720" rtlCol="0">
            <a:normAutofit/>
          </a:bodyPr>
          <a:lstStyle/>
          <a:p>
            <a:pPr marL="0" indent="0" algn="r" defTabSz="914400">
              <a:lnSpc>
                <a:spcPct val="90000"/>
              </a:lnSpc>
              <a:spcBef>
                <a:spcPts val="1000"/>
              </a:spcBef>
              <a:buNone/>
            </a:pPr>
            <a:r>
              <a:rPr lang="en-US" sz="2200" kern="1200" dirty="0">
                <a:solidFill>
                  <a:srgbClr val="FFFFFF"/>
                </a:solidFill>
                <a:latin typeface="+mn-lt"/>
                <a:ea typeface="+mn-ea"/>
                <a:cs typeface="+mn-cs"/>
              </a:rPr>
              <a:t>Percentage of cancelled bookings is significantly high - 33%. </a:t>
            </a:r>
          </a:p>
          <a:p>
            <a:pPr marL="0" indent="0" algn="r" defTabSz="914400">
              <a:lnSpc>
                <a:spcPct val="90000"/>
              </a:lnSpc>
              <a:spcBef>
                <a:spcPts val="1000"/>
              </a:spcBef>
              <a:buNone/>
            </a:pPr>
            <a:endParaRPr lang="en-US" sz="2200" kern="1200" dirty="0">
              <a:solidFill>
                <a:srgbClr val="FFFFFF"/>
              </a:solidFill>
              <a:latin typeface="+mn-lt"/>
              <a:ea typeface="+mn-ea"/>
              <a:cs typeface="+mn-cs"/>
            </a:endParaRPr>
          </a:p>
          <a:p>
            <a:pPr marL="0" indent="0" algn="r" defTabSz="914400">
              <a:lnSpc>
                <a:spcPct val="90000"/>
              </a:lnSpc>
              <a:spcBef>
                <a:spcPts val="1000"/>
              </a:spcBef>
              <a:buNone/>
            </a:pPr>
            <a:r>
              <a:rPr lang="en-US" sz="2200" kern="1200" dirty="0">
                <a:solidFill>
                  <a:srgbClr val="FFFFFF"/>
                </a:solidFill>
                <a:latin typeface="+mn-lt"/>
                <a:ea typeface="+mn-ea"/>
                <a:cs typeface="+mn-cs"/>
              </a:rPr>
              <a:t>Its high enough to affect revenue</a:t>
            </a:r>
          </a:p>
        </p:txBody>
      </p:sp>
      <p:pic>
        <p:nvPicPr>
          <p:cNvPr id="5" name="Content Placeholder 4" descr="A blue and orange pie chart&#10;&#10;AI-generated content may be incorrect.">
            <a:extLst>
              <a:ext uri="{FF2B5EF4-FFF2-40B4-BE49-F238E27FC236}">
                <a16:creationId xmlns:a16="http://schemas.microsoft.com/office/drawing/2014/main" id="{4473EF40-5163-8CB0-4087-ECA11200087A}"/>
              </a:ext>
            </a:extLst>
          </p:cNvPr>
          <p:cNvPicPr>
            <a:picLocks noChangeAspect="1"/>
          </p:cNvPicPr>
          <p:nvPr/>
        </p:nvPicPr>
        <p:blipFill>
          <a:blip r:embed="rId2"/>
          <a:stretch>
            <a:fillRect/>
          </a:stretch>
        </p:blipFill>
        <p:spPr>
          <a:xfrm>
            <a:off x="4572000" y="1477162"/>
            <a:ext cx="4206240" cy="3859225"/>
          </a:xfrm>
          <a:prstGeom prst="rect">
            <a:avLst/>
          </a:prstGeom>
        </p:spPr>
      </p:pic>
    </p:spTree>
    <p:extLst>
      <p:ext uri="{BB962C8B-B14F-4D97-AF65-F5344CB8AC3E}">
        <p14:creationId xmlns:p14="http://schemas.microsoft.com/office/powerpoint/2010/main" val="2102554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85CEE-AA31-B365-9691-01653CCDAA43}"/>
              </a:ext>
            </a:extLst>
          </p:cNvPr>
          <p:cNvSpPr>
            <a:spLocks noGrp="1"/>
          </p:cNvSpPr>
          <p:nvPr>
            <p:ph type="title"/>
          </p:nvPr>
        </p:nvSpPr>
        <p:spPr>
          <a:xfrm>
            <a:off x="773816" y="158037"/>
            <a:ext cx="7447144" cy="345190"/>
          </a:xfrm>
        </p:spPr>
        <p:txBody>
          <a:bodyPr>
            <a:noAutofit/>
          </a:bodyPr>
          <a:lstStyle/>
          <a:p>
            <a:r>
              <a:rPr lang="en-US" sz="2800" dirty="0">
                <a:solidFill>
                  <a:schemeClr val="bg2"/>
                </a:solidFill>
                <a:highlight>
                  <a:srgbClr val="000080"/>
                </a:highlight>
              </a:rPr>
              <a:t>Feature Engineering for Duration and Season</a:t>
            </a:r>
          </a:p>
        </p:txBody>
      </p:sp>
      <p:sp>
        <p:nvSpPr>
          <p:cNvPr id="3" name="Text Placeholder 2">
            <a:extLst>
              <a:ext uri="{FF2B5EF4-FFF2-40B4-BE49-F238E27FC236}">
                <a16:creationId xmlns:a16="http://schemas.microsoft.com/office/drawing/2014/main" id="{98ECDD10-73B8-6400-2E82-5E70C5C56BF2}"/>
              </a:ext>
            </a:extLst>
          </p:cNvPr>
          <p:cNvSpPr>
            <a:spLocks noGrp="1"/>
          </p:cNvSpPr>
          <p:nvPr>
            <p:ph type="body" idx="1"/>
          </p:nvPr>
        </p:nvSpPr>
        <p:spPr>
          <a:xfrm>
            <a:off x="1911648" y="651397"/>
            <a:ext cx="4040188" cy="639762"/>
          </a:xfrm>
        </p:spPr>
        <p:txBody>
          <a:bodyPr/>
          <a:lstStyle/>
          <a:p>
            <a:r>
              <a:rPr lang="en-US" dirty="0"/>
              <a:t>			Before</a:t>
            </a:r>
          </a:p>
        </p:txBody>
      </p:sp>
      <p:pic>
        <p:nvPicPr>
          <p:cNvPr id="8" name="Content Placeholder 7" descr="A screenshot of a computer&#10;&#10;AI-generated content may be incorrect.">
            <a:extLst>
              <a:ext uri="{FF2B5EF4-FFF2-40B4-BE49-F238E27FC236}">
                <a16:creationId xmlns:a16="http://schemas.microsoft.com/office/drawing/2014/main" id="{2183E19A-0B59-D409-B6D9-5600F0335DD7}"/>
              </a:ext>
            </a:extLst>
          </p:cNvPr>
          <p:cNvPicPr>
            <a:picLocks noGrp="1" noChangeAspect="1"/>
          </p:cNvPicPr>
          <p:nvPr>
            <p:ph sz="half" idx="2"/>
          </p:nvPr>
        </p:nvPicPr>
        <p:blipFill>
          <a:blip r:embed="rId2"/>
          <a:stretch>
            <a:fillRect/>
          </a:stretch>
        </p:blipFill>
        <p:spPr>
          <a:xfrm>
            <a:off x="530225" y="4368522"/>
            <a:ext cx="8190327" cy="2278571"/>
          </a:xfrm>
        </p:spPr>
      </p:pic>
      <p:sp>
        <p:nvSpPr>
          <p:cNvPr id="5" name="Text Placeholder 4">
            <a:extLst>
              <a:ext uri="{FF2B5EF4-FFF2-40B4-BE49-F238E27FC236}">
                <a16:creationId xmlns:a16="http://schemas.microsoft.com/office/drawing/2014/main" id="{34611B0C-565F-E609-B68E-940808658C6B}"/>
              </a:ext>
            </a:extLst>
          </p:cNvPr>
          <p:cNvSpPr>
            <a:spLocks noGrp="1"/>
          </p:cNvSpPr>
          <p:nvPr>
            <p:ph type="body" sz="quarter" idx="3"/>
          </p:nvPr>
        </p:nvSpPr>
        <p:spPr>
          <a:xfrm>
            <a:off x="2168781" y="3680906"/>
            <a:ext cx="4041775" cy="639762"/>
          </a:xfrm>
        </p:spPr>
        <p:txBody>
          <a:bodyPr/>
          <a:lstStyle/>
          <a:p>
            <a:r>
              <a:rPr lang="en-US" dirty="0"/>
              <a:t>			After</a:t>
            </a:r>
          </a:p>
        </p:txBody>
      </p:sp>
      <p:pic>
        <p:nvPicPr>
          <p:cNvPr id="10" name="Content Placeholder 9" descr="A screenshot of a computer&#10;&#10;AI-generated content may be incorrect.">
            <a:extLst>
              <a:ext uri="{FF2B5EF4-FFF2-40B4-BE49-F238E27FC236}">
                <a16:creationId xmlns:a16="http://schemas.microsoft.com/office/drawing/2014/main" id="{8F10993B-D8F6-D514-A9A1-A7F186814E36}"/>
              </a:ext>
            </a:extLst>
          </p:cNvPr>
          <p:cNvPicPr>
            <a:picLocks noGrp="1" noChangeAspect="1"/>
          </p:cNvPicPr>
          <p:nvPr>
            <p:ph sz="quarter" idx="4"/>
          </p:nvPr>
        </p:nvPicPr>
        <p:blipFill>
          <a:blip r:embed="rId3"/>
          <a:stretch>
            <a:fillRect/>
          </a:stretch>
        </p:blipFill>
        <p:spPr>
          <a:xfrm>
            <a:off x="530225" y="1560554"/>
            <a:ext cx="8073727" cy="2072498"/>
          </a:xfrm>
        </p:spPr>
      </p:pic>
    </p:spTree>
    <p:extLst>
      <p:ext uri="{BB962C8B-B14F-4D97-AF65-F5344CB8AC3E}">
        <p14:creationId xmlns:p14="http://schemas.microsoft.com/office/powerpoint/2010/main" val="515139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76A6A-FC23-A1AA-1A9B-B782864D7CF4}"/>
              </a:ext>
            </a:extLst>
          </p:cNvPr>
          <p:cNvSpPr>
            <a:spLocks noGrp="1"/>
          </p:cNvSpPr>
          <p:nvPr>
            <p:ph type="title"/>
          </p:nvPr>
        </p:nvSpPr>
        <p:spPr>
          <a:xfrm>
            <a:off x="2098823" y="54465"/>
            <a:ext cx="5278055" cy="335996"/>
          </a:xfrm>
        </p:spPr>
        <p:txBody>
          <a:bodyPr>
            <a:normAutofit fontScale="90000"/>
          </a:bodyPr>
          <a:lstStyle/>
          <a:p>
            <a:r>
              <a:rPr lang="en-US"/>
              <a:t>Subplots - Numerical Feature Comparison</a:t>
            </a:r>
            <a:endParaRPr lang="en-US" dirty="0"/>
          </a:p>
        </p:txBody>
      </p:sp>
      <p:pic>
        <p:nvPicPr>
          <p:cNvPr id="6" name="Picture Placeholder 5" descr="A screenshot of a chart&#10;&#10;AI-generated content may be incorrect.">
            <a:extLst>
              <a:ext uri="{FF2B5EF4-FFF2-40B4-BE49-F238E27FC236}">
                <a16:creationId xmlns:a16="http://schemas.microsoft.com/office/drawing/2014/main" id="{099B00C5-8CE6-703C-E6E5-36545408D81C}"/>
              </a:ext>
            </a:extLst>
          </p:cNvPr>
          <p:cNvPicPr>
            <a:picLocks noGrp="1" noChangeAspect="1"/>
          </p:cNvPicPr>
          <p:nvPr>
            <p:ph type="pic" idx="1"/>
          </p:nvPr>
        </p:nvPicPr>
        <p:blipFill>
          <a:blip r:embed="rId2"/>
          <a:srcRect t="3480" b="3480"/>
          <a:stretch>
            <a:fillRect/>
          </a:stretch>
        </p:blipFill>
        <p:spPr>
          <a:xfrm>
            <a:off x="111125" y="460375"/>
            <a:ext cx="8959850" cy="6343650"/>
          </a:xfrm>
        </p:spPr>
      </p:pic>
    </p:spTree>
    <p:extLst>
      <p:ext uri="{BB962C8B-B14F-4D97-AF65-F5344CB8AC3E}">
        <p14:creationId xmlns:p14="http://schemas.microsoft.com/office/powerpoint/2010/main" val="3709246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n placed on top of a signature line">
            <a:extLst>
              <a:ext uri="{FF2B5EF4-FFF2-40B4-BE49-F238E27FC236}">
                <a16:creationId xmlns:a16="http://schemas.microsoft.com/office/drawing/2014/main" id="{CB5697D1-02E0-ABC8-8961-B6B71DC5C049}"/>
              </a:ext>
            </a:extLst>
          </p:cNvPr>
          <p:cNvPicPr>
            <a:picLocks noChangeAspect="1"/>
          </p:cNvPicPr>
          <p:nvPr/>
        </p:nvPicPr>
        <p:blipFill>
          <a:blip r:embed="rId2"/>
          <a:srcRect l="33851" r="2869" b="-1"/>
          <a:stretch>
            <a:fillRect/>
          </a:stretch>
        </p:blipFill>
        <p:spPr>
          <a:xfrm>
            <a:off x="2642616" y="10"/>
            <a:ext cx="6501384" cy="6857990"/>
          </a:xfrm>
          <a:prstGeom prst="rect">
            <a:avLst/>
          </a:prstGeom>
        </p:spPr>
      </p:pic>
      <p:sp>
        <p:nvSpPr>
          <p:cNvPr id="10" name="Rectangle 9">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74CDD82-F721-E69C-14DF-F291AD1F67B2}"/>
              </a:ext>
            </a:extLst>
          </p:cNvPr>
          <p:cNvSpPr>
            <a:spLocks noGrp="1"/>
          </p:cNvSpPr>
          <p:nvPr>
            <p:ph type="title"/>
          </p:nvPr>
        </p:nvSpPr>
        <p:spPr>
          <a:xfrm>
            <a:off x="358485" y="1122363"/>
            <a:ext cx="3017520" cy="3204134"/>
          </a:xfrm>
        </p:spPr>
        <p:txBody>
          <a:bodyPr vert="horz" lIns="91440" tIns="45720" rIns="91440" bIns="45720" rtlCol="0" anchor="b">
            <a:normAutofit/>
          </a:bodyPr>
          <a:lstStyle/>
          <a:p>
            <a:pPr algn="l" defTabSz="914400">
              <a:lnSpc>
                <a:spcPct val="90000"/>
              </a:lnSpc>
            </a:pPr>
            <a:r>
              <a:rPr lang="en-US" sz="4200">
                <a:solidFill>
                  <a:schemeClr val="bg1"/>
                </a:solidFill>
              </a:rPr>
              <a:t>Tabular Summary of Cancellation Insights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35091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A9078AB-C3A7-FFED-7CBB-E0EBAA535D2D}"/>
              </a:ext>
            </a:extLst>
          </p:cNvPr>
          <p:cNvSpPr>
            <a:spLocks noGrp="1"/>
          </p:cNvSpPr>
          <p:nvPr>
            <p:ph type="title"/>
          </p:nvPr>
        </p:nvSpPr>
        <p:spPr>
          <a:xfrm>
            <a:off x="1028697" y="348865"/>
            <a:ext cx="7533018" cy="877729"/>
          </a:xfrm>
        </p:spPr>
        <p:txBody>
          <a:bodyPr anchor="ctr">
            <a:normAutofit/>
          </a:bodyPr>
          <a:lstStyle/>
          <a:p>
            <a:r>
              <a:rPr lang="en-US" sz="3200">
                <a:solidFill>
                  <a:srgbClr val="FFFFFF"/>
                </a:solidFill>
              </a:rPr>
              <a:t>Table 1 — Feature Impact on Cancellations</a:t>
            </a:r>
          </a:p>
        </p:txBody>
      </p:sp>
      <p:graphicFrame>
        <p:nvGraphicFramePr>
          <p:cNvPr id="8" name="Content Placeholder 7">
            <a:extLst>
              <a:ext uri="{FF2B5EF4-FFF2-40B4-BE49-F238E27FC236}">
                <a16:creationId xmlns:a16="http://schemas.microsoft.com/office/drawing/2014/main" id="{C2078C8A-F4CA-76FB-2CA7-CA8C44ABC720}"/>
              </a:ext>
            </a:extLst>
          </p:cNvPr>
          <p:cNvGraphicFramePr>
            <a:graphicFrameLocks noGrp="1"/>
          </p:cNvGraphicFramePr>
          <p:nvPr>
            <p:ph idx="1"/>
            <p:extLst>
              <p:ext uri="{D42A27DB-BD31-4B8C-83A1-F6EECF244321}">
                <p14:modId xmlns:p14="http://schemas.microsoft.com/office/powerpoint/2010/main" val="2568810903"/>
              </p:ext>
            </p:extLst>
          </p:nvPr>
        </p:nvGraphicFramePr>
        <p:xfrm>
          <a:off x="719336" y="2112579"/>
          <a:ext cx="7723285" cy="4192806"/>
        </p:xfrm>
        <a:graphic>
          <a:graphicData uri="http://schemas.openxmlformats.org/drawingml/2006/table">
            <a:tbl>
              <a:tblPr firstRow="1" bandRow="1">
                <a:tableStyleId>{5C22544A-7EE6-4342-B048-85BDC9FD1C3A}</a:tableStyleId>
              </a:tblPr>
              <a:tblGrid>
                <a:gridCol w="1269783">
                  <a:extLst>
                    <a:ext uri="{9D8B030D-6E8A-4147-A177-3AD203B41FA5}">
                      <a16:colId xmlns:a16="http://schemas.microsoft.com/office/drawing/2014/main" val="355106323"/>
                    </a:ext>
                  </a:extLst>
                </a:gridCol>
                <a:gridCol w="1059554">
                  <a:extLst>
                    <a:ext uri="{9D8B030D-6E8A-4147-A177-3AD203B41FA5}">
                      <a16:colId xmlns:a16="http://schemas.microsoft.com/office/drawing/2014/main" val="1640928304"/>
                    </a:ext>
                  </a:extLst>
                </a:gridCol>
                <a:gridCol w="1416943">
                  <a:extLst>
                    <a:ext uri="{9D8B030D-6E8A-4147-A177-3AD203B41FA5}">
                      <a16:colId xmlns:a16="http://schemas.microsoft.com/office/drawing/2014/main" val="447976466"/>
                    </a:ext>
                  </a:extLst>
                </a:gridCol>
                <a:gridCol w="1561475">
                  <a:extLst>
                    <a:ext uri="{9D8B030D-6E8A-4147-A177-3AD203B41FA5}">
                      <a16:colId xmlns:a16="http://schemas.microsoft.com/office/drawing/2014/main" val="553712063"/>
                    </a:ext>
                  </a:extLst>
                </a:gridCol>
                <a:gridCol w="2415530">
                  <a:extLst>
                    <a:ext uri="{9D8B030D-6E8A-4147-A177-3AD203B41FA5}">
                      <a16:colId xmlns:a16="http://schemas.microsoft.com/office/drawing/2014/main" val="2306197356"/>
                    </a:ext>
                  </a:extLst>
                </a:gridCol>
              </a:tblGrid>
              <a:tr h="560050">
                <a:tc>
                  <a:txBody>
                    <a:bodyPr/>
                    <a:lstStyle/>
                    <a:p>
                      <a:pPr>
                        <a:buNone/>
                      </a:pPr>
                      <a:r>
                        <a:rPr lang="en-US" sz="1500"/>
                        <a:t>Feature</a:t>
                      </a:r>
                    </a:p>
                  </a:txBody>
                  <a:tcPr marL="75682" marR="75682" marT="37841" marB="37841" anchor="ctr"/>
                </a:tc>
                <a:tc>
                  <a:txBody>
                    <a:bodyPr/>
                    <a:lstStyle/>
                    <a:p>
                      <a:pPr>
                        <a:buNone/>
                      </a:pPr>
                      <a:r>
                        <a:rPr lang="en-US" sz="1500"/>
                        <a:t>Canceled Bookings</a:t>
                      </a:r>
                    </a:p>
                  </a:txBody>
                  <a:tcPr marL="75682" marR="75682" marT="37841" marB="37841" anchor="ctr"/>
                </a:tc>
                <a:tc>
                  <a:txBody>
                    <a:bodyPr/>
                    <a:lstStyle/>
                    <a:p>
                      <a:pPr>
                        <a:buNone/>
                      </a:pPr>
                      <a:r>
                        <a:rPr lang="en-US" sz="1500"/>
                        <a:t>Not-Canceled Bookings</a:t>
                      </a:r>
                    </a:p>
                  </a:txBody>
                  <a:tcPr marL="75682" marR="75682" marT="37841" marB="37841" anchor="ctr"/>
                </a:tc>
                <a:tc>
                  <a:txBody>
                    <a:bodyPr/>
                    <a:lstStyle/>
                    <a:p>
                      <a:pPr>
                        <a:buNone/>
                      </a:pPr>
                      <a:r>
                        <a:rPr lang="en-US" sz="1500"/>
                        <a:t>Strength of Impact</a:t>
                      </a:r>
                    </a:p>
                  </a:txBody>
                  <a:tcPr marL="75682" marR="75682" marT="37841" marB="37841" anchor="ctr"/>
                </a:tc>
                <a:tc>
                  <a:txBody>
                    <a:bodyPr/>
                    <a:lstStyle/>
                    <a:p>
                      <a:pPr>
                        <a:buNone/>
                      </a:pPr>
                      <a:r>
                        <a:rPr lang="en-US" sz="1500"/>
                        <a:t>Interpretation</a:t>
                      </a:r>
                    </a:p>
                  </a:txBody>
                  <a:tcPr marL="75682" marR="75682" marT="37841" marB="37841" anchor="ctr"/>
                </a:tc>
                <a:extLst>
                  <a:ext uri="{0D108BD9-81ED-4DB2-BD59-A6C34878D82A}">
                    <a16:rowId xmlns:a16="http://schemas.microsoft.com/office/drawing/2014/main" val="835408327"/>
                  </a:ext>
                </a:extLst>
              </a:tr>
              <a:tr h="787097">
                <a:tc>
                  <a:txBody>
                    <a:bodyPr/>
                    <a:lstStyle/>
                    <a:p>
                      <a:pPr>
                        <a:buNone/>
                      </a:pPr>
                      <a:r>
                        <a:rPr lang="en-US" sz="1500" b="1"/>
                        <a:t>Lead Time</a:t>
                      </a:r>
                      <a:endParaRPr lang="en-US" sz="1500"/>
                    </a:p>
                  </a:txBody>
                  <a:tcPr marL="75682" marR="75682" marT="37841" marB="37841" anchor="ctr"/>
                </a:tc>
                <a:tc>
                  <a:txBody>
                    <a:bodyPr/>
                    <a:lstStyle/>
                    <a:p>
                      <a:pPr>
                        <a:buNone/>
                      </a:pPr>
                      <a:r>
                        <a:rPr lang="en-US" sz="1500" b="1"/>
                        <a:t>High</a:t>
                      </a:r>
                      <a:endParaRPr lang="en-US" sz="1500"/>
                    </a:p>
                  </a:txBody>
                  <a:tcPr marL="75682" marR="75682" marT="37841" marB="37841" anchor="ctr"/>
                </a:tc>
                <a:tc>
                  <a:txBody>
                    <a:bodyPr/>
                    <a:lstStyle/>
                    <a:p>
                      <a:pPr>
                        <a:buNone/>
                      </a:pPr>
                      <a:r>
                        <a:rPr lang="en-US" sz="1500"/>
                        <a:t>Low</a:t>
                      </a:r>
                    </a:p>
                  </a:txBody>
                  <a:tcPr marL="75682" marR="75682" marT="37841" marB="37841" anchor="ctr"/>
                </a:tc>
                <a:tc>
                  <a:txBody>
                    <a:bodyPr/>
                    <a:lstStyle/>
                    <a:p>
                      <a:pPr>
                        <a:buNone/>
                      </a:pPr>
                      <a:r>
                        <a:rPr lang="en-US" sz="1500"/>
                        <a:t>⭐⭐⭐⭐⭐ (Very Strong)</a:t>
                      </a:r>
                    </a:p>
                  </a:txBody>
                  <a:tcPr marL="75682" marR="75682" marT="37841" marB="37841" anchor="ctr"/>
                </a:tc>
                <a:tc>
                  <a:txBody>
                    <a:bodyPr/>
                    <a:lstStyle/>
                    <a:p>
                      <a:pPr>
                        <a:buNone/>
                      </a:pPr>
                      <a:r>
                        <a:rPr lang="en-US" sz="1500"/>
                        <a:t>Long lead-time bookings are far more likely to cancel.</a:t>
                      </a:r>
                    </a:p>
                  </a:txBody>
                  <a:tcPr marL="75682" marR="75682" marT="37841" marB="37841" anchor="ctr"/>
                </a:tc>
                <a:extLst>
                  <a:ext uri="{0D108BD9-81ED-4DB2-BD59-A6C34878D82A}">
                    <a16:rowId xmlns:a16="http://schemas.microsoft.com/office/drawing/2014/main" val="3684027937"/>
                  </a:ext>
                </a:extLst>
              </a:tr>
              <a:tr h="787097">
                <a:tc>
                  <a:txBody>
                    <a:bodyPr/>
                    <a:lstStyle/>
                    <a:p>
                      <a:pPr>
                        <a:buNone/>
                      </a:pPr>
                      <a:r>
                        <a:rPr lang="en-US" sz="1500" b="1"/>
                        <a:t>P-not-C (Non-Customer)</a:t>
                      </a:r>
                      <a:endParaRPr lang="en-US" sz="1500"/>
                    </a:p>
                  </a:txBody>
                  <a:tcPr marL="75682" marR="75682" marT="37841" marB="37841" anchor="ctr"/>
                </a:tc>
                <a:tc>
                  <a:txBody>
                    <a:bodyPr/>
                    <a:lstStyle/>
                    <a:p>
                      <a:pPr>
                        <a:buNone/>
                      </a:pPr>
                      <a:r>
                        <a:rPr lang="en-US" sz="1500" b="1"/>
                        <a:t>High</a:t>
                      </a:r>
                      <a:endParaRPr lang="en-US" sz="1500"/>
                    </a:p>
                  </a:txBody>
                  <a:tcPr marL="75682" marR="75682" marT="37841" marB="37841" anchor="ctr"/>
                </a:tc>
                <a:tc>
                  <a:txBody>
                    <a:bodyPr/>
                    <a:lstStyle/>
                    <a:p>
                      <a:pPr>
                        <a:buNone/>
                      </a:pPr>
                      <a:r>
                        <a:rPr lang="en-US" sz="1500"/>
                        <a:t>Low</a:t>
                      </a:r>
                    </a:p>
                  </a:txBody>
                  <a:tcPr marL="75682" marR="75682" marT="37841" marB="37841" anchor="ctr"/>
                </a:tc>
                <a:tc>
                  <a:txBody>
                    <a:bodyPr/>
                    <a:lstStyle/>
                    <a:p>
                      <a:pPr>
                        <a:buNone/>
                      </a:pPr>
                      <a:r>
                        <a:rPr lang="en-US" sz="1500"/>
                        <a:t>⭐⭐⭐⭐⭐ (Very Strong)</a:t>
                      </a:r>
                    </a:p>
                  </a:txBody>
                  <a:tcPr marL="75682" marR="75682" marT="37841" marB="37841" anchor="ctr"/>
                </a:tc>
                <a:tc>
                  <a:txBody>
                    <a:bodyPr/>
                    <a:lstStyle/>
                    <a:p>
                      <a:pPr>
                        <a:buNone/>
                      </a:pPr>
                      <a:r>
                        <a:rPr lang="en-US" sz="1500"/>
                        <a:t>Unknown/new customers cancel much more.</a:t>
                      </a:r>
                    </a:p>
                  </a:txBody>
                  <a:tcPr marL="75682" marR="75682" marT="37841" marB="37841" anchor="ctr"/>
                </a:tc>
                <a:extLst>
                  <a:ext uri="{0D108BD9-81ED-4DB2-BD59-A6C34878D82A}">
                    <a16:rowId xmlns:a16="http://schemas.microsoft.com/office/drawing/2014/main" val="3701087862"/>
                  </a:ext>
                </a:extLst>
              </a:tr>
              <a:tr h="560050">
                <a:tc>
                  <a:txBody>
                    <a:bodyPr/>
                    <a:lstStyle/>
                    <a:p>
                      <a:pPr>
                        <a:buNone/>
                      </a:pPr>
                      <a:r>
                        <a:rPr lang="en-US" sz="1500" b="1"/>
                        <a:t>P-C (Customer)</a:t>
                      </a:r>
                      <a:endParaRPr lang="en-US" sz="1500"/>
                    </a:p>
                  </a:txBody>
                  <a:tcPr marL="75682" marR="75682" marT="37841" marB="37841" anchor="ctr"/>
                </a:tc>
                <a:tc>
                  <a:txBody>
                    <a:bodyPr/>
                    <a:lstStyle/>
                    <a:p>
                      <a:pPr>
                        <a:buNone/>
                      </a:pPr>
                      <a:r>
                        <a:rPr lang="en-US" sz="1500"/>
                        <a:t>Low</a:t>
                      </a:r>
                    </a:p>
                  </a:txBody>
                  <a:tcPr marL="75682" marR="75682" marT="37841" marB="37841" anchor="ctr"/>
                </a:tc>
                <a:tc>
                  <a:txBody>
                    <a:bodyPr/>
                    <a:lstStyle/>
                    <a:p>
                      <a:pPr>
                        <a:buNone/>
                      </a:pPr>
                      <a:r>
                        <a:rPr lang="en-US" sz="1500" b="1"/>
                        <a:t>High</a:t>
                      </a:r>
                      <a:endParaRPr lang="en-US" sz="1500"/>
                    </a:p>
                  </a:txBody>
                  <a:tcPr marL="75682" marR="75682" marT="37841" marB="37841" anchor="ctr"/>
                </a:tc>
                <a:tc>
                  <a:txBody>
                    <a:bodyPr/>
                    <a:lstStyle/>
                    <a:p>
                      <a:pPr>
                        <a:buNone/>
                      </a:pPr>
                      <a:r>
                        <a:rPr lang="en-US" sz="1500"/>
                        <a:t>⭐⭐⭐⭐⭐ (Very Strong)</a:t>
                      </a:r>
                    </a:p>
                  </a:txBody>
                  <a:tcPr marL="75682" marR="75682" marT="37841" marB="37841" anchor="ctr"/>
                </a:tc>
                <a:tc>
                  <a:txBody>
                    <a:bodyPr/>
                    <a:lstStyle/>
                    <a:p>
                      <a:pPr>
                        <a:buNone/>
                      </a:pPr>
                      <a:r>
                        <a:rPr lang="en-US" sz="1500"/>
                        <a:t>Known/returning customers rarely cancel.</a:t>
                      </a:r>
                    </a:p>
                  </a:txBody>
                  <a:tcPr marL="75682" marR="75682" marT="37841" marB="37841" anchor="ctr"/>
                </a:tc>
                <a:extLst>
                  <a:ext uri="{0D108BD9-81ED-4DB2-BD59-A6C34878D82A}">
                    <a16:rowId xmlns:a16="http://schemas.microsoft.com/office/drawing/2014/main" val="3422487248"/>
                  </a:ext>
                </a:extLst>
              </a:tr>
              <a:tr h="560050">
                <a:tc>
                  <a:txBody>
                    <a:bodyPr/>
                    <a:lstStyle/>
                    <a:p>
                      <a:pPr>
                        <a:buNone/>
                      </a:pPr>
                      <a:r>
                        <a:rPr lang="en-US" sz="1500" b="1"/>
                        <a:t>Repeat Guest</a:t>
                      </a:r>
                      <a:endParaRPr lang="en-US" sz="1500"/>
                    </a:p>
                  </a:txBody>
                  <a:tcPr marL="75682" marR="75682" marT="37841" marB="37841" anchor="ctr"/>
                </a:tc>
                <a:tc>
                  <a:txBody>
                    <a:bodyPr/>
                    <a:lstStyle/>
                    <a:p>
                      <a:pPr>
                        <a:buNone/>
                      </a:pPr>
                      <a:r>
                        <a:rPr lang="en-US" sz="1500"/>
                        <a:t>Low</a:t>
                      </a:r>
                    </a:p>
                  </a:txBody>
                  <a:tcPr marL="75682" marR="75682" marT="37841" marB="37841" anchor="ctr"/>
                </a:tc>
                <a:tc>
                  <a:txBody>
                    <a:bodyPr/>
                    <a:lstStyle/>
                    <a:p>
                      <a:pPr>
                        <a:buNone/>
                      </a:pPr>
                      <a:r>
                        <a:rPr lang="en-US" sz="1500" b="1"/>
                        <a:t>High</a:t>
                      </a:r>
                      <a:endParaRPr lang="en-US" sz="1500"/>
                    </a:p>
                  </a:txBody>
                  <a:tcPr marL="75682" marR="75682" marT="37841" marB="37841" anchor="ctr"/>
                </a:tc>
                <a:tc>
                  <a:txBody>
                    <a:bodyPr/>
                    <a:lstStyle/>
                    <a:p>
                      <a:pPr>
                        <a:buNone/>
                      </a:pPr>
                      <a:r>
                        <a:rPr lang="en-US" sz="1500"/>
                        <a:t>⭐⭐⭐⭐</a:t>
                      </a:r>
                    </a:p>
                  </a:txBody>
                  <a:tcPr marL="75682" marR="75682" marT="37841" marB="37841" anchor="ctr"/>
                </a:tc>
                <a:tc>
                  <a:txBody>
                    <a:bodyPr/>
                    <a:lstStyle/>
                    <a:p>
                      <a:pPr>
                        <a:buNone/>
                      </a:pPr>
                      <a:r>
                        <a:rPr lang="en-US" sz="1500"/>
                        <a:t>Loyal guests tend to keep reservations.</a:t>
                      </a:r>
                    </a:p>
                  </a:txBody>
                  <a:tcPr marL="75682" marR="75682" marT="37841" marB="37841" anchor="ctr"/>
                </a:tc>
                <a:extLst>
                  <a:ext uri="{0D108BD9-81ED-4DB2-BD59-A6C34878D82A}">
                    <a16:rowId xmlns:a16="http://schemas.microsoft.com/office/drawing/2014/main" val="2090022520"/>
                  </a:ext>
                </a:extLst>
              </a:tr>
              <a:tr h="560050">
                <a:tc>
                  <a:txBody>
                    <a:bodyPr/>
                    <a:lstStyle/>
                    <a:p>
                      <a:pPr>
                        <a:buNone/>
                      </a:pPr>
                      <a:r>
                        <a:rPr lang="en-US" sz="1500" b="1"/>
                        <a:t>Special Requests</a:t>
                      </a:r>
                      <a:endParaRPr lang="en-US" sz="1500"/>
                    </a:p>
                  </a:txBody>
                  <a:tcPr marL="75682" marR="75682" marT="37841" marB="37841" anchor="ctr"/>
                </a:tc>
                <a:tc>
                  <a:txBody>
                    <a:bodyPr/>
                    <a:lstStyle/>
                    <a:p>
                      <a:pPr>
                        <a:buNone/>
                      </a:pPr>
                      <a:r>
                        <a:rPr lang="en-US" sz="1500"/>
                        <a:t>Low</a:t>
                      </a:r>
                    </a:p>
                  </a:txBody>
                  <a:tcPr marL="75682" marR="75682" marT="37841" marB="37841" anchor="ctr"/>
                </a:tc>
                <a:tc>
                  <a:txBody>
                    <a:bodyPr/>
                    <a:lstStyle/>
                    <a:p>
                      <a:pPr>
                        <a:buNone/>
                      </a:pPr>
                      <a:r>
                        <a:rPr lang="en-US" sz="1500" b="1"/>
                        <a:t>High</a:t>
                      </a:r>
                      <a:endParaRPr lang="en-US" sz="1500"/>
                    </a:p>
                  </a:txBody>
                  <a:tcPr marL="75682" marR="75682" marT="37841" marB="37841" anchor="ctr"/>
                </a:tc>
                <a:tc>
                  <a:txBody>
                    <a:bodyPr/>
                    <a:lstStyle/>
                    <a:p>
                      <a:pPr>
                        <a:buNone/>
                      </a:pPr>
                      <a:r>
                        <a:rPr lang="en-US" sz="1500"/>
                        <a:t>⭐⭐⭐⭐</a:t>
                      </a:r>
                    </a:p>
                  </a:txBody>
                  <a:tcPr marL="75682" marR="75682" marT="37841" marB="37841" anchor="ctr"/>
                </a:tc>
                <a:tc>
                  <a:txBody>
                    <a:bodyPr/>
                    <a:lstStyle/>
                    <a:p>
                      <a:pPr>
                        <a:buNone/>
                      </a:pPr>
                      <a:r>
                        <a:rPr lang="en-US" sz="1500"/>
                        <a:t>More invested guests cancel less.</a:t>
                      </a:r>
                    </a:p>
                  </a:txBody>
                  <a:tcPr marL="75682" marR="75682" marT="37841" marB="37841" anchor="ctr"/>
                </a:tc>
                <a:extLst>
                  <a:ext uri="{0D108BD9-81ED-4DB2-BD59-A6C34878D82A}">
                    <a16:rowId xmlns:a16="http://schemas.microsoft.com/office/drawing/2014/main" val="177531150"/>
                  </a:ext>
                </a:extLst>
              </a:tr>
              <a:tr h="378412">
                <a:tc>
                  <a:txBody>
                    <a:bodyPr/>
                    <a:lstStyle/>
                    <a:p>
                      <a:endParaRPr lang="en-US" sz="1500"/>
                    </a:p>
                  </a:txBody>
                  <a:tcPr marL="75682" marR="75682" marT="37841" marB="37841"/>
                </a:tc>
                <a:tc>
                  <a:txBody>
                    <a:bodyPr/>
                    <a:lstStyle/>
                    <a:p>
                      <a:endParaRPr lang="en-US" sz="1500"/>
                    </a:p>
                  </a:txBody>
                  <a:tcPr marL="75682" marR="75682" marT="37841" marB="37841"/>
                </a:tc>
                <a:tc>
                  <a:txBody>
                    <a:bodyPr/>
                    <a:lstStyle/>
                    <a:p>
                      <a:endParaRPr lang="en-US" sz="1500"/>
                    </a:p>
                  </a:txBody>
                  <a:tcPr marL="75682" marR="75682" marT="37841" marB="37841"/>
                </a:tc>
                <a:tc>
                  <a:txBody>
                    <a:bodyPr/>
                    <a:lstStyle/>
                    <a:p>
                      <a:endParaRPr lang="en-US" sz="1500"/>
                    </a:p>
                  </a:txBody>
                  <a:tcPr marL="75682" marR="75682" marT="37841" marB="37841"/>
                </a:tc>
                <a:tc>
                  <a:txBody>
                    <a:bodyPr/>
                    <a:lstStyle/>
                    <a:p>
                      <a:endParaRPr lang="en-US" sz="1500"/>
                    </a:p>
                  </a:txBody>
                  <a:tcPr marL="75682" marR="75682" marT="37841" marB="37841"/>
                </a:tc>
                <a:extLst>
                  <a:ext uri="{0D108BD9-81ED-4DB2-BD59-A6C34878D82A}">
                    <a16:rowId xmlns:a16="http://schemas.microsoft.com/office/drawing/2014/main" val="3163183036"/>
                  </a:ext>
                </a:extLst>
              </a:tr>
            </a:tbl>
          </a:graphicData>
        </a:graphic>
      </p:graphicFrame>
    </p:spTree>
    <p:extLst>
      <p:ext uri="{BB962C8B-B14F-4D97-AF65-F5344CB8AC3E}">
        <p14:creationId xmlns:p14="http://schemas.microsoft.com/office/powerpoint/2010/main" val="34071237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6CF139-ADBE-B171-0582-8149F49838D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00014FA-8449-C0D1-5669-41EA04D32530}"/>
              </a:ext>
            </a:extLst>
          </p:cNvPr>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Table 1 — Feature Impact on Cancellations (ctd)</a:t>
            </a:r>
          </a:p>
        </p:txBody>
      </p:sp>
      <p:graphicFrame>
        <p:nvGraphicFramePr>
          <p:cNvPr id="10" name="Content Placeholder 9">
            <a:extLst>
              <a:ext uri="{FF2B5EF4-FFF2-40B4-BE49-F238E27FC236}">
                <a16:creationId xmlns:a16="http://schemas.microsoft.com/office/drawing/2014/main" id="{D1FBAFB1-1BBE-5282-29A3-E3E7F220E7C7}"/>
              </a:ext>
            </a:extLst>
          </p:cNvPr>
          <p:cNvGraphicFramePr>
            <a:graphicFrameLocks noGrp="1"/>
          </p:cNvGraphicFramePr>
          <p:nvPr>
            <p:ph idx="1"/>
            <p:extLst>
              <p:ext uri="{D42A27DB-BD31-4B8C-83A1-F6EECF244321}">
                <p14:modId xmlns:p14="http://schemas.microsoft.com/office/powerpoint/2010/main" val="809868895"/>
              </p:ext>
            </p:extLst>
          </p:nvPr>
        </p:nvGraphicFramePr>
        <p:xfrm>
          <a:off x="717306" y="2112579"/>
          <a:ext cx="7727346" cy="4192808"/>
        </p:xfrm>
        <a:graphic>
          <a:graphicData uri="http://schemas.openxmlformats.org/drawingml/2006/table">
            <a:tbl>
              <a:tblPr firstRow="1" bandRow="1">
                <a:tableStyleId>{5C22544A-7EE6-4342-B048-85BDC9FD1C3A}</a:tableStyleId>
              </a:tblPr>
              <a:tblGrid>
                <a:gridCol w="1550656">
                  <a:extLst>
                    <a:ext uri="{9D8B030D-6E8A-4147-A177-3AD203B41FA5}">
                      <a16:colId xmlns:a16="http://schemas.microsoft.com/office/drawing/2014/main" val="963629961"/>
                    </a:ext>
                  </a:extLst>
                </a:gridCol>
                <a:gridCol w="1636387">
                  <a:extLst>
                    <a:ext uri="{9D8B030D-6E8A-4147-A177-3AD203B41FA5}">
                      <a16:colId xmlns:a16="http://schemas.microsoft.com/office/drawing/2014/main" val="3985463727"/>
                    </a:ext>
                  </a:extLst>
                </a:gridCol>
                <a:gridCol w="1225093">
                  <a:extLst>
                    <a:ext uri="{9D8B030D-6E8A-4147-A177-3AD203B41FA5}">
                      <a16:colId xmlns:a16="http://schemas.microsoft.com/office/drawing/2014/main" val="1208673318"/>
                    </a:ext>
                  </a:extLst>
                </a:gridCol>
                <a:gridCol w="1579090">
                  <a:extLst>
                    <a:ext uri="{9D8B030D-6E8A-4147-A177-3AD203B41FA5}">
                      <a16:colId xmlns:a16="http://schemas.microsoft.com/office/drawing/2014/main" val="3287137031"/>
                    </a:ext>
                  </a:extLst>
                </a:gridCol>
                <a:gridCol w="1736120">
                  <a:extLst>
                    <a:ext uri="{9D8B030D-6E8A-4147-A177-3AD203B41FA5}">
                      <a16:colId xmlns:a16="http://schemas.microsoft.com/office/drawing/2014/main" val="526539530"/>
                    </a:ext>
                  </a:extLst>
                </a:gridCol>
              </a:tblGrid>
              <a:tr h="524101">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Feature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Canceled Bookings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Not-Canceled Bookings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Strength of Impact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Interpretation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extLst>
                  <a:ext uri="{0D108BD9-81ED-4DB2-BD59-A6C34878D82A}">
                    <a16:rowId xmlns:a16="http://schemas.microsoft.com/office/drawing/2014/main" val="4158880596"/>
                  </a:ext>
                </a:extLst>
              </a:tr>
              <a:tr h="760718">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Car Parking Space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Very Low</a:t>
                      </a:r>
                    </a:p>
                  </a:txBody>
                  <a:tcPr marL="10716" marR="10716" marT="10716" marB="10716" anchor="ctr"/>
                </a:tc>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High</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Parking reservation = strong commitment signal.</a:t>
                      </a:r>
                    </a:p>
                  </a:txBody>
                  <a:tcPr marL="10716" marR="10716" marT="10716" marB="10716" anchor="ctr"/>
                </a:tc>
                <a:extLst>
                  <a:ext uri="{0D108BD9-81ED-4DB2-BD59-A6C34878D82A}">
                    <a16:rowId xmlns:a16="http://schemas.microsoft.com/office/drawing/2014/main" val="93620659"/>
                  </a:ext>
                </a:extLst>
              </a:tr>
              <a:tr h="760718">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Average Price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Price does not drive cancellation in this dataset.</a:t>
                      </a:r>
                    </a:p>
                  </a:txBody>
                  <a:tcPr marL="10716" marR="10716" marT="10716" marB="10716" anchor="ctr"/>
                </a:tc>
                <a:extLst>
                  <a:ext uri="{0D108BD9-81ED-4DB2-BD59-A6C34878D82A}">
                    <a16:rowId xmlns:a16="http://schemas.microsoft.com/office/drawing/2014/main" val="487533923"/>
                  </a:ext>
                </a:extLst>
              </a:tr>
              <a:tr h="524101">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Week Nights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Slightly Higher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Slightly Lower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Very small difference; weak predictor.</a:t>
                      </a:r>
                    </a:p>
                  </a:txBody>
                  <a:tcPr marL="10716" marR="10716" marT="10716" marB="10716" anchor="ctr"/>
                </a:tc>
                <a:extLst>
                  <a:ext uri="{0D108BD9-81ED-4DB2-BD59-A6C34878D82A}">
                    <a16:rowId xmlns:a16="http://schemas.microsoft.com/office/drawing/2014/main" val="6340572"/>
                  </a:ext>
                </a:extLst>
              </a:tr>
              <a:tr h="524101">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Weekend Nights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Not a meaningful contributor.</a:t>
                      </a:r>
                    </a:p>
                  </a:txBody>
                  <a:tcPr marL="10716" marR="10716" marT="10716" marB="10716" anchor="ctr"/>
                </a:tc>
                <a:extLst>
                  <a:ext uri="{0D108BD9-81ED-4DB2-BD59-A6C34878D82A}">
                    <a16:rowId xmlns:a16="http://schemas.microsoft.com/office/drawing/2014/main" val="1555917166"/>
                  </a:ext>
                </a:extLst>
              </a:tr>
              <a:tr h="287484">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Adults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No significant effect.</a:t>
                      </a:r>
                    </a:p>
                  </a:txBody>
                  <a:tcPr marL="10716" marR="10716" marT="10716" marB="10716" anchor="ctr"/>
                </a:tc>
                <a:extLst>
                  <a:ext uri="{0D108BD9-81ED-4DB2-BD59-A6C34878D82A}">
                    <a16:rowId xmlns:a16="http://schemas.microsoft.com/office/drawing/2014/main" val="1573042207"/>
                  </a:ext>
                </a:extLst>
              </a:tr>
              <a:tr h="287484">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Children</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Slightly Higher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Slightly Lower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Minimal impact.</a:t>
                      </a:r>
                    </a:p>
                  </a:txBody>
                  <a:tcPr marL="10716" marR="10716" marT="10716" marB="10716" anchor="ctr"/>
                </a:tc>
                <a:extLst>
                  <a:ext uri="{0D108BD9-81ED-4DB2-BD59-A6C34878D82A}">
                    <a16:rowId xmlns:a16="http://schemas.microsoft.com/office/drawing/2014/main" val="2445680558"/>
                  </a:ext>
                </a:extLst>
              </a:tr>
              <a:tr h="524101">
                <a:tc>
                  <a:txBody>
                    <a:bodyPr/>
                    <a:lstStyle/>
                    <a:p>
                      <a:pPr marL="0" marR="0">
                        <a:lnSpc>
                          <a:spcPct val="115000"/>
                        </a:lnSpc>
                        <a:spcAft>
                          <a:spcPts val="800"/>
                        </a:spcAft>
                        <a:buNone/>
                      </a:pPr>
                      <a:r>
                        <a:rPr lang="en-US" sz="1400" b="1" kern="100">
                          <a:effectLst/>
                          <a:latin typeface="Aptos" panose="020B0004020202020204" pitchFamily="34" charset="0"/>
                          <a:ea typeface="Aptos" panose="020B0004020202020204" pitchFamily="34" charset="0"/>
                          <a:cs typeface="Times New Roman" panose="02020603050405020304" pitchFamily="18" charset="0"/>
                        </a:rPr>
                        <a:t>Booking Year</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Similar</a:t>
                      </a:r>
                    </a:p>
                  </a:txBody>
                  <a:tcPr marL="10716" marR="10716" marT="10716" marB="10716" anchor="ctr"/>
                </a:tc>
                <a:tc>
                  <a:txBody>
                    <a:bodyPr/>
                    <a:lstStyle/>
                    <a:p>
                      <a:pPr marL="0" marR="0">
                        <a:lnSpc>
                          <a:spcPct val="115000"/>
                        </a:lnSpc>
                        <a:spcAft>
                          <a:spcPts val="800"/>
                        </a:spcAft>
                        <a:buNone/>
                      </a:pPr>
                      <a:r>
                        <a:rPr lang="en-US" sz="1400" kern="100">
                          <a:effectLst/>
                          <a:latin typeface="Segoe UI Emoji" panose="020B0502040204020203" pitchFamily="34" charset="0"/>
                          <a:ea typeface="Aptos" panose="020B0004020202020204" pitchFamily="34" charset="0"/>
                          <a:cs typeface="Segoe UI Emoji" panose="020B0502040204020203" pitchFamily="34" charset="0"/>
                        </a:rPr>
                        <a: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10716" marR="10716" marT="10716" marB="10716" anchor="ctr"/>
                </a:tc>
                <a:tc>
                  <a:txBody>
                    <a:bodyPr/>
                    <a:lstStyle/>
                    <a:p>
                      <a:pPr marL="0" marR="0">
                        <a:lnSpc>
                          <a:spcPct val="115000"/>
                        </a:lnSpc>
                        <a:spcAft>
                          <a:spcPts val="800"/>
                        </a:spcAft>
                        <a:buNone/>
                      </a:pPr>
                      <a:r>
                        <a:rPr lang="en-US" sz="1400" kern="100">
                          <a:effectLst/>
                          <a:latin typeface="Aptos" panose="020B0004020202020204" pitchFamily="34" charset="0"/>
                          <a:ea typeface="Aptos" panose="020B0004020202020204" pitchFamily="34" charset="0"/>
                          <a:cs typeface="Times New Roman" panose="02020603050405020304" pitchFamily="18" charset="0"/>
                        </a:rPr>
                        <a:t>No clear trend across years.</a:t>
                      </a:r>
                    </a:p>
                  </a:txBody>
                  <a:tcPr marL="10716" marR="10716" marT="10716" marB="10716" anchor="ctr"/>
                </a:tc>
                <a:extLst>
                  <a:ext uri="{0D108BD9-81ED-4DB2-BD59-A6C34878D82A}">
                    <a16:rowId xmlns:a16="http://schemas.microsoft.com/office/drawing/2014/main" val="4132809981"/>
                  </a:ext>
                </a:extLst>
              </a:tr>
            </a:tbl>
          </a:graphicData>
        </a:graphic>
      </p:graphicFrame>
    </p:spTree>
    <p:extLst>
      <p:ext uri="{BB962C8B-B14F-4D97-AF65-F5344CB8AC3E}">
        <p14:creationId xmlns:p14="http://schemas.microsoft.com/office/powerpoint/2010/main" val="12502403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83D20-3875-D06B-AA76-9C3D7AC4479E}"/>
              </a:ext>
            </a:extLst>
          </p:cNvPr>
          <p:cNvSpPr>
            <a:spLocks noGrp="1"/>
          </p:cNvSpPr>
          <p:nvPr>
            <p:ph type="title"/>
          </p:nvPr>
        </p:nvSpPr>
        <p:spPr/>
        <p:txBody>
          <a:bodyPr>
            <a:normAutofit/>
          </a:bodyPr>
          <a:lstStyle/>
          <a:p>
            <a:r>
              <a:rPr lang="en-US" sz="3200" dirty="0"/>
              <a:t>Table 2 — Highest-Risk vs. Lowest-Risk Booking Profiles</a:t>
            </a:r>
          </a:p>
        </p:txBody>
      </p:sp>
      <p:sp>
        <p:nvSpPr>
          <p:cNvPr id="3" name="Text Placeholder 2">
            <a:extLst>
              <a:ext uri="{FF2B5EF4-FFF2-40B4-BE49-F238E27FC236}">
                <a16:creationId xmlns:a16="http://schemas.microsoft.com/office/drawing/2014/main" id="{9CBE49E6-ABCC-37D5-3D25-A7860DC04FBC}"/>
              </a:ext>
            </a:extLst>
          </p:cNvPr>
          <p:cNvSpPr>
            <a:spLocks noGrp="1"/>
          </p:cNvSpPr>
          <p:nvPr>
            <p:ph type="body" idx="1"/>
          </p:nvPr>
        </p:nvSpPr>
        <p:spPr/>
        <p:txBody>
          <a:bodyPr/>
          <a:lstStyle/>
          <a:p>
            <a:r>
              <a:rPr lang="en-US" dirty="0"/>
              <a:t>High Cancellation Risk Profile</a:t>
            </a:r>
          </a:p>
        </p:txBody>
      </p:sp>
      <p:graphicFrame>
        <p:nvGraphicFramePr>
          <p:cNvPr id="7" name="Content Placeholder 6">
            <a:extLst>
              <a:ext uri="{FF2B5EF4-FFF2-40B4-BE49-F238E27FC236}">
                <a16:creationId xmlns:a16="http://schemas.microsoft.com/office/drawing/2014/main" id="{FD5E1B8C-13C6-50FF-95B9-7F36B5805F2E}"/>
              </a:ext>
            </a:extLst>
          </p:cNvPr>
          <p:cNvGraphicFramePr>
            <a:graphicFrameLocks noGrp="1"/>
          </p:cNvGraphicFramePr>
          <p:nvPr>
            <p:ph sz="half" idx="2"/>
            <p:extLst>
              <p:ext uri="{D42A27DB-BD31-4B8C-83A1-F6EECF244321}">
                <p14:modId xmlns:p14="http://schemas.microsoft.com/office/powerpoint/2010/main" val="1547893245"/>
              </p:ext>
            </p:extLst>
          </p:nvPr>
        </p:nvGraphicFramePr>
        <p:xfrm>
          <a:off x="457200" y="2174875"/>
          <a:ext cx="4040188" cy="3845561"/>
        </p:xfrm>
        <a:graphic>
          <a:graphicData uri="http://schemas.openxmlformats.org/drawingml/2006/table">
            <a:tbl>
              <a:tblPr firstRow="1" bandRow="1">
                <a:tableStyleId>{5C22544A-7EE6-4342-B048-85BDC9FD1C3A}</a:tableStyleId>
              </a:tblPr>
              <a:tblGrid>
                <a:gridCol w="2020094">
                  <a:extLst>
                    <a:ext uri="{9D8B030D-6E8A-4147-A177-3AD203B41FA5}">
                      <a16:colId xmlns:a16="http://schemas.microsoft.com/office/drawing/2014/main" val="3355564130"/>
                    </a:ext>
                  </a:extLst>
                </a:gridCol>
                <a:gridCol w="2020094">
                  <a:extLst>
                    <a:ext uri="{9D8B030D-6E8A-4147-A177-3AD203B41FA5}">
                      <a16:colId xmlns:a16="http://schemas.microsoft.com/office/drawing/2014/main" val="3357926052"/>
                    </a:ext>
                  </a:extLst>
                </a:gridCol>
              </a:tblGrid>
              <a:tr h="399326">
                <a:tc>
                  <a:txBody>
                    <a:bodyPr/>
                    <a:lstStyle/>
                    <a:p>
                      <a:pPr>
                        <a:buNone/>
                      </a:pPr>
                      <a:r>
                        <a:rPr lang="en-US" dirty="0"/>
                        <a:t>Risk Factor</a:t>
                      </a:r>
                    </a:p>
                  </a:txBody>
                  <a:tcPr anchor="ctr"/>
                </a:tc>
                <a:tc>
                  <a:txBody>
                    <a:bodyPr/>
                    <a:lstStyle/>
                    <a:p>
                      <a:pPr>
                        <a:buNone/>
                      </a:pPr>
                      <a:r>
                        <a:rPr lang="en-US"/>
                        <a:t>Description</a:t>
                      </a:r>
                    </a:p>
                  </a:txBody>
                  <a:tcPr anchor="ctr"/>
                </a:tc>
                <a:extLst>
                  <a:ext uri="{0D108BD9-81ED-4DB2-BD59-A6C34878D82A}">
                    <a16:rowId xmlns:a16="http://schemas.microsoft.com/office/drawing/2014/main" val="226946541"/>
                  </a:ext>
                </a:extLst>
              </a:tr>
              <a:tr h="689247">
                <a:tc>
                  <a:txBody>
                    <a:bodyPr/>
                    <a:lstStyle/>
                    <a:p>
                      <a:pPr>
                        <a:buNone/>
                      </a:pPr>
                      <a:r>
                        <a:rPr lang="en-US" b="1"/>
                        <a:t>P-not-C = 1</a:t>
                      </a:r>
                      <a:endParaRPr lang="en-US"/>
                    </a:p>
                  </a:txBody>
                  <a:tcPr anchor="ctr"/>
                </a:tc>
                <a:tc>
                  <a:txBody>
                    <a:bodyPr/>
                    <a:lstStyle/>
                    <a:p>
                      <a:pPr>
                        <a:buNone/>
                      </a:pPr>
                      <a:r>
                        <a:rPr lang="en-US"/>
                        <a:t>Unknown / first-time customer</a:t>
                      </a:r>
                    </a:p>
                  </a:txBody>
                  <a:tcPr anchor="ctr"/>
                </a:tc>
                <a:extLst>
                  <a:ext uri="{0D108BD9-81ED-4DB2-BD59-A6C34878D82A}">
                    <a16:rowId xmlns:a16="http://schemas.microsoft.com/office/drawing/2014/main" val="4180549323"/>
                  </a:ext>
                </a:extLst>
              </a:tr>
              <a:tr h="689247">
                <a:tc>
                  <a:txBody>
                    <a:bodyPr/>
                    <a:lstStyle/>
                    <a:p>
                      <a:pPr>
                        <a:buNone/>
                      </a:pPr>
                      <a:r>
                        <a:rPr lang="en-US" b="1"/>
                        <a:t>High Lead Time</a:t>
                      </a:r>
                      <a:endParaRPr lang="en-US"/>
                    </a:p>
                  </a:txBody>
                  <a:tcPr anchor="ctr"/>
                </a:tc>
                <a:tc>
                  <a:txBody>
                    <a:bodyPr/>
                    <a:lstStyle/>
                    <a:p>
                      <a:pPr>
                        <a:buNone/>
                      </a:pPr>
                      <a:r>
                        <a:rPr lang="en-US"/>
                        <a:t>Booked far in advance</a:t>
                      </a:r>
                    </a:p>
                  </a:txBody>
                  <a:tcPr anchor="ctr"/>
                </a:tc>
                <a:extLst>
                  <a:ext uri="{0D108BD9-81ED-4DB2-BD59-A6C34878D82A}">
                    <a16:rowId xmlns:a16="http://schemas.microsoft.com/office/drawing/2014/main" val="2282001865"/>
                  </a:ext>
                </a:extLst>
              </a:tr>
              <a:tr h="689247">
                <a:tc>
                  <a:txBody>
                    <a:bodyPr/>
                    <a:lstStyle/>
                    <a:p>
                      <a:pPr>
                        <a:buNone/>
                      </a:pPr>
                      <a:r>
                        <a:rPr lang="en-US" b="1"/>
                        <a:t>No Special Requests</a:t>
                      </a:r>
                      <a:endParaRPr lang="en-US"/>
                    </a:p>
                  </a:txBody>
                  <a:tcPr anchor="ctr"/>
                </a:tc>
                <a:tc>
                  <a:txBody>
                    <a:bodyPr/>
                    <a:lstStyle/>
                    <a:p>
                      <a:pPr>
                        <a:buNone/>
                      </a:pPr>
                      <a:r>
                        <a:rPr lang="en-US"/>
                        <a:t>Low engagement</a:t>
                      </a:r>
                    </a:p>
                  </a:txBody>
                  <a:tcPr anchor="ctr"/>
                </a:tc>
                <a:extLst>
                  <a:ext uri="{0D108BD9-81ED-4DB2-BD59-A6C34878D82A}">
                    <a16:rowId xmlns:a16="http://schemas.microsoft.com/office/drawing/2014/main" val="2179147672"/>
                  </a:ext>
                </a:extLst>
              </a:tr>
              <a:tr h="689247">
                <a:tc>
                  <a:txBody>
                    <a:bodyPr/>
                    <a:lstStyle/>
                    <a:p>
                      <a:pPr>
                        <a:buNone/>
                      </a:pPr>
                      <a:r>
                        <a:rPr lang="en-US" b="1"/>
                        <a:t>No Parking Reservation</a:t>
                      </a:r>
                      <a:endParaRPr lang="en-US"/>
                    </a:p>
                  </a:txBody>
                  <a:tcPr anchor="ctr"/>
                </a:tc>
                <a:tc>
                  <a:txBody>
                    <a:bodyPr/>
                    <a:lstStyle/>
                    <a:p>
                      <a:pPr>
                        <a:buNone/>
                      </a:pPr>
                      <a:r>
                        <a:rPr lang="en-US"/>
                        <a:t>No strong intent to stay</a:t>
                      </a:r>
                    </a:p>
                  </a:txBody>
                  <a:tcPr anchor="ctr"/>
                </a:tc>
                <a:extLst>
                  <a:ext uri="{0D108BD9-81ED-4DB2-BD59-A6C34878D82A}">
                    <a16:rowId xmlns:a16="http://schemas.microsoft.com/office/drawing/2014/main" val="1725328952"/>
                  </a:ext>
                </a:extLst>
              </a:tr>
              <a:tr h="689247">
                <a:tc>
                  <a:txBody>
                    <a:bodyPr/>
                    <a:lstStyle/>
                    <a:p>
                      <a:pPr>
                        <a:buNone/>
                      </a:pPr>
                      <a:r>
                        <a:rPr lang="en-US" b="1"/>
                        <a:t>Not a Repeat Guest</a:t>
                      </a:r>
                      <a:endParaRPr lang="en-US"/>
                    </a:p>
                  </a:txBody>
                  <a:tcPr anchor="ctr"/>
                </a:tc>
                <a:tc>
                  <a:txBody>
                    <a:bodyPr/>
                    <a:lstStyle/>
                    <a:p>
                      <a:pPr>
                        <a:buNone/>
                      </a:pPr>
                      <a:r>
                        <a:rPr lang="en-US" dirty="0"/>
                        <a:t>No loyalty history</a:t>
                      </a:r>
                    </a:p>
                  </a:txBody>
                  <a:tcPr anchor="ctr"/>
                </a:tc>
                <a:extLst>
                  <a:ext uri="{0D108BD9-81ED-4DB2-BD59-A6C34878D82A}">
                    <a16:rowId xmlns:a16="http://schemas.microsoft.com/office/drawing/2014/main" val="3438315023"/>
                  </a:ext>
                </a:extLst>
              </a:tr>
            </a:tbl>
          </a:graphicData>
        </a:graphic>
      </p:graphicFrame>
      <p:sp>
        <p:nvSpPr>
          <p:cNvPr id="5" name="Text Placeholder 4">
            <a:extLst>
              <a:ext uri="{FF2B5EF4-FFF2-40B4-BE49-F238E27FC236}">
                <a16:creationId xmlns:a16="http://schemas.microsoft.com/office/drawing/2014/main" id="{C3420CCB-2AD6-0454-81A3-FDEBC88C0B5A}"/>
              </a:ext>
            </a:extLst>
          </p:cNvPr>
          <p:cNvSpPr>
            <a:spLocks noGrp="1"/>
          </p:cNvSpPr>
          <p:nvPr>
            <p:ph type="body" sz="quarter" idx="3"/>
          </p:nvPr>
        </p:nvSpPr>
        <p:spPr/>
        <p:txBody>
          <a:bodyPr/>
          <a:lstStyle/>
          <a:p>
            <a:r>
              <a:rPr lang="en-US" dirty="0"/>
              <a:t>Low Cancellation Risk Profile</a:t>
            </a:r>
          </a:p>
        </p:txBody>
      </p:sp>
      <p:graphicFrame>
        <p:nvGraphicFramePr>
          <p:cNvPr id="8" name="Content Placeholder 7">
            <a:extLst>
              <a:ext uri="{FF2B5EF4-FFF2-40B4-BE49-F238E27FC236}">
                <a16:creationId xmlns:a16="http://schemas.microsoft.com/office/drawing/2014/main" id="{3821BB7B-4D72-D0DF-78F7-05EF571ABCD6}"/>
              </a:ext>
            </a:extLst>
          </p:cNvPr>
          <p:cNvGraphicFramePr>
            <a:graphicFrameLocks noGrp="1"/>
          </p:cNvGraphicFramePr>
          <p:nvPr>
            <p:ph sz="quarter" idx="4"/>
            <p:extLst>
              <p:ext uri="{D42A27DB-BD31-4B8C-83A1-F6EECF244321}">
                <p14:modId xmlns:p14="http://schemas.microsoft.com/office/powerpoint/2010/main" val="1099001660"/>
              </p:ext>
            </p:extLst>
          </p:nvPr>
        </p:nvGraphicFramePr>
        <p:xfrm>
          <a:off x="4645025" y="2174875"/>
          <a:ext cx="4041774" cy="3845560"/>
        </p:xfrm>
        <a:graphic>
          <a:graphicData uri="http://schemas.openxmlformats.org/drawingml/2006/table">
            <a:tbl>
              <a:tblPr firstRow="1" bandRow="1">
                <a:tableStyleId>{5C22544A-7EE6-4342-B048-85BDC9FD1C3A}</a:tableStyleId>
              </a:tblPr>
              <a:tblGrid>
                <a:gridCol w="2020887">
                  <a:extLst>
                    <a:ext uri="{9D8B030D-6E8A-4147-A177-3AD203B41FA5}">
                      <a16:colId xmlns:a16="http://schemas.microsoft.com/office/drawing/2014/main" val="2225725118"/>
                    </a:ext>
                  </a:extLst>
                </a:gridCol>
                <a:gridCol w="2020887">
                  <a:extLst>
                    <a:ext uri="{9D8B030D-6E8A-4147-A177-3AD203B41FA5}">
                      <a16:colId xmlns:a16="http://schemas.microsoft.com/office/drawing/2014/main" val="1918586927"/>
                    </a:ext>
                  </a:extLst>
                </a:gridCol>
              </a:tblGrid>
              <a:tr h="370840">
                <a:tc>
                  <a:txBody>
                    <a:bodyPr/>
                    <a:lstStyle/>
                    <a:p>
                      <a:pPr>
                        <a:buNone/>
                      </a:pPr>
                      <a:r>
                        <a:rPr lang="en-US" dirty="0"/>
                        <a:t>Protective Factor</a:t>
                      </a:r>
                    </a:p>
                  </a:txBody>
                  <a:tcPr anchor="ctr"/>
                </a:tc>
                <a:tc>
                  <a:txBody>
                    <a:bodyPr/>
                    <a:lstStyle/>
                    <a:p>
                      <a:pPr>
                        <a:buNone/>
                      </a:pPr>
                      <a:r>
                        <a:rPr lang="en-US"/>
                        <a:t>Description</a:t>
                      </a:r>
                    </a:p>
                  </a:txBody>
                  <a:tcPr anchor="ctr"/>
                </a:tc>
                <a:extLst>
                  <a:ext uri="{0D108BD9-81ED-4DB2-BD59-A6C34878D82A}">
                    <a16:rowId xmlns:a16="http://schemas.microsoft.com/office/drawing/2014/main" val="392805049"/>
                  </a:ext>
                </a:extLst>
              </a:tr>
              <a:tr h="370840">
                <a:tc>
                  <a:txBody>
                    <a:bodyPr/>
                    <a:lstStyle/>
                    <a:p>
                      <a:pPr>
                        <a:buNone/>
                      </a:pPr>
                      <a:r>
                        <a:rPr lang="en-US" b="1"/>
                        <a:t>P-C = 1</a:t>
                      </a:r>
                      <a:endParaRPr lang="en-US"/>
                    </a:p>
                  </a:txBody>
                  <a:tcPr anchor="ctr"/>
                </a:tc>
                <a:tc>
                  <a:txBody>
                    <a:bodyPr/>
                    <a:lstStyle/>
                    <a:p>
                      <a:pPr>
                        <a:buNone/>
                      </a:pPr>
                      <a:r>
                        <a:rPr lang="en-US"/>
                        <a:t>Known / returning customer</a:t>
                      </a:r>
                    </a:p>
                  </a:txBody>
                  <a:tcPr anchor="ctr"/>
                </a:tc>
                <a:extLst>
                  <a:ext uri="{0D108BD9-81ED-4DB2-BD59-A6C34878D82A}">
                    <a16:rowId xmlns:a16="http://schemas.microsoft.com/office/drawing/2014/main" val="2096863338"/>
                  </a:ext>
                </a:extLst>
              </a:tr>
              <a:tr h="370840">
                <a:tc>
                  <a:txBody>
                    <a:bodyPr/>
                    <a:lstStyle/>
                    <a:p>
                      <a:pPr>
                        <a:buNone/>
                      </a:pPr>
                      <a:r>
                        <a:rPr lang="en-US" b="1"/>
                        <a:t>Short Lead Time</a:t>
                      </a:r>
                      <a:endParaRPr lang="en-US"/>
                    </a:p>
                  </a:txBody>
                  <a:tcPr anchor="ctr"/>
                </a:tc>
                <a:tc>
                  <a:txBody>
                    <a:bodyPr/>
                    <a:lstStyle/>
                    <a:p>
                      <a:pPr>
                        <a:buNone/>
                      </a:pPr>
                      <a:r>
                        <a:rPr lang="en-US"/>
                        <a:t>Closer to arrival date</a:t>
                      </a:r>
                    </a:p>
                  </a:txBody>
                  <a:tcPr anchor="ctr"/>
                </a:tc>
                <a:extLst>
                  <a:ext uri="{0D108BD9-81ED-4DB2-BD59-A6C34878D82A}">
                    <a16:rowId xmlns:a16="http://schemas.microsoft.com/office/drawing/2014/main" val="335662704"/>
                  </a:ext>
                </a:extLst>
              </a:tr>
              <a:tr h="370840">
                <a:tc>
                  <a:txBody>
                    <a:bodyPr/>
                    <a:lstStyle/>
                    <a:p>
                      <a:pPr>
                        <a:buNone/>
                      </a:pPr>
                      <a:r>
                        <a:rPr lang="en-US" b="1"/>
                        <a:t>Multiple Special Requests</a:t>
                      </a:r>
                      <a:endParaRPr lang="en-US"/>
                    </a:p>
                  </a:txBody>
                  <a:tcPr anchor="ctr"/>
                </a:tc>
                <a:tc>
                  <a:txBody>
                    <a:bodyPr/>
                    <a:lstStyle/>
                    <a:p>
                      <a:pPr>
                        <a:buNone/>
                      </a:pPr>
                      <a:r>
                        <a:rPr lang="en-US"/>
                        <a:t>Strong planning involvement</a:t>
                      </a:r>
                    </a:p>
                  </a:txBody>
                  <a:tcPr anchor="ctr"/>
                </a:tc>
                <a:extLst>
                  <a:ext uri="{0D108BD9-81ED-4DB2-BD59-A6C34878D82A}">
                    <a16:rowId xmlns:a16="http://schemas.microsoft.com/office/drawing/2014/main" val="2550602819"/>
                  </a:ext>
                </a:extLst>
              </a:tr>
              <a:tr h="370840">
                <a:tc>
                  <a:txBody>
                    <a:bodyPr/>
                    <a:lstStyle/>
                    <a:p>
                      <a:pPr>
                        <a:buNone/>
                      </a:pPr>
                      <a:r>
                        <a:rPr lang="en-US" b="1"/>
                        <a:t>Has Parking Reservation</a:t>
                      </a:r>
                      <a:endParaRPr lang="en-US"/>
                    </a:p>
                  </a:txBody>
                  <a:tcPr anchor="ctr"/>
                </a:tc>
                <a:tc>
                  <a:txBody>
                    <a:bodyPr/>
                    <a:lstStyle/>
                    <a:p>
                      <a:pPr>
                        <a:buNone/>
                      </a:pPr>
                      <a:r>
                        <a:rPr lang="en-US"/>
                        <a:t>Indicates high commitment</a:t>
                      </a:r>
                    </a:p>
                  </a:txBody>
                  <a:tcPr anchor="ctr"/>
                </a:tc>
                <a:extLst>
                  <a:ext uri="{0D108BD9-81ED-4DB2-BD59-A6C34878D82A}">
                    <a16:rowId xmlns:a16="http://schemas.microsoft.com/office/drawing/2014/main" val="783114238"/>
                  </a:ext>
                </a:extLst>
              </a:tr>
              <a:tr h="370840">
                <a:tc>
                  <a:txBody>
                    <a:bodyPr/>
                    <a:lstStyle/>
                    <a:p>
                      <a:pPr>
                        <a:buNone/>
                      </a:pPr>
                      <a:r>
                        <a:rPr lang="en-US" b="1" dirty="0"/>
                        <a:t>Repeat Guest</a:t>
                      </a:r>
                      <a:endParaRPr lang="en-US" dirty="0"/>
                    </a:p>
                  </a:txBody>
                  <a:tcPr anchor="ctr"/>
                </a:tc>
                <a:tc>
                  <a:txBody>
                    <a:bodyPr/>
                    <a:lstStyle/>
                    <a:p>
                      <a:pPr>
                        <a:buNone/>
                      </a:pPr>
                      <a:r>
                        <a:rPr lang="en-US" dirty="0"/>
                        <a:t>Very low cancellation likelihood</a:t>
                      </a:r>
                    </a:p>
                  </a:txBody>
                  <a:tcPr anchor="ctr"/>
                </a:tc>
                <a:extLst>
                  <a:ext uri="{0D108BD9-81ED-4DB2-BD59-A6C34878D82A}">
                    <a16:rowId xmlns:a16="http://schemas.microsoft.com/office/drawing/2014/main" val="4279364015"/>
                  </a:ext>
                </a:extLst>
              </a:tr>
            </a:tbl>
          </a:graphicData>
        </a:graphic>
      </p:graphicFrame>
    </p:spTree>
    <p:extLst>
      <p:ext uri="{BB962C8B-B14F-4D97-AF65-F5344CB8AC3E}">
        <p14:creationId xmlns:p14="http://schemas.microsoft.com/office/powerpoint/2010/main" val="41695994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7713E5-21D0-523F-EFBD-EE6B4FE466B2}"/>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Table 3 — Summary of Key Drivers</a:t>
            </a:r>
          </a:p>
        </p:txBody>
      </p:sp>
      <p:pic>
        <p:nvPicPr>
          <p:cNvPr id="13" name="Content Placeholder 12" descr="A screenshot of a survey&#10;&#10;AI-generated content may be incorrect.">
            <a:extLst>
              <a:ext uri="{FF2B5EF4-FFF2-40B4-BE49-F238E27FC236}">
                <a16:creationId xmlns:a16="http://schemas.microsoft.com/office/drawing/2014/main" id="{43AC0246-3877-C6D8-D1EF-ADE717AFE43D}"/>
              </a:ext>
            </a:extLst>
          </p:cNvPr>
          <p:cNvPicPr>
            <a:picLocks noChangeAspect="1"/>
          </p:cNvPicPr>
          <p:nvPr/>
        </p:nvPicPr>
        <p:blipFill>
          <a:blip r:embed="rId2"/>
          <a:stretch>
            <a:fillRect/>
          </a:stretch>
        </p:blipFill>
        <p:spPr>
          <a:xfrm>
            <a:off x="324168" y="2493240"/>
            <a:ext cx="8495662" cy="3398265"/>
          </a:xfrm>
          <a:prstGeom prst="rect">
            <a:avLst/>
          </a:prstGeom>
        </p:spPr>
      </p:pic>
    </p:spTree>
    <p:extLst>
      <p:ext uri="{BB962C8B-B14F-4D97-AF65-F5344CB8AC3E}">
        <p14:creationId xmlns:p14="http://schemas.microsoft.com/office/powerpoint/2010/main" val="3691871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85440-6E0A-86A3-A63D-94B1FA255737}"/>
              </a:ext>
            </a:extLst>
          </p:cNvPr>
          <p:cNvSpPr>
            <a:spLocks noGrp="1"/>
          </p:cNvSpPr>
          <p:nvPr>
            <p:ph type="title"/>
          </p:nvPr>
        </p:nvSpPr>
        <p:spPr>
          <a:xfrm>
            <a:off x="223070" y="106853"/>
            <a:ext cx="4128000" cy="556498"/>
          </a:xfrm>
        </p:spPr>
        <p:txBody>
          <a:bodyPr>
            <a:noAutofit/>
          </a:bodyPr>
          <a:lstStyle/>
          <a:p>
            <a:r>
              <a:rPr lang="en-US" sz="3600" dirty="0"/>
              <a:t>Correlation Analysis</a:t>
            </a:r>
          </a:p>
        </p:txBody>
      </p:sp>
      <p:pic>
        <p:nvPicPr>
          <p:cNvPr id="6" name="Content Placeholder 5">
            <a:extLst>
              <a:ext uri="{FF2B5EF4-FFF2-40B4-BE49-F238E27FC236}">
                <a16:creationId xmlns:a16="http://schemas.microsoft.com/office/drawing/2014/main" id="{B890A6C4-B3EA-9F8F-5994-B5CFFDD9E9B8}"/>
              </a:ext>
            </a:extLst>
          </p:cNvPr>
          <p:cNvPicPr>
            <a:picLocks noGrp="1" noChangeAspect="1"/>
          </p:cNvPicPr>
          <p:nvPr>
            <p:ph idx="1"/>
          </p:nvPr>
        </p:nvPicPr>
        <p:blipFill>
          <a:blip r:embed="rId2"/>
          <a:stretch>
            <a:fillRect/>
          </a:stretch>
        </p:blipFill>
        <p:spPr>
          <a:xfrm>
            <a:off x="897523" y="764610"/>
            <a:ext cx="7269173" cy="4681144"/>
          </a:xfrm>
        </p:spPr>
      </p:pic>
      <p:sp>
        <p:nvSpPr>
          <p:cNvPr id="4" name="Text Placeholder 3">
            <a:extLst>
              <a:ext uri="{FF2B5EF4-FFF2-40B4-BE49-F238E27FC236}">
                <a16:creationId xmlns:a16="http://schemas.microsoft.com/office/drawing/2014/main" id="{B8070CC7-02B8-9293-5262-50B0B28FD436}"/>
              </a:ext>
            </a:extLst>
          </p:cNvPr>
          <p:cNvSpPr>
            <a:spLocks noGrp="1"/>
          </p:cNvSpPr>
          <p:nvPr>
            <p:ph type="body" sz="half" idx="2"/>
          </p:nvPr>
        </p:nvSpPr>
        <p:spPr>
          <a:xfrm>
            <a:off x="457200" y="4716218"/>
            <a:ext cx="8149820" cy="2141782"/>
          </a:xfrm>
        </p:spPr>
        <p:txBody>
          <a:bodyPr>
            <a:normAutofit fontScale="92500" lnSpcReduction="20000"/>
          </a:bodyPr>
          <a:lstStyle/>
          <a:p>
            <a:endParaRPr lang="en-US" dirty="0"/>
          </a:p>
          <a:p>
            <a:endParaRPr lang="en-US" dirty="0"/>
          </a:p>
          <a:p>
            <a:endParaRPr lang="en-US" dirty="0"/>
          </a:p>
          <a:p>
            <a:endParaRPr lang="en-US" dirty="0"/>
          </a:p>
          <a:p>
            <a:endParaRPr lang="en-US" dirty="0"/>
          </a:p>
          <a:p>
            <a:pPr marL="285750" indent="-285750">
              <a:buFont typeface="Wingdings" panose="05000000000000000000" pitchFamily="2" charset="2"/>
              <a:buChar char="Ø"/>
            </a:pPr>
            <a:r>
              <a:rPr lang="en-US" dirty="0"/>
              <a:t>Lead time has the largest positive correlation with cancellation.</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Repeated guests tend to cancel less.</a:t>
            </a:r>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r>
              <a:rPr lang="en-US" dirty="0"/>
              <a:t>Special requests show slight negative correlation → guests with special needs are more committed.</a:t>
            </a:r>
          </a:p>
        </p:txBody>
      </p:sp>
    </p:spTree>
    <p:extLst>
      <p:ext uri="{BB962C8B-B14F-4D97-AF65-F5344CB8AC3E}">
        <p14:creationId xmlns:p14="http://schemas.microsoft.com/office/powerpoint/2010/main" val="35976920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82BF4-51A9-58D0-C303-AA0419B9B15F}"/>
              </a:ext>
            </a:extLst>
          </p:cNvPr>
          <p:cNvSpPr>
            <a:spLocks noGrp="1"/>
          </p:cNvSpPr>
          <p:nvPr>
            <p:ph type="title"/>
          </p:nvPr>
        </p:nvSpPr>
        <p:spPr>
          <a:xfrm>
            <a:off x="902126" y="-99713"/>
            <a:ext cx="7533060" cy="529298"/>
          </a:xfrm>
        </p:spPr>
        <p:txBody>
          <a:bodyPr>
            <a:normAutofit fontScale="90000"/>
          </a:bodyPr>
          <a:lstStyle/>
          <a:p>
            <a:br>
              <a:rPr lang="en-US" dirty="0"/>
            </a:br>
            <a:r>
              <a:rPr lang="en-US" sz="2700" dirty="0"/>
              <a:t>Categorical Features Compared Side-by-Side</a:t>
            </a:r>
            <a:br>
              <a:rPr lang="en-US" sz="3600" dirty="0"/>
            </a:br>
            <a:endParaRPr lang="en-US" sz="3600" dirty="0"/>
          </a:p>
        </p:txBody>
      </p:sp>
      <p:sp>
        <p:nvSpPr>
          <p:cNvPr id="7" name="Content Placeholder 6">
            <a:extLst>
              <a:ext uri="{FF2B5EF4-FFF2-40B4-BE49-F238E27FC236}">
                <a16:creationId xmlns:a16="http://schemas.microsoft.com/office/drawing/2014/main" id="{0C008EC9-3C45-3854-CE24-CBEDD66094F1}"/>
              </a:ext>
            </a:extLst>
          </p:cNvPr>
          <p:cNvSpPr>
            <a:spLocks noGrp="1"/>
          </p:cNvSpPr>
          <p:nvPr>
            <p:ph idx="1"/>
          </p:nvPr>
        </p:nvSpPr>
        <p:spPr/>
        <p:txBody>
          <a:bodyPr/>
          <a:lstStyle/>
          <a:p>
            <a:endParaRPr lang="en-US"/>
          </a:p>
        </p:txBody>
      </p:sp>
      <p:pic>
        <p:nvPicPr>
          <p:cNvPr id="9" name="Picture 8" descr="A group of different colored bars&#10;&#10;AI-generated content may be incorrect.">
            <a:extLst>
              <a:ext uri="{FF2B5EF4-FFF2-40B4-BE49-F238E27FC236}">
                <a16:creationId xmlns:a16="http://schemas.microsoft.com/office/drawing/2014/main" id="{AA9C0462-DD09-9257-E56D-44F9DE96B676}"/>
              </a:ext>
            </a:extLst>
          </p:cNvPr>
          <p:cNvPicPr>
            <a:picLocks noChangeAspect="1"/>
          </p:cNvPicPr>
          <p:nvPr/>
        </p:nvPicPr>
        <p:blipFill>
          <a:blip r:embed="rId2"/>
          <a:stretch>
            <a:fillRect/>
          </a:stretch>
        </p:blipFill>
        <p:spPr>
          <a:xfrm>
            <a:off x="96656" y="349805"/>
            <a:ext cx="9144000" cy="6773908"/>
          </a:xfrm>
          <a:prstGeom prst="rect">
            <a:avLst/>
          </a:prstGeom>
        </p:spPr>
      </p:pic>
    </p:spTree>
    <p:extLst>
      <p:ext uri="{BB962C8B-B14F-4D97-AF65-F5344CB8AC3E}">
        <p14:creationId xmlns:p14="http://schemas.microsoft.com/office/powerpoint/2010/main" val="768601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0BD31-25F6-DA41-8E60-F5BF7B6625C3}"/>
              </a:ext>
            </a:extLst>
          </p:cNvPr>
          <p:cNvSpPr>
            <a:spLocks noGrp="1"/>
          </p:cNvSpPr>
          <p:nvPr>
            <p:ph type="title"/>
          </p:nvPr>
        </p:nvSpPr>
        <p:spPr>
          <a:xfrm>
            <a:off x="840699" y="687480"/>
            <a:ext cx="5605629" cy="994172"/>
          </a:xfrm>
        </p:spPr>
        <p:txBody>
          <a:bodyPr>
            <a:normAutofit/>
          </a:bodyPr>
          <a:lstStyle/>
          <a:p>
            <a:pPr>
              <a:lnSpc>
                <a:spcPct val="90000"/>
              </a:lnSpc>
            </a:pPr>
            <a:br>
              <a:rPr lang="en-US" sz="2100" b="1"/>
            </a:br>
            <a:r>
              <a:rPr lang="en-US" sz="2100" b="1"/>
              <a:t>Key Insights from Categorical Distribution Plots</a:t>
            </a:r>
            <a:br>
              <a:rPr lang="en-US" sz="2100" b="1"/>
            </a:br>
            <a:endParaRPr lang="en-US" sz="2100"/>
          </a:p>
        </p:txBody>
      </p:sp>
      <p:sp>
        <p:nvSpPr>
          <p:cNvPr id="3" name="Content Placeholder 2">
            <a:extLst>
              <a:ext uri="{FF2B5EF4-FFF2-40B4-BE49-F238E27FC236}">
                <a16:creationId xmlns:a16="http://schemas.microsoft.com/office/drawing/2014/main" id="{F33EC357-9A09-1C49-35E1-856348CA3314}"/>
              </a:ext>
            </a:extLst>
          </p:cNvPr>
          <p:cNvSpPr>
            <a:spLocks noGrp="1"/>
          </p:cNvSpPr>
          <p:nvPr>
            <p:ph idx="1"/>
          </p:nvPr>
        </p:nvSpPr>
        <p:spPr>
          <a:xfrm>
            <a:off x="852321" y="2227943"/>
            <a:ext cx="5033221" cy="3788227"/>
          </a:xfrm>
        </p:spPr>
        <p:txBody>
          <a:bodyPr anchor="ctr">
            <a:normAutofit/>
          </a:bodyPr>
          <a:lstStyle/>
          <a:p>
            <a:pPr>
              <a:lnSpc>
                <a:spcPct val="90000"/>
              </a:lnSpc>
            </a:pPr>
            <a:r>
              <a:rPr lang="en-US" sz="1800" b="1" dirty="0"/>
              <a:t>Market Segment Influence</a:t>
            </a:r>
            <a:br>
              <a:rPr lang="en-US" sz="1800" dirty="0"/>
            </a:br>
            <a:r>
              <a:rPr lang="en-US" sz="1800" dirty="0"/>
              <a:t>Certain market segments dominate the booking volume, suggesting that customer acquisition is heavily driven by specific channels. These dominant segments are also likely to have distinct cancellation behaviors, making them important predictors in the model.</a:t>
            </a:r>
          </a:p>
          <a:p>
            <a:pPr marL="0" indent="0">
              <a:lnSpc>
                <a:spcPct val="90000"/>
              </a:lnSpc>
              <a:buNone/>
            </a:pPr>
            <a:endParaRPr lang="en-US" sz="1800" dirty="0"/>
          </a:p>
          <a:p>
            <a:pPr>
              <a:lnSpc>
                <a:spcPct val="90000"/>
              </a:lnSpc>
            </a:pPr>
            <a:r>
              <a:rPr lang="en-US" sz="1800" b="1" dirty="0"/>
              <a:t>Room Type Preferences</a:t>
            </a:r>
            <a:br>
              <a:rPr lang="en-US" sz="1800" dirty="0"/>
            </a:br>
            <a:r>
              <a:rPr lang="en-US" sz="1800" dirty="0"/>
              <a:t>A small number of room types account for the majority of bookings. This indicates customer preference concentration, which can help hotel management focus pricing and availability strategies on high-demand room categories.</a:t>
            </a:r>
          </a:p>
          <a:p>
            <a:pPr>
              <a:lnSpc>
                <a:spcPct val="90000"/>
              </a:lnSpc>
            </a:pPr>
            <a:endParaRPr lang="en-US" sz="1800" dirty="0"/>
          </a:p>
        </p:txBody>
      </p:sp>
      <p:sp>
        <p:nvSpPr>
          <p:cNvPr id="10" name="Rectangle 9">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2" name="Oval 11">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7" name="Graphic 6" descr="Store">
            <a:extLst>
              <a:ext uri="{FF2B5EF4-FFF2-40B4-BE49-F238E27FC236}">
                <a16:creationId xmlns:a16="http://schemas.microsoft.com/office/drawing/2014/main" id="{4318F1A9-09F7-7569-DE1D-2D10B6F2F48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786655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4" name="Rectangle 23">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Shape 31">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Rectangle 33">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099C7F-C55E-2DA8-5B9B-345B0A9B0A79}"/>
              </a:ext>
            </a:extLst>
          </p:cNvPr>
          <p:cNvSpPr>
            <a:spLocks noGrp="1"/>
          </p:cNvSpPr>
          <p:nvPr>
            <p:ph type="title"/>
          </p:nvPr>
        </p:nvSpPr>
        <p:spPr>
          <a:xfrm>
            <a:off x="350041" y="586855"/>
            <a:ext cx="2401025" cy="3387497"/>
          </a:xfrm>
        </p:spPr>
        <p:txBody>
          <a:bodyPr anchor="b">
            <a:normAutofit/>
          </a:bodyPr>
          <a:lstStyle/>
          <a:p>
            <a:pPr algn="r"/>
            <a:r>
              <a:rPr lang="en-US" sz="3500" b="1">
                <a:solidFill>
                  <a:srgbClr val="FFFFFF"/>
                </a:solidFill>
              </a:rPr>
              <a:t>Key Insights  ctd.</a:t>
            </a:r>
            <a:endParaRPr lang="en-US" sz="3500">
              <a:solidFill>
                <a:srgbClr val="FFFFFF"/>
              </a:solidFill>
            </a:endParaRPr>
          </a:p>
        </p:txBody>
      </p:sp>
      <p:sp>
        <p:nvSpPr>
          <p:cNvPr id="4" name="Rectangle 1">
            <a:extLst>
              <a:ext uri="{FF2B5EF4-FFF2-40B4-BE49-F238E27FC236}">
                <a16:creationId xmlns:a16="http://schemas.microsoft.com/office/drawing/2014/main" id="{A3A0DB53-E5E2-48A1-0ADF-8418EF901855}"/>
              </a:ext>
            </a:extLst>
          </p:cNvPr>
          <p:cNvSpPr>
            <a:spLocks noGrp="1" noChangeArrowheads="1"/>
          </p:cNvSpPr>
          <p:nvPr>
            <p:ph idx="1"/>
          </p:nvPr>
        </p:nvSpPr>
        <p:spPr bwMode="auto">
          <a:xfrm>
            <a:off x="3607694" y="649480"/>
            <a:ext cx="4916510" cy="554604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700" b="1" i="0" u="none" strike="noStrike" cap="none" normalizeH="0" baseline="0">
                <a:ln>
                  <a:noFill/>
                </a:ln>
                <a:effectLst/>
                <a:latin typeface="Arial" panose="020B0604020202020204" pitchFamily="34" charset="0"/>
              </a:rPr>
              <a:t>Meal Plan Selection</a:t>
            </a:r>
            <a:br>
              <a:rPr kumimoji="0" lang="en-US" altLang="en-US" sz="1700" b="0" i="0" u="none" strike="noStrike" cap="none" normalizeH="0" baseline="0">
                <a:ln>
                  <a:noFill/>
                </a:ln>
                <a:effectLst/>
                <a:latin typeface="Arial" panose="020B0604020202020204" pitchFamily="34" charset="0"/>
              </a:rPr>
            </a:br>
            <a:r>
              <a:rPr kumimoji="0" lang="en-US" altLang="en-US" sz="1700" b="0" i="0" u="none" strike="noStrike" cap="none" normalizeH="0" baseline="0">
                <a:ln>
                  <a:noFill/>
                </a:ln>
                <a:effectLst/>
                <a:latin typeface="Arial" panose="020B0604020202020204" pitchFamily="34" charset="0"/>
              </a:rPr>
              <a:t>Most customers choose a limited set of meal plans, with one option</a:t>
            </a:r>
          </a:p>
          <a:p>
            <a:pPr marL="0" marR="0" lvl="0" indent="0" defTabSz="914400" rtl="0" eaLnBrk="0" fontAlgn="base" latinLnBrk="0" hangingPunct="0">
              <a:spcBef>
                <a:spcPct val="0"/>
              </a:spcBef>
              <a:spcAft>
                <a:spcPts val="600"/>
              </a:spcAft>
              <a:buClrTx/>
              <a:buSzTx/>
              <a:buFontTx/>
              <a:buChar char="•"/>
              <a:tabLst/>
            </a:pPr>
            <a:r>
              <a:rPr kumimoji="0" lang="en-US" altLang="en-US" sz="1700" b="0" i="0" u="none" strike="noStrike" cap="none" normalizeH="0" baseline="0">
                <a:ln>
                  <a:noFill/>
                </a:ln>
                <a:effectLst/>
                <a:latin typeface="Arial" panose="020B0604020202020204" pitchFamily="34" charset="0"/>
              </a:rPr>
              <a:t>clearly being the most popular. Less frequently selected meal plans may represent niche customer groups or premium offerings.</a:t>
            </a:r>
          </a:p>
          <a:p>
            <a:pPr marL="0" marR="0" lvl="0" indent="0" defTabSz="914400" rtl="0" eaLnBrk="0" fontAlgn="base" latinLnBrk="0" hangingPunct="0">
              <a:spcBef>
                <a:spcPct val="0"/>
              </a:spcBef>
              <a:spcAft>
                <a:spcPts val="600"/>
              </a:spcAft>
              <a:buClrTx/>
              <a:buSzTx/>
              <a:buFontTx/>
              <a:buChar char="•"/>
              <a:tabLst/>
            </a:pPr>
            <a:endParaRPr lang="en-US" altLang="en-US" sz="1700">
              <a:latin typeface="Arial" panose="020B0604020202020204" pitchFamily="34" charset="0"/>
            </a:endParaRPr>
          </a:p>
          <a:p>
            <a:pPr marL="0" lvl="0" indent="0" defTabSz="914400" eaLnBrk="0" fontAlgn="base" hangingPunct="0">
              <a:spcBef>
                <a:spcPct val="0"/>
              </a:spcBef>
              <a:spcAft>
                <a:spcPts val="600"/>
              </a:spcAft>
              <a:buFontTx/>
              <a:buChar char="•"/>
            </a:pPr>
            <a:r>
              <a:rPr lang="en-US" sz="1700" b="1"/>
              <a:t>Seasonal Patterns</a:t>
            </a:r>
            <a:br>
              <a:rPr lang="en-US" sz="1700"/>
            </a:br>
            <a:r>
              <a:rPr lang="en-US" sz="1700"/>
              <a:t>The seasonal distribution reflects uneven booking demand across the year, with certain seasons attracting more reservations. These seasonal patterns are important for understanding demand fluctuations and cancellation trends.</a:t>
            </a:r>
            <a:endParaRPr kumimoji="0" lang="en-US" altLang="en-US" sz="1700" b="0" i="0" u="none" strike="noStrike" cap="none" normalizeH="0" baseline="0">
              <a:ln>
                <a:noFill/>
              </a:ln>
              <a:effectLst/>
              <a:latin typeface="Arial" panose="020B0604020202020204" pitchFamily="34" charset="0"/>
            </a:endParaRPr>
          </a:p>
        </p:txBody>
      </p:sp>
    </p:spTree>
    <p:extLst>
      <p:ext uri="{BB962C8B-B14F-4D97-AF65-F5344CB8AC3E}">
        <p14:creationId xmlns:p14="http://schemas.microsoft.com/office/powerpoint/2010/main" val="7871845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2213A-ED3E-D3FD-8CF4-3421D6F50ABE}"/>
              </a:ext>
            </a:extLst>
          </p:cNvPr>
          <p:cNvSpPr>
            <a:spLocks noGrp="1"/>
          </p:cNvSpPr>
          <p:nvPr>
            <p:ph type="title"/>
          </p:nvPr>
        </p:nvSpPr>
        <p:spPr>
          <a:xfrm>
            <a:off x="828484" y="286912"/>
            <a:ext cx="7530908" cy="639762"/>
          </a:xfrm>
        </p:spPr>
        <p:txBody>
          <a:bodyPr>
            <a:normAutofit/>
          </a:bodyPr>
          <a:lstStyle/>
          <a:p>
            <a:r>
              <a:rPr lang="en-US" sz="2800" b="1" u="sng" dirty="0"/>
              <a:t>Cancellation rate </a:t>
            </a:r>
            <a:r>
              <a:rPr lang="en-US" sz="2800" u="sng" dirty="0"/>
              <a:t>for </a:t>
            </a:r>
            <a:r>
              <a:rPr lang="en-US" sz="2800" b="1" u="sng" dirty="0"/>
              <a:t>each categorical variable</a:t>
            </a:r>
            <a:endParaRPr lang="en-US" sz="2800" u="sng" dirty="0"/>
          </a:p>
        </p:txBody>
      </p:sp>
      <p:sp>
        <p:nvSpPr>
          <p:cNvPr id="3" name="Text Placeholder 2">
            <a:extLst>
              <a:ext uri="{FF2B5EF4-FFF2-40B4-BE49-F238E27FC236}">
                <a16:creationId xmlns:a16="http://schemas.microsoft.com/office/drawing/2014/main" id="{B78B3D27-2401-80B0-37C9-DEA7B427527C}"/>
              </a:ext>
            </a:extLst>
          </p:cNvPr>
          <p:cNvSpPr>
            <a:spLocks noGrp="1"/>
          </p:cNvSpPr>
          <p:nvPr>
            <p:ph type="body" idx="1"/>
          </p:nvPr>
        </p:nvSpPr>
        <p:spPr>
          <a:xfrm>
            <a:off x="546292" y="1166432"/>
            <a:ext cx="7902191" cy="639762"/>
          </a:xfrm>
        </p:spPr>
        <p:txBody>
          <a:bodyPr/>
          <a:lstStyle/>
          <a:p>
            <a:r>
              <a:rPr lang="en-US" dirty="0"/>
              <a:t>Lead Time Vs Cancelled / Non – Cancelled Booking</a:t>
            </a:r>
          </a:p>
        </p:txBody>
      </p:sp>
      <p:pic>
        <p:nvPicPr>
          <p:cNvPr id="8" name="Content Placeholder 7" descr="A green graph with white text&#10;&#10;AI-generated content may be incorrect.">
            <a:extLst>
              <a:ext uri="{FF2B5EF4-FFF2-40B4-BE49-F238E27FC236}">
                <a16:creationId xmlns:a16="http://schemas.microsoft.com/office/drawing/2014/main" id="{9C5FA39C-92FE-EA90-9935-DD686FA768BE}"/>
              </a:ext>
            </a:extLst>
          </p:cNvPr>
          <p:cNvPicPr>
            <a:picLocks noGrp="1" noChangeAspect="1"/>
          </p:cNvPicPr>
          <p:nvPr>
            <p:ph sz="half" idx="2"/>
          </p:nvPr>
        </p:nvPicPr>
        <p:blipFill>
          <a:blip r:embed="rId2"/>
          <a:stretch>
            <a:fillRect/>
          </a:stretch>
        </p:blipFill>
        <p:spPr>
          <a:xfrm>
            <a:off x="365146" y="1929787"/>
            <a:ext cx="4040188" cy="2998426"/>
          </a:xfrm>
          <a:prstGeom prst="rect">
            <a:avLst/>
          </a:prstGeom>
        </p:spPr>
      </p:pic>
      <p:pic>
        <p:nvPicPr>
          <p:cNvPr id="10" name="Content Placeholder 9" descr="A graph with green bars&#10;&#10;AI-generated content may be incorrect.">
            <a:extLst>
              <a:ext uri="{FF2B5EF4-FFF2-40B4-BE49-F238E27FC236}">
                <a16:creationId xmlns:a16="http://schemas.microsoft.com/office/drawing/2014/main" id="{536FA80B-EBDC-328F-AAF3-848A41E8377E}"/>
              </a:ext>
            </a:extLst>
          </p:cNvPr>
          <p:cNvPicPr>
            <a:picLocks noGrp="1" noChangeAspect="1"/>
          </p:cNvPicPr>
          <p:nvPr>
            <p:ph sz="quarter" idx="4"/>
          </p:nvPr>
        </p:nvPicPr>
        <p:blipFill>
          <a:blip r:embed="rId3"/>
          <a:stretch>
            <a:fillRect/>
          </a:stretch>
        </p:blipFill>
        <p:spPr>
          <a:xfrm>
            <a:off x="4694120" y="1964196"/>
            <a:ext cx="4041775" cy="2929608"/>
          </a:xfrm>
          <a:prstGeom prst="rect">
            <a:avLst/>
          </a:prstGeom>
        </p:spPr>
      </p:pic>
      <p:sp>
        <p:nvSpPr>
          <p:cNvPr id="12" name="TextBox 11">
            <a:extLst>
              <a:ext uri="{FF2B5EF4-FFF2-40B4-BE49-F238E27FC236}">
                <a16:creationId xmlns:a16="http://schemas.microsoft.com/office/drawing/2014/main" id="{2B8D3603-20A6-C34C-38DD-28248FECAC52}"/>
              </a:ext>
            </a:extLst>
          </p:cNvPr>
          <p:cNvSpPr txBox="1"/>
          <p:nvPr/>
        </p:nvSpPr>
        <p:spPr>
          <a:xfrm>
            <a:off x="288435" y="5691568"/>
            <a:ext cx="8536446" cy="738664"/>
          </a:xfrm>
          <a:prstGeom prst="rect">
            <a:avLst/>
          </a:prstGeom>
          <a:noFill/>
        </p:spPr>
        <p:txBody>
          <a:bodyPr wrap="square">
            <a:spAutoFit/>
          </a:bodyPr>
          <a:lstStyle/>
          <a:p>
            <a:r>
              <a:rPr lang="en-US" sz="1400" dirty="0"/>
              <a:t>Lead Time is a very strong factor for cancellation of bookings. There are more cancellations when Lead Time is high. This means that people who book far in advance have a higher tendency to cancel their booking. There are less cancellations when the Lead Time is short</a:t>
            </a:r>
          </a:p>
        </p:txBody>
      </p:sp>
    </p:spTree>
    <p:extLst>
      <p:ext uri="{BB962C8B-B14F-4D97-AF65-F5344CB8AC3E}">
        <p14:creationId xmlns:p14="http://schemas.microsoft.com/office/powerpoint/2010/main" val="4248105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C9C13-01E5-31E2-A231-169C394024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114E2D-7E5A-DF5A-CB58-947E2737940A}"/>
              </a:ext>
            </a:extLst>
          </p:cNvPr>
          <p:cNvSpPr>
            <a:spLocks noGrp="1"/>
          </p:cNvSpPr>
          <p:nvPr>
            <p:ph type="title"/>
          </p:nvPr>
        </p:nvSpPr>
        <p:spPr>
          <a:xfrm>
            <a:off x="828484" y="286912"/>
            <a:ext cx="7530908" cy="639762"/>
          </a:xfrm>
        </p:spPr>
        <p:txBody>
          <a:bodyPr>
            <a:normAutofit/>
          </a:bodyPr>
          <a:lstStyle/>
          <a:p>
            <a:r>
              <a:rPr lang="en-US" sz="2800" b="1" dirty="0"/>
              <a:t>Cancellation rate </a:t>
            </a:r>
            <a:r>
              <a:rPr lang="en-US" sz="2800" dirty="0"/>
              <a:t>Vs Average Price</a:t>
            </a:r>
          </a:p>
        </p:txBody>
      </p:sp>
      <p:pic>
        <p:nvPicPr>
          <p:cNvPr id="11" name="Content Placeholder 10" descr="A green graph with white text&#10;&#10;AI-generated content may be incorrect.">
            <a:extLst>
              <a:ext uri="{FF2B5EF4-FFF2-40B4-BE49-F238E27FC236}">
                <a16:creationId xmlns:a16="http://schemas.microsoft.com/office/drawing/2014/main" id="{3A5AEFEE-ECFF-AB96-4424-1B115D984ED2}"/>
              </a:ext>
            </a:extLst>
          </p:cNvPr>
          <p:cNvPicPr>
            <a:picLocks noGrp="1" noChangeAspect="1"/>
          </p:cNvPicPr>
          <p:nvPr>
            <p:ph sz="quarter" idx="4"/>
          </p:nvPr>
        </p:nvPicPr>
        <p:blipFill>
          <a:blip r:embed="rId3"/>
          <a:stretch>
            <a:fillRect/>
          </a:stretch>
        </p:blipFill>
        <p:spPr>
          <a:xfrm>
            <a:off x="1391713" y="1184425"/>
            <a:ext cx="4785089" cy="3445438"/>
          </a:xfrm>
          <a:prstGeom prst="rect">
            <a:avLst/>
          </a:prstGeom>
        </p:spPr>
      </p:pic>
      <p:sp>
        <p:nvSpPr>
          <p:cNvPr id="13" name="Text Placeholder 12">
            <a:extLst>
              <a:ext uri="{FF2B5EF4-FFF2-40B4-BE49-F238E27FC236}">
                <a16:creationId xmlns:a16="http://schemas.microsoft.com/office/drawing/2014/main" id="{A52F8FA6-2747-B85A-FD08-0DC20BADA1F2}"/>
              </a:ext>
            </a:extLst>
          </p:cNvPr>
          <p:cNvSpPr>
            <a:spLocks noGrp="1"/>
          </p:cNvSpPr>
          <p:nvPr>
            <p:ph type="body" idx="1"/>
          </p:nvPr>
        </p:nvSpPr>
        <p:spPr>
          <a:xfrm>
            <a:off x="484816" y="4940215"/>
            <a:ext cx="8333928" cy="1683922"/>
          </a:xfrm>
        </p:spPr>
        <p:txBody>
          <a:bodyPr>
            <a:normAutofit/>
          </a:bodyPr>
          <a:lstStyle/>
          <a:p>
            <a:r>
              <a:rPr lang="en-US" sz="1400" dirty="0"/>
              <a:t>Canceled bookings show slightly higher average price on median. More price variability for canceled bookings → possibly flexible/cautious </a:t>
            </a:r>
            <a:r>
              <a:rPr lang="en-US" sz="1400" dirty="0" err="1"/>
              <a:t>travellers</a:t>
            </a:r>
            <a:r>
              <a:rPr lang="en-US" sz="1400" dirty="0"/>
              <a:t>. Price also contributes to cancellation risk, though not as strongly as lead time.</a:t>
            </a:r>
          </a:p>
        </p:txBody>
      </p:sp>
    </p:spTree>
    <p:extLst>
      <p:ext uri="{BB962C8B-B14F-4D97-AF65-F5344CB8AC3E}">
        <p14:creationId xmlns:p14="http://schemas.microsoft.com/office/powerpoint/2010/main" val="17241069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356DE-C1BB-F257-9E9B-18CDF708DEAE}"/>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1BC9B9B2-C6A7-E571-BD33-1AFAA4E7227F}"/>
              </a:ext>
            </a:extLst>
          </p:cNvPr>
          <p:cNvSpPr>
            <a:spLocks noGrp="1"/>
          </p:cNvSpPr>
          <p:nvPr>
            <p:ph type="body" idx="1"/>
          </p:nvPr>
        </p:nvSpPr>
        <p:spPr>
          <a:xfrm>
            <a:off x="484816" y="4940215"/>
            <a:ext cx="8333928" cy="1472859"/>
          </a:xfrm>
        </p:spPr>
        <p:txBody>
          <a:bodyPr>
            <a:normAutofit/>
          </a:bodyPr>
          <a:lstStyle/>
          <a:p>
            <a:r>
              <a:rPr lang="en-US" sz="1400" dirty="0"/>
              <a:t>The highest cancellations came from bookings made through intermediaries (online / Travelling agencies). Walk-ins and bookings made directly by guests offline, are less likely to be cancelled.</a:t>
            </a:r>
          </a:p>
        </p:txBody>
      </p:sp>
      <p:pic>
        <p:nvPicPr>
          <p:cNvPr id="4" name="Picture 3" descr="A graph of a bar chart&#10;&#10;AI-generated content may be incorrect.">
            <a:extLst>
              <a:ext uri="{FF2B5EF4-FFF2-40B4-BE49-F238E27FC236}">
                <a16:creationId xmlns:a16="http://schemas.microsoft.com/office/drawing/2014/main" id="{0AAF8333-F9DF-85F3-3FA4-B9C4B9A72641}"/>
              </a:ext>
            </a:extLst>
          </p:cNvPr>
          <p:cNvPicPr>
            <a:picLocks noChangeAspect="1"/>
          </p:cNvPicPr>
          <p:nvPr/>
        </p:nvPicPr>
        <p:blipFill>
          <a:blip r:embed="rId3"/>
          <a:stretch>
            <a:fillRect/>
          </a:stretch>
        </p:blipFill>
        <p:spPr>
          <a:xfrm>
            <a:off x="1227381" y="767114"/>
            <a:ext cx="5689001" cy="4667646"/>
          </a:xfrm>
          <a:prstGeom prst="rect">
            <a:avLst/>
          </a:prstGeom>
        </p:spPr>
      </p:pic>
    </p:spTree>
    <p:extLst>
      <p:ext uri="{BB962C8B-B14F-4D97-AF65-F5344CB8AC3E}">
        <p14:creationId xmlns:p14="http://schemas.microsoft.com/office/powerpoint/2010/main" val="868549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528354-FC8D-7806-72C1-FC74D010250F}"/>
            </a:ext>
          </a:extLst>
        </p:cNvPr>
        <p:cNvGrpSpPr/>
        <p:nvPr/>
      </p:nvGrpSpPr>
      <p:grpSpPr>
        <a:xfrm>
          <a:off x="0" y="0"/>
          <a:ext cx="0" cy="0"/>
          <a:chOff x="0" y="0"/>
          <a:chExt cx="0" cy="0"/>
        </a:xfrm>
      </p:grpSpPr>
      <p:sp>
        <p:nvSpPr>
          <p:cNvPr id="13" name="Text Placeholder 12">
            <a:extLst>
              <a:ext uri="{FF2B5EF4-FFF2-40B4-BE49-F238E27FC236}">
                <a16:creationId xmlns:a16="http://schemas.microsoft.com/office/drawing/2014/main" id="{BDE3A539-278E-4832-538E-298ABB677AEC}"/>
              </a:ext>
            </a:extLst>
          </p:cNvPr>
          <p:cNvSpPr>
            <a:spLocks noGrp="1"/>
          </p:cNvSpPr>
          <p:nvPr>
            <p:ph type="body" idx="1"/>
          </p:nvPr>
        </p:nvSpPr>
        <p:spPr>
          <a:xfrm>
            <a:off x="484816" y="4940215"/>
            <a:ext cx="8333928" cy="1426832"/>
          </a:xfrm>
        </p:spPr>
        <p:txBody>
          <a:bodyPr>
            <a:normAutofit/>
          </a:bodyPr>
          <a:lstStyle/>
          <a:p>
            <a:r>
              <a:rPr lang="en-US" sz="1400" dirty="0"/>
              <a:t>There are little variations across meal types. Meal plan 2 shows a slightly higher cancellation rate. This shows that meal plan is not a strong indicator for cancellations</a:t>
            </a:r>
          </a:p>
        </p:txBody>
      </p:sp>
      <p:pic>
        <p:nvPicPr>
          <p:cNvPr id="3" name="Picture 2" descr="A graph of a meal plan&#10;&#10;AI-generated content may be incorrect.">
            <a:extLst>
              <a:ext uri="{FF2B5EF4-FFF2-40B4-BE49-F238E27FC236}">
                <a16:creationId xmlns:a16="http://schemas.microsoft.com/office/drawing/2014/main" id="{6F7812BC-6465-2772-D878-1D41F8BF0B01}"/>
              </a:ext>
            </a:extLst>
          </p:cNvPr>
          <p:cNvPicPr>
            <a:picLocks noChangeAspect="1"/>
          </p:cNvPicPr>
          <p:nvPr/>
        </p:nvPicPr>
        <p:blipFill>
          <a:blip r:embed="rId3"/>
          <a:stretch>
            <a:fillRect/>
          </a:stretch>
        </p:blipFill>
        <p:spPr>
          <a:xfrm>
            <a:off x="1331711" y="433693"/>
            <a:ext cx="5848478" cy="4844031"/>
          </a:xfrm>
          <a:prstGeom prst="rect">
            <a:avLst/>
          </a:prstGeom>
        </p:spPr>
      </p:pic>
    </p:spTree>
    <p:extLst>
      <p:ext uri="{BB962C8B-B14F-4D97-AF65-F5344CB8AC3E}">
        <p14:creationId xmlns:p14="http://schemas.microsoft.com/office/powerpoint/2010/main" val="27940426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7694D-E9FE-3D51-E095-8ED251E36ABE}"/>
            </a:ext>
          </a:extLst>
        </p:cNvPr>
        <p:cNvGrpSpPr/>
        <p:nvPr/>
      </p:nvGrpSpPr>
      <p:grpSpPr>
        <a:xfrm>
          <a:off x="0" y="0"/>
          <a:ext cx="0" cy="0"/>
          <a:chOff x="0" y="0"/>
          <a:chExt cx="0" cy="0"/>
        </a:xfrm>
      </p:grpSpPr>
      <p:pic>
        <p:nvPicPr>
          <p:cNvPr id="4" name="Picture 3" descr="A graph of different types of type of room type&#10;&#10;AI-generated content may be incorrect.">
            <a:extLst>
              <a:ext uri="{FF2B5EF4-FFF2-40B4-BE49-F238E27FC236}">
                <a16:creationId xmlns:a16="http://schemas.microsoft.com/office/drawing/2014/main" id="{23167471-F025-C65E-21D2-0AE2E356DE3D}"/>
              </a:ext>
            </a:extLst>
          </p:cNvPr>
          <p:cNvPicPr>
            <a:picLocks noChangeAspect="1"/>
          </p:cNvPicPr>
          <p:nvPr/>
        </p:nvPicPr>
        <p:blipFill>
          <a:blip r:embed="rId3"/>
          <a:stretch>
            <a:fillRect/>
          </a:stretch>
        </p:blipFill>
        <p:spPr>
          <a:xfrm>
            <a:off x="1061686" y="490953"/>
            <a:ext cx="7149503" cy="5299596"/>
          </a:xfrm>
          <a:prstGeom prst="rect">
            <a:avLst/>
          </a:prstGeom>
        </p:spPr>
      </p:pic>
    </p:spTree>
    <p:extLst>
      <p:ext uri="{BB962C8B-B14F-4D97-AF65-F5344CB8AC3E}">
        <p14:creationId xmlns:p14="http://schemas.microsoft.com/office/powerpoint/2010/main" val="959807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81490-4496-A339-26EA-581923D67940}"/>
            </a:ext>
          </a:extLst>
        </p:cNvPr>
        <p:cNvGrpSpPr/>
        <p:nvPr/>
      </p:nvGrpSpPr>
      <p:grpSpPr>
        <a:xfrm>
          <a:off x="0" y="0"/>
          <a:ext cx="0" cy="0"/>
          <a:chOff x="0" y="0"/>
          <a:chExt cx="0" cy="0"/>
        </a:xfrm>
      </p:grpSpPr>
      <p:pic>
        <p:nvPicPr>
          <p:cNvPr id="3" name="Picture 2" descr="A graph of a number of blue bars&#10;&#10;AI-generated content may be incorrect.">
            <a:extLst>
              <a:ext uri="{FF2B5EF4-FFF2-40B4-BE49-F238E27FC236}">
                <a16:creationId xmlns:a16="http://schemas.microsoft.com/office/drawing/2014/main" id="{EB9DEDC6-0A29-3F0A-4978-BCE8DE9B3067}"/>
              </a:ext>
            </a:extLst>
          </p:cNvPr>
          <p:cNvPicPr>
            <a:picLocks noChangeAspect="1"/>
          </p:cNvPicPr>
          <p:nvPr/>
        </p:nvPicPr>
        <p:blipFill>
          <a:blip r:embed="rId3"/>
          <a:stretch>
            <a:fillRect/>
          </a:stretch>
        </p:blipFill>
        <p:spPr>
          <a:xfrm>
            <a:off x="699011" y="754840"/>
            <a:ext cx="7291846" cy="5112748"/>
          </a:xfrm>
          <a:prstGeom prst="rect">
            <a:avLst/>
          </a:prstGeom>
        </p:spPr>
      </p:pic>
    </p:spTree>
    <p:extLst>
      <p:ext uri="{BB962C8B-B14F-4D97-AF65-F5344CB8AC3E}">
        <p14:creationId xmlns:p14="http://schemas.microsoft.com/office/powerpoint/2010/main" val="22343222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AE6A427-5693-ABBB-0B51-5875FF1CFF04}"/>
              </a:ext>
            </a:extLst>
          </p:cNvPr>
          <p:cNvSpPr>
            <a:spLocks noGrp="1"/>
          </p:cNvSpPr>
          <p:nvPr>
            <p:ph type="title"/>
          </p:nvPr>
        </p:nvSpPr>
        <p:spPr>
          <a:xfrm>
            <a:off x="1028697" y="348865"/>
            <a:ext cx="7533018" cy="877729"/>
          </a:xfrm>
        </p:spPr>
        <p:txBody>
          <a:bodyPr anchor="ctr">
            <a:normAutofit/>
          </a:bodyPr>
          <a:lstStyle/>
          <a:p>
            <a:pPr>
              <a:lnSpc>
                <a:spcPct val="90000"/>
              </a:lnSpc>
            </a:pPr>
            <a:r>
              <a:rPr lang="en-US" sz="2700">
                <a:solidFill>
                  <a:srgbClr val="FFFFFF"/>
                </a:solidFill>
              </a:rPr>
              <a:t>Key Insights from Categorical Cancellation-Rate Analysis</a:t>
            </a:r>
          </a:p>
        </p:txBody>
      </p:sp>
      <p:graphicFrame>
        <p:nvGraphicFramePr>
          <p:cNvPr id="10" name="Content Placeholder 9">
            <a:extLst>
              <a:ext uri="{FF2B5EF4-FFF2-40B4-BE49-F238E27FC236}">
                <a16:creationId xmlns:a16="http://schemas.microsoft.com/office/drawing/2014/main" id="{43E727C1-375B-3B40-E738-A12F0489599D}"/>
              </a:ext>
            </a:extLst>
          </p:cNvPr>
          <p:cNvGraphicFramePr>
            <a:graphicFrameLocks noGrp="1"/>
          </p:cNvGraphicFramePr>
          <p:nvPr>
            <p:ph idx="1"/>
            <p:extLst>
              <p:ext uri="{D42A27DB-BD31-4B8C-83A1-F6EECF244321}">
                <p14:modId xmlns:p14="http://schemas.microsoft.com/office/powerpoint/2010/main" val="573917350"/>
              </p:ext>
            </p:extLst>
          </p:nvPr>
        </p:nvGraphicFramePr>
        <p:xfrm>
          <a:off x="483042" y="2413674"/>
          <a:ext cx="8195875" cy="3920516"/>
        </p:xfrm>
        <a:graphic>
          <a:graphicData uri="http://schemas.openxmlformats.org/drawingml/2006/table">
            <a:tbl>
              <a:tblPr firstRow="1" bandRow="1">
                <a:tableStyleId>{5C22544A-7EE6-4342-B048-85BDC9FD1C3A}</a:tableStyleId>
              </a:tblPr>
              <a:tblGrid>
                <a:gridCol w="1622325">
                  <a:extLst>
                    <a:ext uri="{9D8B030D-6E8A-4147-A177-3AD203B41FA5}">
                      <a16:colId xmlns:a16="http://schemas.microsoft.com/office/drawing/2014/main" val="3296090446"/>
                    </a:ext>
                  </a:extLst>
                </a:gridCol>
                <a:gridCol w="1622325">
                  <a:extLst>
                    <a:ext uri="{9D8B030D-6E8A-4147-A177-3AD203B41FA5}">
                      <a16:colId xmlns:a16="http://schemas.microsoft.com/office/drawing/2014/main" val="2838769590"/>
                    </a:ext>
                  </a:extLst>
                </a:gridCol>
                <a:gridCol w="1710263">
                  <a:extLst>
                    <a:ext uri="{9D8B030D-6E8A-4147-A177-3AD203B41FA5}">
                      <a16:colId xmlns:a16="http://schemas.microsoft.com/office/drawing/2014/main" val="2965347831"/>
                    </a:ext>
                  </a:extLst>
                </a:gridCol>
                <a:gridCol w="1534387">
                  <a:extLst>
                    <a:ext uri="{9D8B030D-6E8A-4147-A177-3AD203B41FA5}">
                      <a16:colId xmlns:a16="http://schemas.microsoft.com/office/drawing/2014/main" val="113735953"/>
                    </a:ext>
                  </a:extLst>
                </a:gridCol>
                <a:gridCol w="1706575">
                  <a:extLst>
                    <a:ext uri="{9D8B030D-6E8A-4147-A177-3AD203B41FA5}">
                      <a16:colId xmlns:a16="http://schemas.microsoft.com/office/drawing/2014/main" val="1154063335"/>
                    </a:ext>
                  </a:extLst>
                </a:gridCol>
              </a:tblGrid>
              <a:tr h="689145">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Category</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Variable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High-Risk Group(s) (Higher Cancellation Rate)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Low-Risk Group(s) (Lower Cancellation Rate)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Key Insight</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extLst>
                  <a:ext uri="{0D108BD9-81ED-4DB2-BD59-A6C34878D82A}">
                    <a16:rowId xmlns:a16="http://schemas.microsoft.com/office/drawing/2014/main" val="3262233147"/>
                  </a:ext>
                </a:extLst>
              </a:tr>
              <a:tr h="689145">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Meal Preference</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Type of Meal</a:t>
                      </a: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Not Selected</a:t>
                      </a:r>
                      <a:r>
                        <a:rPr lang="en-US" sz="1100" kern="100">
                          <a:effectLst/>
                          <a:latin typeface="Aptos" panose="020B0004020202020204" pitchFamily="34" charset="0"/>
                          <a:ea typeface="Aptos" panose="020B0004020202020204" pitchFamily="34" charset="0"/>
                          <a:cs typeface="Times New Roman" panose="02020603050405020304" pitchFamily="18" charset="0"/>
                        </a:rPr>
                        <a:t>, Meal Plan 3</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Meal Plan 1</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Guests without meal commitment cancel more often</a:t>
                      </a:r>
                    </a:p>
                  </a:txBody>
                  <a:tcPr marL="8891" marR="8891" marT="8891" marB="8891" anchor="ctr"/>
                </a:tc>
                <a:extLst>
                  <a:ext uri="{0D108BD9-81ED-4DB2-BD59-A6C34878D82A}">
                    <a16:rowId xmlns:a16="http://schemas.microsoft.com/office/drawing/2014/main" val="29079041"/>
                  </a:ext>
                </a:extLst>
              </a:tr>
              <a:tr h="689145">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Room Selection</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Room Type</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Rare / Premium room types (e.g., Types 3, 5, 6, 7)</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Room Type 1 (Standard)</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Premium &amp; limited rooms face higher uncertainty</a:t>
                      </a:r>
                    </a:p>
                  </a:txBody>
                  <a:tcPr marL="8891" marR="8891" marT="8891" marB="8891" anchor="ctr"/>
                </a:tc>
                <a:extLst>
                  <a:ext uri="{0D108BD9-81ED-4DB2-BD59-A6C34878D82A}">
                    <a16:rowId xmlns:a16="http://schemas.microsoft.com/office/drawing/2014/main" val="1864700159"/>
                  </a:ext>
                </a:extLst>
              </a:tr>
              <a:tr h="689145">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Booking Channel</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Market Segment Type</a:t>
                      </a: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Online</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Corporate, Aviation, Complementary</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Online bookings are speculative and price-sensitive</a:t>
                      </a:r>
                    </a:p>
                  </a:txBody>
                  <a:tcPr marL="8891" marR="8891" marT="8891" marB="8891" anchor="ctr"/>
                </a:tc>
                <a:extLst>
                  <a:ext uri="{0D108BD9-81ED-4DB2-BD59-A6C34878D82A}">
                    <a16:rowId xmlns:a16="http://schemas.microsoft.com/office/drawing/2014/main" val="2990001854"/>
                  </a:ext>
                </a:extLst>
              </a:tr>
              <a:tr h="689145">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Seasonality</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Season</a:t>
                      </a:r>
                    </a:p>
                  </a:txBody>
                  <a:tcPr marL="8891" marR="8891" marT="8891" marB="8891" anchor="ctr"/>
                </a:tc>
                <a:tc>
                  <a:txBody>
                    <a:bodyPr/>
                    <a:lstStyle/>
                    <a:p>
                      <a:pPr marL="0" marR="0">
                        <a:lnSpc>
                          <a:spcPct val="115000"/>
                        </a:lnSpc>
                        <a:spcAft>
                          <a:spcPts val="800"/>
                        </a:spcAft>
                        <a:buNone/>
                      </a:pPr>
                      <a:r>
                        <a:rPr lang="en-US" sz="1100" b="1" kern="100">
                          <a:effectLst/>
                          <a:latin typeface="Aptos" panose="020B0004020202020204" pitchFamily="34" charset="0"/>
                          <a:ea typeface="Aptos" panose="020B0004020202020204" pitchFamily="34" charset="0"/>
                          <a:cs typeface="Times New Roman" panose="02020603050405020304" pitchFamily="18" charset="0"/>
                        </a:rPr>
                        <a:t>Autumn, Winter</a:t>
                      </a:r>
                      <a:endParaRPr lang="en-US" sz="1100" kern="100">
                        <a:effectLst/>
                        <a:latin typeface="Aptos" panose="020B0004020202020204" pitchFamily="34" charset="0"/>
                        <a:ea typeface="Aptos" panose="020B0004020202020204" pitchFamily="34" charset="0"/>
                        <a:cs typeface="Times New Roman" panose="02020603050405020304" pitchFamily="18" charset="0"/>
                      </a:endParaRP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Summer</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Transitional &amp; weather-sensitive seasons raise cancellations</a:t>
                      </a:r>
                    </a:p>
                  </a:txBody>
                  <a:tcPr marL="8891" marR="8891" marT="8891" marB="8891" anchor="ctr"/>
                </a:tc>
                <a:extLst>
                  <a:ext uri="{0D108BD9-81ED-4DB2-BD59-A6C34878D82A}">
                    <a16:rowId xmlns:a16="http://schemas.microsoft.com/office/drawing/2014/main" val="3902670273"/>
                  </a:ext>
                </a:extLst>
              </a:tr>
              <a:tr h="474791">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Commitment Level</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Combined Behavior</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No meal + online + premium room</a:t>
                      </a:r>
                    </a:p>
                  </a:txBody>
                  <a:tcPr marL="8891" marR="8891" marT="8891" marB="8891" anchor="ctr"/>
                </a:tc>
                <a:tc>
                  <a:txBody>
                    <a:bodyPr/>
                    <a:lstStyle/>
                    <a:p>
                      <a:pPr marL="0" marR="0">
                        <a:lnSpc>
                          <a:spcPct val="115000"/>
                        </a:lnSpc>
                        <a:spcAft>
                          <a:spcPts val="800"/>
                        </a:spcAft>
                        <a:buNone/>
                      </a:pPr>
                      <a:r>
                        <a:rPr lang="en-US" sz="1100" kern="100">
                          <a:effectLst/>
                          <a:latin typeface="Aptos" panose="020B0004020202020204" pitchFamily="34" charset="0"/>
                          <a:ea typeface="Aptos" panose="020B0004020202020204" pitchFamily="34" charset="0"/>
                          <a:cs typeface="Times New Roman" panose="02020603050405020304" pitchFamily="18" charset="0"/>
                        </a:rPr>
                        <a:t>Meal plan + offline/corporate</a:t>
                      </a:r>
                    </a:p>
                  </a:txBody>
                  <a:tcPr marL="8891" marR="8891" marT="8891" marB="8891" anchor="ctr"/>
                </a:tc>
                <a:tc>
                  <a:txBody>
                    <a:bodyPr/>
                    <a:lstStyle/>
                    <a:p>
                      <a:pPr marL="0" marR="0">
                        <a:lnSpc>
                          <a:spcPct val="115000"/>
                        </a:lnSpc>
                        <a:spcAft>
                          <a:spcPts val="800"/>
                        </a:spcAft>
                        <a:buNone/>
                      </a:pPr>
                      <a:r>
                        <a:rPr lang="en-US" sz="1100" kern="100" dirty="0">
                          <a:effectLst/>
                          <a:latin typeface="Aptos" panose="020B0004020202020204" pitchFamily="34" charset="0"/>
                          <a:ea typeface="Aptos" panose="020B0004020202020204" pitchFamily="34" charset="0"/>
                          <a:cs typeface="Times New Roman" panose="02020603050405020304" pitchFamily="18" charset="0"/>
                        </a:rPr>
                        <a:t>Low commitment strongly predicts cancellation</a:t>
                      </a:r>
                    </a:p>
                  </a:txBody>
                  <a:tcPr marL="8891" marR="8891" marT="8891" marB="8891" anchor="ctr"/>
                </a:tc>
                <a:extLst>
                  <a:ext uri="{0D108BD9-81ED-4DB2-BD59-A6C34878D82A}">
                    <a16:rowId xmlns:a16="http://schemas.microsoft.com/office/drawing/2014/main" val="2819029030"/>
                  </a:ext>
                </a:extLst>
              </a:tr>
            </a:tbl>
          </a:graphicData>
        </a:graphic>
      </p:graphicFrame>
    </p:spTree>
    <p:extLst>
      <p:ext uri="{BB962C8B-B14F-4D97-AF65-F5344CB8AC3E}">
        <p14:creationId xmlns:p14="http://schemas.microsoft.com/office/powerpoint/2010/main" val="3205550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DB085B-0749-B70E-C310-9DD3244F0BA2}"/>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Using Histplots to check outliers</a:t>
            </a:r>
          </a:p>
        </p:txBody>
      </p:sp>
      <p:pic>
        <p:nvPicPr>
          <p:cNvPr id="5" name="Content Placeholder 4">
            <a:extLst>
              <a:ext uri="{FF2B5EF4-FFF2-40B4-BE49-F238E27FC236}">
                <a16:creationId xmlns:a16="http://schemas.microsoft.com/office/drawing/2014/main" id="{6D32DB76-65DC-1798-0371-5AF673180054}"/>
              </a:ext>
            </a:extLst>
          </p:cNvPr>
          <p:cNvPicPr>
            <a:picLocks noGrp="1" noChangeAspect="1"/>
          </p:cNvPicPr>
          <p:nvPr>
            <p:ph idx="1"/>
          </p:nvPr>
        </p:nvPicPr>
        <p:blipFill>
          <a:blip r:embed="rId2"/>
          <a:stretch>
            <a:fillRect/>
          </a:stretch>
        </p:blipFill>
        <p:spPr>
          <a:xfrm>
            <a:off x="683649" y="1966293"/>
            <a:ext cx="7776700" cy="4452160"/>
          </a:xfrm>
          <a:prstGeom prst="rect">
            <a:avLst/>
          </a:prstGeom>
        </p:spPr>
      </p:pic>
    </p:spTree>
    <p:extLst>
      <p:ext uri="{BB962C8B-B14F-4D97-AF65-F5344CB8AC3E}">
        <p14:creationId xmlns:p14="http://schemas.microsoft.com/office/powerpoint/2010/main" val="774727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CD924B-FC27-11B4-BBF0-079E0849FCE1}"/>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1C4C90-D9F8-2978-1FC1-588CDDAAB7D5}"/>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Histplots (ctd)</a:t>
            </a:r>
          </a:p>
        </p:txBody>
      </p:sp>
      <p:pic>
        <p:nvPicPr>
          <p:cNvPr id="5" name="Content Placeholder 4">
            <a:extLst>
              <a:ext uri="{FF2B5EF4-FFF2-40B4-BE49-F238E27FC236}">
                <a16:creationId xmlns:a16="http://schemas.microsoft.com/office/drawing/2014/main" id="{E9663CAD-A4B8-F917-41A0-2515B56A6985}"/>
              </a:ext>
            </a:extLst>
          </p:cNvPr>
          <p:cNvPicPr>
            <a:picLocks noGrp="1" noChangeAspect="1"/>
          </p:cNvPicPr>
          <p:nvPr>
            <p:ph idx="1"/>
          </p:nvPr>
        </p:nvPicPr>
        <p:blipFill>
          <a:blip r:embed="rId2"/>
          <a:stretch>
            <a:fillRect/>
          </a:stretch>
        </p:blipFill>
        <p:spPr>
          <a:xfrm>
            <a:off x="324168" y="2302088"/>
            <a:ext cx="8495662" cy="3780570"/>
          </a:xfrm>
          <a:prstGeom prst="rect">
            <a:avLst/>
          </a:prstGeom>
        </p:spPr>
      </p:pic>
    </p:spTree>
    <p:extLst>
      <p:ext uri="{BB962C8B-B14F-4D97-AF65-F5344CB8AC3E}">
        <p14:creationId xmlns:p14="http://schemas.microsoft.com/office/powerpoint/2010/main" val="13389406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5918C30-9B80-9BBE-87DB-DF0B7555CAB7}"/>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04DCC1-1EBE-9766-8DA7-690098A08FA4}"/>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Using boxplots to check outliers</a:t>
            </a:r>
          </a:p>
        </p:txBody>
      </p:sp>
      <p:pic>
        <p:nvPicPr>
          <p:cNvPr id="7" name="Content Placeholder 6">
            <a:extLst>
              <a:ext uri="{FF2B5EF4-FFF2-40B4-BE49-F238E27FC236}">
                <a16:creationId xmlns:a16="http://schemas.microsoft.com/office/drawing/2014/main" id="{98BD016F-CF45-789D-5F15-07ED011C4DCC}"/>
              </a:ext>
            </a:extLst>
          </p:cNvPr>
          <p:cNvPicPr>
            <a:picLocks noChangeAspect="1"/>
          </p:cNvPicPr>
          <p:nvPr/>
        </p:nvPicPr>
        <p:blipFill>
          <a:blip r:embed="rId2"/>
          <a:stretch>
            <a:fillRect/>
          </a:stretch>
        </p:blipFill>
        <p:spPr>
          <a:xfrm>
            <a:off x="1237048" y="1966293"/>
            <a:ext cx="6669902" cy="4452160"/>
          </a:xfrm>
          <a:prstGeom prst="rect">
            <a:avLst/>
          </a:prstGeom>
        </p:spPr>
      </p:pic>
    </p:spTree>
    <p:extLst>
      <p:ext uri="{BB962C8B-B14F-4D97-AF65-F5344CB8AC3E}">
        <p14:creationId xmlns:p14="http://schemas.microsoft.com/office/powerpoint/2010/main" val="522113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5F860-7E5E-C0AC-9C7F-3D9D0770AC6C}"/>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75EFC5-DD9E-F999-9869-E9AE63AE9238}"/>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Boxplots (ctd)</a:t>
            </a:r>
          </a:p>
        </p:txBody>
      </p:sp>
      <p:pic>
        <p:nvPicPr>
          <p:cNvPr id="9" name="Content Placeholder 8">
            <a:extLst>
              <a:ext uri="{FF2B5EF4-FFF2-40B4-BE49-F238E27FC236}">
                <a16:creationId xmlns:a16="http://schemas.microsoft.com/office/drawing/2014/main" id="{1F16A37B-2A2C-EBDB-48FF-048CCA7708DA}"/>
              </a:ext>
            </a:extLst>
          </p:cNvPr>
          <p:cNvPicPr>
            <a:picLocks noGrp="1" noChangeAspect="1"/>
          </p:cNvPicPr>
          <p:nvPr>
            <p:ph idx="1"/>
          </p:nvPr>
        </p:nvPicPr>
        <p:blipFill>
          <a:blip r:embed="rId2"/>
          <a:stretch>
            <a:fillRect/>
          </a:stretch>
        </p:blipFill>
        <p:spPr>
          <a:xfrm>
            <a:off x="324168" y="2206512"/>
            <a:ext cx="8495662" cy="3971722"/>
          </a:xfrm>
          <a:prstGeom prst="rect">
            <a:avLst/>
          </a:prstGeom>
        </p:spPr>
      </p:pic>
    </p:spTree>
    <p:extLst>
      <p:ext uri="{BB962C8B-B14F-4D97-AF65-F5344CB8AC3E}">
        <p14:creationId xmlns:p14="http://schemas.microsoft.com/office/powerpoint/2010/main" val="25696577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41666C-636E-EBD0-A08A-9A41935E051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E0BA4E-EACA-EB36-66E5-1B371F023EB4}"/>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Using boxplots to fix the outliers</a:t>
            </a:r>
          </a:p>
        </p:txBody>
      </p:sp>
      <p:pic>
        <p:nvPicPr>
          <p:cNvPr id="6" name="Content Placeholder 5">
            <a:extLst>
              <a:ext uri="{FF2B5EF4-FFF2-40B4-BE49-F238E27FC236}">
                <a16:creationId xmlns:a16="http://schemas.microsoft.com/office/drawing/2014/main" id="{4B023490-1CAD-9F38-CA3E-DC3EECAC32D3}"/>
              </a:ext>
            </a:extLst>
          </p:cNvPr>
          <p:cNvPicPr>
            <a:picLocks noGrp="1" noChangeAspect="1"/>
          </p:cNvPicPr>
          <p:nvPr>
            <p:ph idx="1"/>
          </p:nvPr>
        </p:nvPicPr>
        <p:blipFill>
          <a:blip r:embed="rId2"/>
          <a:stretch>
            <a:fillRect/>
          </a:stretch>
        </p:blipFill>
        <p:spPr>
          <a:xfrm>
            <a:off x="391566" y="1966293"/>
            <a:ext cx="8360865" cy="4452160"/>
          </a:xfrm>
          <a:prstGeom prst="rect">
            <a:avLst/>
          </a:prstGeom>
        </p:spPr>
      </p:pic>
    </p:spTree>
    <p:extLst>
      <p:ext uri="{BB962C8B-B14F-4D97-AF65-F5344CB8AC3E}">
        <p14:creationId xmlns:p14="http://schemas.microsoft.com/office/powerpoint/2010/main" val="23878495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19F807-D5F2-5ADC-818E-D62EDD2763B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ED3102-6D5E-E36E-5352-3EA3C60809BA}"/>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Boxplots (ctd)</a:t>
            </a:r>
          </a:p>
        </p:txBody>
      </p:sp>
      <p:pic>
        <p:nvPicPr>
          <p:cNvPr id="6" name="Content Placeholder 5">
            <a:extLst>
              <a:ext uri="{FF2B5EF4-FFF2-40B4-BE49-F238E27FC236}">
                <a16:creationId xmlns:a16="http://schemas.microsoft.com/office/drawing/2014/main" id="{2EB5929E-7113-CD8C-7982-497E510188E7}"/>
              </a:ext>
            </a:extLst>
          </p:cNvPr>
          <p:cNvPicPr>
            <a:picLocks noGrp="1" noChangeAspect="1"/>
          </p:cNvPicPr>
          <p:nvPr>
            <p:ph idx="1"/>
          </p:nvPr>
        </p:nvPicPr>
        <p:blipFill>
          <a:blip r:embed="rId2"/>
          <a:stretch>
            <a:fillRect/>
          </a:stretch>
        </p:blipFill>
        <p:spPr>
          <a:xfrm>
            <a:off x="324168" y="2546339"/>
            <a:ext cx="8495662" cy="3292068"/>
          </a:xfrm>
          <a:prstGeom prst="rect">
            <a:avLst/>
          </a:prstGeom>
        </p:spPr>
      </p:pic>
    </p:spTree>
    <p:extLst>
      <p:ext uri="{BB962C8B-B14F-4D97-AF65-F5344CB8AC3E}">
        <p14:creationId xmlns:p14="http://schemas.microsoft.com/office/powerpoint/2010/main" val="2873791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1DB60-9CB0-095B-64B8-3ED6D8E528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CD194-1385-927E-4492-64AFA13F24A8}"/>
              </a:ext>
            </a:extLst>
          </p:cNvPr>
          <p:cNvSpPr>
            <a:spLocks noGrp="1"/>
          </p:cNvSpPr>
          <p:nvPr>
            <p:ph type="title"/>
          </p:nvPr>
        </p:nvSpPr>
        <p:spPr>
          <a:xfrm>
            <a:off x="773816" y="158037"/>
            <a:ext cx="7447144" cy="345190"/>
          </a:xfrm>
        </p:spPr>
        <p:txBody>
          <a:bodyPr>
            <a:normAutofit fontScale="90000"/>
          </a:bodyPr>
          <a:lstStyle/>
          <a:p>
            <a:r>
              <a:rPr lang="en-US" sz="2800" dirty="0">
                <a:solidFill>
                  <a:schemeClr val="bg2"/>
                </a:solidFill>
                <a:highlight>
                  <a:srgbClr val="000080"/>
                </a:highlight>
              </a:rPr>
              <a:t>Encoding Categorical Variables</a:t>
            </a:r>
          </a:p>
        </p:txBody>
      </p:sp>
      <p:sp>
        <p:nvSpPr>
          <p:cNvPr id="3" name="Text Placeholder 2">
            <a:extLst>
              <a:ext uri="{FF2B5EF4-FFF2-40B4-BE49-F238E27FC236}">
                <a16:creationId xmlns:a16="http://schemas.microsoft.com/office/drawing/2014/main" id="{90EECB04-D712-9B6E-EA38-67D12ABE28BE}"/>
              </a:ext>
            </a:extLst>
          </p:cNvPr>
          <p:cNvSpPr>
            <a:spLocks noGrp="1"/>
          </p:cNvSpPr>
          <p:nvPr>
            <p:ph type="body" idx="1"/>
          </p:nvPr>
        </p:nvSpPr>
        <p:spPr>
          <a:xfrm>
            <a:off x="2479728" y="651397"/>
            <a:ext cx="3472107" cy="345190"/>
          </a:xfrm>
        </p:spPr>
        <p:txBody>
          <a:bodyPr>
            <a:normAutofit fontScale="85000" lnSpcReduction="20000"/>
          </a:bodyPr>
          <a:lstStyle/>
          <a:p>
            <a:r>
              <a:rPr lang="en-US" dirty="0"/>
              <a:t>			Before</a:t>
            </a:r>
          </a:p>
        </p:txBody>
      </p:sp>
      <p:sp>
        <p:nvSpPr>
          <p:cNvPr id="5" name="Text Placeholder 4">
            <a:extLst>
              <a:ext uri="{FF2B5EF4-FFF2-40B4-BE49-F238E27FC236}">
                <a16:creationId xmlns:a16="http://schemas.microsoft.com/office/drawing/2014/main" id="{396B494B-BC83-ABAD-DC88-3EC341493C13}"/>
              </a:ext>
            </a:extLst>
          </p:cNvPr>
          <p:cNvSpPr>
            <a:spLocks noGrp="1"/>
          </p:cNvSpPr>
          <p:nvPr>
            <p:ph type="body" sz="quarter" idx="3"/>
          </p:nvPr>
        </p:nvSpPr>
        <p:spPr>
          <a:xfrm>
            <a:off x="2168782" y="3484332"/>
            <a:ext cx="3462270" cy="457141"/>
          </a:xfrm>
        </p:spPr>
        <p:txBody>
          <a:bodyPr>
            <a:normAutofit fontScale="85000" lnSpcReduction="20000"/>
          </a:bodyPr>
          <a:lstStyle/>
          <a:p>
            <a:r>
              <a:rPr lang="en-US" dirty="0"/>
              <a:t>			After</a:t>
            </a:r>
          </a:p>
        </p:txBody>
      </p:sp>
      <p:pic>
        <p:nvPicPr>
          <p:cNvPr id="7" name="Content Placeholder 4">
            <a:extLst>
              <a:ext uri="{FF2B5EF4-FFF2-40B4-BE49-F238E27FC236}">
                <a16:creationId xmlns:a16="http://schemas.microsoft.com/office/drawing/2014/main" id="{B3EAF373-322D-4BC1-0221-ACA04EB57B11}"/>
              </a:ext>
            </a:extLst>
          </p:cNvPr>
          <p:cNvPicPr>
            <a:picLocks noChangeAspect="1"/>
          </p:cNvPicPr>
          <p:nvPr/>
        </p:nvPicPr>
        <p:blipFill>
          <a:blip r:embed="rId2"/>
          <a:stretch>
            <a:fillRect/>
          </a:stretch>
        </p:blipFill>
        <p:spPr>
          <a:xfrm>
            <a:off x="382588" y="962149"/>
            <a:ext cx="8229600" cy="2522183"/>
          </a:xfrm>
          <a:prstGeom prst="rect">
            <a:avLst/>
          </a:prstGeom>
        </p:spPr>
      </p:pic>
      <p:pic>
        <p:nvPicPr>
          <p:cNvPr id="12" name="Picture 11">
            <a:extLst>
              <a:ext uri="{FF2B5EF4-FFF2-40B4-BE49-F238E27FC236}">
                <a16:creationId xmlns:a16="http://schemas.microsoft.com/office/drawing/2014/main" id="{30BCB4B9-AFAE-F063-C12F-5FA838EC9CBD}"/>
              </a:ext>
            </a:extLst>
          </p:cNvPr>
          <p:cNvPicPr>
            <a:picLocks noChangeAspect="1"/>
          </p:cNvPicPr>
          <p:nvPr/>
        </p:nvPicPr>
        <p:blipFill>
          <a:blip r:embed="rId3"/>
          <a:stretch>
            <a:fillRect/>
          </a:stretch>
        </p:blipFill>
        <p:spPr>
          <a:xfrm>
            <a:off x="41329" y="3941473"/>
            <a:ext cx="9144000" cy="2699810"/>
          </a:xfrm>
          <a:prstGeom prst="rect">
            <a:avLst/>
          </a:prstGeom>
        </p:spPr>
      </p:pic>
    </p:spTree>
    <p:extLst>
      <p:ext uri="{BB962C8B-B14F-4D97-AF65-F5344CB8AC3E}">
        <p14:creationId xmlns:p14="http://schemas.microsoft.com/office/powerpoint/2010/main" val="24507430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B133F7-E0F8-946A-79AD-E634843A3BDF}"/>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Scaling Numerical Features</a:t>
            </a:r>
          </a:p>
        </p:txBody>
      </p:sp>
      <p:pic>
        <p:nvPicPr>
          <p:cNvPr id="5" name="Content Placeholder 4" descr="A screenshot of a computer&#10;&#10;AI-generated content may be incorrect.">
            <a:extLst>
              <a:ext uri="{FF2B5EF4-FFF2-40B4-BE49-F238E27FC236}">
                <a16:creationId xmlns:a16="http://schemas.microsoft.com/office/drawing/2014/main" id="{DDAFA585-AA71-F50D-2488-EBC35119D781}"/>
              </a:ext>
            </a:extLst>
          </p:cNvPr>
          <p:cNvPicPr>
            <a:picLocks noChangeAspect="1"/>
          </p:cNvPicPr>
          <p:nvPr/>
        </p:nvPicPr>
        <p:blipFill>
          <a:blip r:embed="rId2"/>
          <a:stretch>
            <a:fillRect/>
          </a:stretch>
        </p:blipFill>
        <p:spPr>
          <a:xfrm>
            <a:off x="-2" y="2862021"/>
            <a:ext cx="9041892" cy="3104826"/>
          </a:xfrm>
          <a:prstGeom prst="rect">
            <a:avLst/>
          </a:prstGeom>
        </p:spPr>
      </p:pic>
    </p:spTree>
    <p:extLst>
      <p:ext uri="{BB962C8B-B14F-4D97-AF65-F5344CB8AC3E}">
        <p14:creationId xmlns:p14="http://schemas.microsoft.com/office/powerpoint/2010/main" val="1412464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DE376-5FAA-D530-0E7D-F9F5B78F9260}"/>
              </a:ext>
            </a:extLst>
          </p:cNvPr>
          <p:cNvSpPr>
            <a:spLocks noGrp="1"/>
          </p:cNvSpPr>
          <p:nvPr>
            <p:ph type="title"/>
          </p:nvPr>
        </p:nvSpPr>
        <p:spPr>
          <a:xfrm>
            <a:off x="1048718" y="274638"/>
            <a:ext cx="7638081" cy="546772"/>
          </a:xfrm>
        </p:spPr>
        <p:txBody>
          <a:bodyPr>
            <a:noAutofit/>
          </a:bodyPr>
          <a:lstStyle/>
          <a:p>
            <a:r>
              <a:rPr lang="en-US" sz="3200" dirty="0"/>
              <a:t>Handle Class Imbalance </a:t>
            </a:r>
          </a:p>
        </p:txBody>
      </p:sp>
      <p:sp>
        <p:nvSpPr>
          <p:cNvPr id="3" name="Text Placeholder 2">
            <a:extLst>
              <a:ext uri="{FF2B5EF4-FFF2-40B4-BE49-F238E27FC236}">
                <a16:creationId xmlns:a16="http://schemas.microsoft.com/office/drawing/2014/main" id="{B1958CF3-5657-BD45-31C1-EA1ED6FCE1FB}"/>
              </a:ext>
            </a:extLst>
          </p:cNvPr>
          <p:cNvSpPr>
            <a:spLocks noGrp="1"/>
          </p:cNvSpPr>
          <p:nvPr>
            <p:ph type="body" idx="1"/>
          </p:nvPr>
        </p:nvSpPr>
        <p:spPr>
          <a:xfrm>
            <a:off x="1591158" y="1535113"/>
            <a:ext cx="2906229" cy="639762"/>
          </a:xfrm>
        </p:spPr>
        <p:txBody>
          <a:bodyPr/>
          <a:lstStyle/>
          <a:p>
            <a:r>
              <a:rPr lang="en-US" dirty="0"/>
              <a:t>Before SMOTE</a:t>
            </a:r>
          </a:p>
        </p:txBody>
      </p:sp>
      <p:pic>
        <p:nvPicPr>
          <p:cNvPr id="8" name="Content Placeholder 7" descr="A blue and orange pie chart&#10;&#10;AI-generated content may be incorrect.">
            <a:extLst>
              <a:ext uri="{FF2B5EF4-FFF2-40B4-BE49-F238E27FC236}">
                <a16:creationId xmlns:a16="http://schemas.microsoft.com/office/drawing/2014/main" id="{4300840D-1FED-7171-1715-05F284D00188}"/>
              </a:ext>
            </a:extLst>
          </p:cNvPr>
          <p:cNvPicPr>
            <a:picLocks noGrp="1" noChangeAspect="1"/>
          </p:cNvPicPr>
          <p:nvPr>
            <p:ph sz="half" idx="2"/>
          </p:nvPr>
        </p:nvPicPr>
        <p:blipFill>
          <a:blip r:embed="rId2"/>
          <a:stretch>
            <a:fillRect/>
          </a:stretch>
        </p:blipFill>
        <p:spPr>
          <a:xfrm>
            <a:off x="457200" y="2495966"/>
            <a:ext cx="4040188" cy="3309106"/>
          </a:xfrm>
          <a:prstGeom prst="rect">
            <a:avLst/>
          </a:prstGeom>
        </p:spPr>
      </p:pic>
      <p:sp>
        <p:nvSpPr>
          <p:cNvPr id="5" name="Text Placeholder 4">
            <a:extLst>
              <a:ext uri="{FF2B5EF4-FFF2-40B4-BE49-F238E27FC236}">
                <a16:creationId xmlns:a16="http://schemas.microsoft.com/office/drawing/2014/main" id="{FDDE0C00-B13A-43A0-F516-40C919F86537}"/>
              </a:ext>
            </a:extLst>
          </p:cNvPr>
          <p:cNvSpPr>
            <a:spLocks noGrp="1"/>
          </p:cNvSpPr>
          <p:nvPr>
            <p:ph type="body" sz="quarter" idx="3"/>
          </p:nvPr>
        </p:nvSpPr>
        <p:spPr>
          <a:xfrm>
            <a:off x="6065003" y="1535113"/>
            <a:ext cx="2621797" cy="593321"/>
          </a:xfrm>
        </p:spPr>
        <p:txBody>
          <a:bodyPr/>
          <a:lstStyle/>
          <a:p>
            <a:r>
              <a:rPr lang="en-US" dirty="0"/>
              <a:t>After SMOTE</a:t>
            </a:r>
          </a:p>
        </p:txBody>
      </p:sp>
      <p:pic>
        <p:nvPicPr>
          <p:cNvPr id="10" name="Content Placeholder 9" descr="A blue and orange pie chart&#10;&#10;AI-generated content may be incorrect.">
            <a:extLst>
              <a:ext uri="{FF2B5EF4-FFF2-40B4-BE49-F238E27FC236}">
                <a16:creationId xmlns:a16="http://schemas.microsoft.com/office/drawing/2014/main" id="{A420270C-3555-FAB6-EDF2-558950936A1D}"/>
              </a:ext>
            </a:extLst>
          </p:cNvPr>
          <p:cNvPicPr>
            <a:picLocks noGrp="1" noChangeAspect="1"/>
          </p:cNvPicPr>
          <p:nvPr>
            <p:ph sz="quarter" idx="4"/>
          </p:nvPr>
        </p:nvPicPr>
        <p:blipFill>
          <a:blip r:embed="rId3"/>
          <a:stretch>
            <a:fillRect/>
          </a:stretch>
        </p:blipFill>
        <p:spPr>
          <a:xfrm>
            <a:off x="3991465" y="2557434"/>
            <a:ext cx="5037819" cy="3186170"/>
          </a:xfrm>
          <a:prstGeom prst="rect">
            <a:avLst/>
          </a:prstGeom>
        </p:spPr>
      </p:pic>
      <p:sp>
        <p:nvSpPr>
          <p:cNvPr id="11" name="Text Placeholder 4">
            <a:extLst>
              <a:ext uri="{FF2B5EF4-FFF2-40B4-BE49-F238E27FC236}">
                <a16:creationId xmlns:a16="http://schemas.microsoft.com/office/drawing/2014/main" id="{691E4CF0-1A1B-2A27-6D5F-082B10DD254D}"/>
              </a:ext>
            </a:extLst>
          </p:cNvPr>
          <p:cNvSpPr txBox="1">
            <a:spLocks/>
          </p:cNvSpPr>
          <p:nvPr/>
        </p:nvSpPr>
        <p:spPr>
          <a:xfrm>
            <a:off x="2846870" y="821410"/>
            <a:ext cx="4041775" cy="639762"/>
          </a:xfrm>
          <a:prstGeom prst="rect">
            <a:avLst/>
          </a:prstGeom>
        </p:spPr>
        <p:txBody>
          <a:bodyPr vert="horz" lIns="91440" tIns="45720" rIns="91440" bIns="45720" rtlCol="0" anchor="b">
            <a:normAutofit/>
          </a:bodyPr>
          <a:lstStyle>
            <a:lvl1pPr marL="0" indent="0" algn="l" defTabSz="457200" rtl="0" eaLnBrk="1" latinLnBrk="0" hangingPunct="1">
              <a:spcBef>
                <a:spcPct val="20000"/>
              </a:spcBef>
              <a:buFont typeface="Arial" panose="020B0604020202020204"/>
              <a:buNone/>
              <a:defRPr sz="2400" b="1" kern="1200">
                <a:solidFill>
                  <a:schemeClr val="tx1"/>
                </a:solidFill>
                <a:latin typeface="+mn-lt"/>
                <a:ea typeface="+mn-ea"/>
                <a:cs typeface="+mn-cs"/>
              </a:defRPr>
            </a:lvl1pPr>
            <a:lvl2pPr marL="457200" indent="0" algn="l" defTabSz="457200" rtl="0" eaLnBrk="1" latinLnBrk="0" hangingPunct="1">
              <a:spcBef>
                <a:spcPct val="20000"/>
              </a:spcBef>
              <a:buFont typeface="Arial" panose="020B0604020202020204"/>
              <a:buNone/>
              <a:defRPr sz="2000" b="1" kern="1200">
                <a:solidFill>
                  <a:schemeClr val="tx1"/>
                </a:solidFill>
                <a:latin typeface="+mn-lt"/>
                <a:ea typeface="+mn-ea"/>
                <a:cs typeface="+mn-cs"/>
              </a:defRPr>
            </a:lvl2pPr>
            <a:lvl3pPr marL="914400" indent="0" algn="l" defTabSz="457200" rtl="0" eaLnBrk="1" latinLnBrk="0" hangingPunct="1">
              <a:spcBef>
                <a:spcPct val="20000"/>
              </a:spcBef>
              <a:buFont typeface="Arial" panose="020B0604020202020204"/>
              <a:buNone/>
              <a:defRPr sz="1800" b="1" kern="1200">
                <a:solidFill>
                  <a:schemeClr val="tx1"/>
                </a:solidFill>
                <a:latin typeface="+mn-lt"/>
                <a:ea typeface="+mn-ea"/>
                <a:cs typeface="+mn-cs"/>
              </a:defRPr>
            </a:lvl3pPr>
            <a:lvl4pPr marL="13716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4pPr>
            <a:lvl5pPr marL="18288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5pPr>
            <a:lvl6pPr marL="22860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6pPr>
            <a:lvl7pPr marL="27432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7pPr>
            <a:lvl8pPr marL="32004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8pPr>
            <a:lvl9pPr marL="3657600" indent="0" algn="l" defTabSz="457200" rtl="0" eaLnBrk="1" latinLnBrk="0" hangingPunct="1">
              <a:spcBef>
                <a:spcPct val="20000"/>
              </a:spcBef>
              <a:buFont typeface="Arial" panose="020B0604020202020204"/>
              <a:buNone/>
              <a:defRPr sz="1600" b="1" kern="1200">
                <a:solidFill>
                  <a:schemeClr val="tx1"/>
                </a:solidFill>
                <a:latin typeface="+mn-lt"/>
                <a:ea typeface="+mn-ea"/>
                <a:cs typeface="+mn-cs"/>
              </a:defRPr>
            </a:lvl9pPr>
          </a:lstStyle>
          <a:p>
            <a:r>
              <a:rPr lang="en-US" dirty="0"/>
              <a:t>Booking Status Distribution</a:t>
            </a:r>
          </a:p>
        </p:txBody>
      </p:sp>
    </p:spTree>
    <p:extLst>
      <p:ext uri="{BB962C8B-B14F-4D97-AF65-F5344CB8AC3E}">
        <p14:creationId xmlns:p14="http://schemas.microsoft.com/office/powerpoint/2010/main" val="2474918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4714483-7072-431F-9DBE-87F44E4D44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95892E1-F4A5-4991-AC52-4F417B14A2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ACF597F8-76AA-44FA-8E6A-06223B66C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75420"/>
            <a:ext cx="9036544" cy="4093306"/>
            <a:chOff x="1" y="2075420"/>
            <a:chExt cx="12048729" cy="4093306"/>
          </a:xfrm>
        </p:grpSpPr>
        <p:sp>
          <p:nvSpPr>
            <p:cNvPr id="14" name="Oval 13">
              <a:extLst>
                <a:ext uri="{FF2B5EF4-FFF2-40B4-BE49-F238E27FC236}">
                  <a16:creationId xmlns:a16="http://schemas.microsoft.com/office/drawing/2014/main" id="{A6E12753-0A63-43EE-B28A-C989D033EA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7942191" y="2507571"/>
              <a:ext cx="3563871" cy="3563871"/>
            </a:xfrm>
            <a:prstGeom prst="ellipse">
              <a:avLst/>
            </a:prstGeom>
            <a:noFill/>
            <a:ln w="31750">
              <a:gradFill>
                <a:gsLst>
                  <a:gs pos="0">
                    <a:schemeClr val="tx2">
                      <a:lumMod val="60000"/>
                      <a:lumOff val="40000"/>
                      <a:alpha val="1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B26FA385-76DA-40E9-9257-AA3E07FF61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435065" y="4048931"/>
              <a:ext cx="1381607" cy="1381607"/>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62D75CA-F374-4878-8106-3EA5E970D6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 y="2075420"/>
              <a:ext cx="3144364" cy="3144364"/>
            </a:xfrm>
            <a:prstGeom prst="ellipse">
              <a:avLst/>
            </a:prstGeom>
            <a:gradFill>
              <a:gsLst>
                <a:gs pos="0">
                  <a:schemeClr val="tx2">
                    <a:lumMod val="75000"/>
                    <a:alpha val="20000"/>
                  </a:schemeClr>
                </a:gs>
                <a:gs pos="100000">
                  <a:schemeClr val="tx2">
                    <a:lumMod val="50000"/>
                    <a:alpha val="1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938667A5-74E3-4EFD-8C45-F48F47427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2600000">
              <a:off x="10150845" y="4270841"/>
              <a:ext cx="1897885" cy="1897885"/>
            </a:xfrm>
            <a:prstGeom prst="ellipse">
              <a:avLst/>
            </a:prstGeom>
            <a:gradFill>
              <a:gsLst>
                <a:gs pos="0">
                  <a:schemeClr val="tx2">
                    <a:lumMod val="75000"/>
                    <a:alpha val="10000"/>
                  </a:schemeClr>
                </a:gs>
                <a:gs pos="100000">
                  <a:schemeClr val="tx2">
                    <a:lumMod val="75000"/>
                    <a:alpha val="2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Oval 17">
              <a:extLst>
                <a:ext uri="{FF2B5EF4-FFF2-40B4-BE49-F238E27FC236}">
                  <a16:creationId xmlns:a16="http://schemas.microsoft.com/office/drawing/2014/main" id="{31512EE2-F4CC-4E18-9CDA-B92C111224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046780" y="3040492"/>
              <a:ext cx="2579322" cy="2579322"/>
            </a:xfrm>
            <a:prstGeom prst="ellipse">
              <a:avLst/>
            </a:prstGeom>
            <a:noFill/>
            <a:ln w="31750">
              <a:gradFill>
                <a:gsLst>
                  <a:gs pos="0">
                    <a:schemeClr val="tx2">
                      <a:lumMod val="60000"/>
                      <a:lumOff val="40000"/>
                      <a:alpha val="20000"/>
                    </a:schemeClr>
                  </a:gs>
                  <a:gs pos="100000">
                    <a:schemeClr val="tx2">
                      <a:lumMod val="50000"/>
                      <a:alpha val="20000"/>
                    </a:schemeClr>
                  </a:gs>
                </a:gsLst>
                <a:lin ang="5400000" scaled="1"/>
              </a:gra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B99E503B-9B4D-4EE3-A50F-15AC374F6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4500000">
              <a:off x="2224640" y="3193975"/>
              <a:ext cx="2243193" cy="2243193"/>
            </a:xfrm>
            <a:prstGeom prst="ellipse">
              <a:avLst/>
            </a:prstGeom>
            <a:noFill/>
            <a:ln w="31750">
              <a:gradFill>
                <a:gsLst>
                  <a:gs pos="0">
                    <a:schemeClr val="tx2">
                      <a:lumMod val="60000"/>
                      <a:lumOff val="40000"/>
                      <a:alpha val="10000"/>
                    </a:schemeClr>
                  </a:gs>
                  <a:gs pos="100000">
                    <a:schemeClr val="tx2">
                      <a:lumMod val="50000"/>
                      <a:alpha val="10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Rectangle 38">
            <a:extLst>
              <a:ext uri="{FF2B5EF4-FFF2-40B4-BE49-F238E27FC236}">
                <a16:creationId xmlns:a16="http://schemas.microsoft.com/office/drawing/2014/main" id="{E2683E3F-F855-4549-84F8-42064EC0F2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479052" y="1131512"/>
            <a:ext cx="2796461" cy="533439"/>
          </a:xfrm>
          <a:prstGeom prst="rect">
            <a:avLst/>
          </a:prstGeom>
          <a:gradFill flip="none" rotWithShape="1">
            <a:gsLst>
              <a:gs pos="0">
                <a:schemeClr val="tx2">
                  <a:lumMod val="40000"/>
                  <a:lumOff val="60000"/>
                  <a:alpha val="0"/>
                </a:schemeClr>
              </a:gs>
              <a:gs pos="100000">
                <a:schemeClr val="tx2">
                  <a:lumMod val="75000"/>
                  <a:alpha val="1000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8FC90B1E-0223-4440-AF22-8F32F6F0C7D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444654" y="317578"/>
            <a:ext cx="411480" cy="549007"/>
            <a:chOff x="7029447" y="3514725"/>
            <a:chExt cx="1285875" cy="549007"/>
          </a:xfrm>
        </p:grpSpPr>
        <p:cxnSp>
          <p:nvCxnSpPr>
            <p:cNvPr id="24" name="Straight Connector 23">
              <a:extLst>
                <a:ext uri="{FF2B5EF4-FFF2-40B4-BE49-F238E27FC236}">
                  <a16:creationId xmlns:a16="http://schemas.microsoft.com/office/drawing/2014/main" id="{A2D2E879-0004-4D84-8137-1C09334038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3BE75A2-0D83-4F8E-84CC-D3BCD565B1B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E90F7F49-1039-49EF-A9BD-153DB590B6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9E85F508-9EA4-4B4D-8171-648670650E9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75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sp>
        <p:nvSpPr>
          <p:cNvPr id="29" name="Rectangle 28">
            <a:extLst>
              <a:ext uri="{FF2B5EF4-FFF2-40B4-BE49-F238E27FC236}">
                <a16:creationId xmlns:a16="http://schemas.microsoft.com/office/drawing/2014/main" id="{832F3179-0CD5-40C8-9939-D8355006F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140785"/>
            <a:ext cx="4571997" cy="711252"/>
          </a:xfrm>
          <a:prstGeom prst="rect">
            <a:avLst/>
          </a:prstGeom>
          <a:gradFill flip="none" rotWithShape="1">
            <a:gsLst>
              <a:gs pos="10000">
                <a:schemeClr val="tx2">
                  <a:lumMod val="50000"/>
                  <a:alpha val="10000"/>
                </a:schemeClr>
              </a:gs>
              <a:gs pos="100000">
                <a:schemeClr val="tx2">
                  <a:lumMod val="60000"/>
                  <a:lumOff val="40000"/>
                  <a:alpha val="0"/>
                </a:schemeClr>
              </a:gs>
            </a:gsLst>
            <a:lin ang="8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11CE155D-684B-4F5E-B835-C52765E310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645785" y="5940560"/>
            <a:ext cx="1285875" cy="549007"/>
            <a:chOff x="7029447" y="3514725"/>
            <a:chExt cx="1285875" cy="549007"/>
          </a:xfrm>
        </p:grpSpPr>
        <p:cxnSp>
          <p:nvCxnSpPr>
            <p:cNvPr id="32" name="Straight Connector 31">
              <a:extLst>
                <a:ext uri="{FF2B5EF4-FFF2-40B4-BE49-F238E27FC236}">
                  <a16:creationId xmlns:a16="http://schemas.microsoft.com/office/drawing/2014/main" id="{04F84AF8-E1A7-41D4-A102-8F87CAE37EE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514725"/>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ED126F1-DB23-4314-B6C7-FE89E3C581A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697727"/>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ACB2B6F-8883-4A00-88DD-98CDDD46B8A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3880729"/>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B9A2180-808A-4423-BB2B-6464B290007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7029447" y="4063732"/>
              <a:ext cx="1285875" cy="0"/>
            </a:xfrm>
            <a:prstGeom prst="line">
              <a:avLst/>
            </a:prstGeom>
            <a:ln w="31750" cap="rnd" cmpd="sng">
              <a:gradFill>
                <a:gsLst>
                  <a:gs pos="0">
                    <a:schemeClr val="tx2">
                      <a:lumMod val="60000"/>
                      <a:lumOff val="40000"/>
                      <a:alpha val="40000"/>
                    </a:schemeClr>
                  </a:gs>
                  <a:gs pos="100000">
                    <a:schemeClr val="tx2">
                      <a:lumMod val="50000"/>
                      <a:alpha val="40000"/>
                    </a:schemeClr>
                  </a:gs>
                </a:gsLst>
                <a:lin ang="5400000" scaled="1"/>
              </a:gradFill>
              <a:prstDash val="sysDot"/>
              <a:round/>
            </a:ln>
          </p:spPr>
          <p:style>
            <a:lnRef idx="1">
              <a:schemeClr val="accent1"/>
            </a:lnRef>
            <a:fillRef idx="0">
              <a:schemeClr val="accent1"/>
            </a:fillRef>
            <a:effectRef idx="0">
              <a:schemeClr val="accent1"/>
            </a:effectRef>
            <a:fontRef idx="minor">
              <a:schemeClr val="tx1"/>
            </a:fontRef>
          </p:style>
        </p:cxnSp>
      </p:grpSp>
      <p:pic>
        <p:nvPicPr>
          <p:cNvPr id="4" name="Video 3" descr="Binary Code Globe">
            <a:extLst>
              <a:ext uri="{FF2B5EF4-FFF2-40B4-BE49-F238E27FC236}">
                <a16:creationId xmlns:a16="http://schemas.microsoft.com/office/drawing/2014/main" id="{C363F230-BA6E-8135-425F-E72D1EF581A5}"/>
              </a:ext>
            </a:extLst>
          </p:cNvPr>
          <p:cNvPicPr>
            <a:picLocks noChangeAspect="1"/>
          </p:cNvPicPr>
          <p:nvPr>
            <a:videoFile r:link="rId2"/>
            <p:extLst>
              <p:ext uri="{DAA4B4D4-6D71-4841-9C94-3DE7FCFB9230}">
                <p14:media xmlns:p14="http://schemas.microsoft.com/office/powerpoint/2010/main" r:embed="rId1"/>
              </p:ext>
            </p:extLst>
          </p:nvPr>
        </p:nvPicPr>
        <p:blipFill>
          <a:blip r:embed="rId4">
            <a:duotone>
              <a:prstClr val="black"/>
              <a:schemeClr val="bg1">
                <a:tint val="45000"/>
                <a:satMod val="400000"/>
              </a:schemeClr>
            </a:duotone>
            <a:alphaModFix amt="25000"/>
          </a:blip>
          <a:srcRect l="22784" r="2002" b="-1"/>
          <a:stretch>
            <a:fillRect/>
          </a:stretch>
        </p:blipFill>
        <p:spPr>
          <a:xfrm>
            <a:off x="575601" y="29548"/>
            <a:ext cx="8041262" cy="6013845"/>
          </a:xfrm>
          <a:prstGeom prst="rect">
            <a:avLst/>
          </a:prstGeom>
        </p:spPr>
      </p:pic>
      <p:sp>
        <p:nvSpPr>
          <p:cNvPr id="2" name="Title 1">
            <a:extLst>
              <a:ext uri="{FF2B5EF4-FFF2-40B4-BE49-F238E27FC236}">
                <a16:creationId xmlns:a16="http://schemas.microsoft.com/office/drawing/2014/main" id="{0706EA5E-3301-5ECD-124B-70701870B7B6}"/>
              </a:ext>
            </a:extLst>
          </p:cNvPr>
          <p:cNvSpPr>
            <a:spLocks noGrp="1"/>
          </p:cNvSpPr>
          <p:nvPr>
            <p:ph type="title"/>
          </p:nvPr>
        </p:nvSpPr>
        <p:spPr>
          <a:xfrm>
            <a:off x="1963629" y="630936"/>
            <a:ext cx="5486400" cy="2702018"/>
          </a:xfrm>
          <a:noFill/>
        </p:spPr>
        <p:txBody>
          <a:bodyPr vert="horz" lIns="91440" tIns="45720" rIns="91440" bIns="45720" rtlCol="0" anchor="b">
            <a:normAutofit/>
          </a:bodyPr>
          <a:lstStyle/>
          <a:p>
            <a:pPr algn="ctr" defTabSz="914400">
              <a:lnSpc>
                <a:spcPct val="90000"/>
              </a:lnSpc>
            </a:pPr>
            <a:r>
              <a:rPr lang="en-US" sz="4200" kern="1200">
                <a:solidFill>
                  <a:schemeClr val="bg1"/>
                </a:solidFill>
                <a:latin typeface="+mj-lt"/>
                <a:ea typeface="+mj-ea"/>
                <a:cs typeface="+mj-cs"/>
              </a:rPr>
              <a:t>Machine  Learning</a:t>
            </a:r>
          </a:p>
        </p:txBody>
      </p:sp>
      <p:sp>
        <p:nvSpPr>
          <p:cNvPr id="3" name="Text Placeholder 2">
            <a:extLst>
              <a:ext uri="{FF2B5EF4-FFF2-40B4-BE49-F238E27FC236}">
                <a16:creationId xmlns:a16="http://schemas.microsoft.com/office/drawing/2014/main" id="{A30982AC-AE2E-9B8F-21AC-F7285B494E38}"/>
              </a:ext>
            </a:extLst>
          </p:cNvPr>
          <p:cNvSpPr>
            <a:spLocks noGrp="1"/>
          </p:cNvSpPr>
          <p:nvPr>
            <p:ph type="body" idx="1"/>
          </p:nvPr>
        </p:nvSpPr>
        <p:spPr>
          <a:xfrm>
            <a:off x="1963630" y="3427487"/>
            <a:ext cx="5486400" cy="2615906"/>
          </a:xfrm>
          <a:noFill/>
        </p:spPr>
        <p:txBody>
          <a:bodyPr vert="horz" lIns="91440" tIns="45720" rIns="91440" bIns="45720" rtlCol="0" anchor="t">
            <a:normAutofit/>
          </a:bodyPr>
          <a:lstStyle/>
          <a:p>
            <a:pPr algn="ctr" defTabSz="914400">
              <a:lnSpc>
                <a:spcPct val="90000"/>
              </a:lnSpc>
              <a:spcBef>
                <a:spcPts val="1000"/>
              </a:spcBef>
            </a:pPr>
            <a:r>
              <a:rPr lang="en-US" sz="2400" kern="1200">
                <a:solidFill>
                  <a:schemeClr val="bg1"/>
                </a:solidFill>
                <a:latin typeface="+mn-lt"/>
                <a:ea typeface="+mn-ea"/>
                <a:cs typeface="+mn-cs"/>
              </a:rPr>
              <a:t>Base line Model Building</a:t>
            </a:r>
          </a:p>
          <a:p>
            <a:pPr algn="ctr" defTabSz="914400">
              <a:lnSpc>
                <a:spcPct val="90000"/>
              </a:lnSpc>
              <a:spcBef>
                <a:spcPts val="1000"/>
              </a:spcBef>
            </a:pPr>
            <a:r>
              <a:rPr lang="en-US" sz="2400" kern="1200">
                <a:solidFill>
                  <a:schemeClr val="bg1"/>
                </a:solidFill>
                <a:latin typeface="+mn-lt"/>
                <a:ea typeface="+mn-ea"/>
                <a:cs typeface="+mn-cs"/>
              </a:rPr>
              <a:t>Training Advanced Models</a:t>
            </a:r>
          </a:p>
          <a:p>
            <a:pPr algn="ctr" defTabSz="914400">
              <a:lnSpc>
                <a:spcPct val="90000"/>
              </a:lnSpc>
              <a:spcBef>
                <a:spcPts val="1000"/>
              </a:spcBef>
            </a:pPr>
            <a:r>
              <a:rPr lang="en-US" sz="2400" kern="1200">
                <a:solidFill>
                  <a:schemeClr val="bg1"/>
                </a:solidFill>
                <a:latin typeface="+mn-lt"/>
                <a:ea typeface="+mn-ea"/>
                <a:cs typeface="+mn-cs"/>
              </a:rPr>
              <a:t>Hyper Parameter Tuning</a:t>
            </a:r>
          </a:p>
          <a:p>
            <a:pPr algn="ctr" defTabSz="914400">
              <a:lnSpc>
                <a:spcPct val="90000"/>
              </a:lnSpc>
              <a:spcBef>
                <a:spcPts val="1000"/>
              </a:spcBef>
            </a:pPr>
            <a:r>
              <a:rPr lang="en-US" sz="2400" kern="1200">
                <a:solidFill>
                  <a:schemeClr val="bg1"/>
                </a:solidFill>
                <a:latin typeface="+mn-lt"/>
                <a:ea typeface="+mn-ea"/>
                <a:cs typeface="+mn-cs"/>
              </a:rPr>
              <a:t>Final Model Evaluation</a:t>
            </a:r>
          </a:p>
        </p:txBody>
      </p:sp>
    </p:spTree>
    <p:extLst>
      <p:ext uri="{BB962C8B-B14F-4D97-AF65-F5344CB8AC3E}">
        <p14:creationId xmlns:p14="http://schemas.microsoft.com/office/powerpoint/2010/main" val="2660419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65FC67-5AEE-AC43-27D0-DF467542E009}"/>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Baseline Model – Logistic Regression</a:t>
            </a:r>
          </a:p>
        </p:txBody>
      </p:sp>
      <p:sp>
        <p:nvSpPr>
          <p:cNvPr id="6" name="Title 1">
            <a:extLst>
              <a:ext uri="{FF2B5EF4-FFF2-40B4-BE49-F238E27FC236}">
                <a16:creationId xmlns:a16="http://schemas.microsoft.com/office/drawing/2014/main" id="{A8E03D46-5323-0757-590C-A5DD26AF3B79}"/>
              </a:ext>
            </a:extLst>
          </p:cNvPr>
          <p:cNvSpPr txBox="1">
            <a:spLocks/>
          </p:cNvSpPr>
          <p:nvPr/>
        </p:nvSpPr>
        <p:spPr>
          <a:xfrm>
            <a:off x="6429374" y="390832"/>
            <a:ext cx="2425189" cy="87361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1700" kern="1200">
                <a:solidFill>
                  <a:srgbClr val="FFFFFF"/>
                </a:solidFill>
                <a:latin typeface="+mn-lt"/>
                <a:ea typeface="+mn-ea"/>
                <a:cs typeface="+mn-cs"/>
              </a:rPr>
              <a:t>Model showed an accuracy of 100%</a:t>
            </a:r>
          </a:p>
        </p:txBody>
      </p:sp>
      <p:pic>
        <p:nvPicPr>
          <p:cNvPr id="5" name="Content Placeholder 4" descr="A screenshot of a computer screen&#10;&#10;AI-generated content may be incorrect.">
            <a:extLst>
              <a:ext uri="{FF2B5EF4-FFF2-40B4-BE49-F238E27FC236}">
                <a16:creationId xmlns:a16="http://schemas.microsoft.com/office/drawing/2014/main" id="{1ED22F11-BC3B-25B3-405D-ED5C920CCEDF}"/>
              </a:ext>
            </a:extLst>
          </p:cNvPr>
          <p:cNvPicPr>
            <a:picLocks noGrp="1" noChangeAspect="1"/>
          </p:cNvPicPr>
          <p:nvPr>
            <p:ph idx="1"/>
          </p:nvPr>
        </p:nvPicPr>
        <p:blipFill>
          <a:blip r:embed="rId2"/>
          <a:stretch>
            <a:fillRect/>
          </a:stretch>
        </p:blipFill>
        <p:spPr>
          <a:xfrm>
            <a:off x="324168" y="2344567"/>
            <a:ext cx="8495662" cy="3695612"/>
          </a:xfrm>
          <a:prstGeom prst="rect">
            <a:avLst/>
          </a:prstGeom>
        </p:spPr>
      </p:pic>
    </p:spTree>
    <p:extLst>
      <p:ext uri="{BB962C8B-B14F-4D97-AF65-F5344CB8AC3E}">
        <p14:creationId xmlns:p14="http://schemas.microsoft.com/office/powerpoint/2010/main" val="38709174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EBEE27C-CBB2-C51D-15CE-E5E8C70428BA}"/>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93D660-FACB-169A-9760-F0B2D583B107}"/>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Advanced Model – Random Forest</a:t>
            </a:r>
          </a:p>
        </p:txBody>
      </p:sp>
      <p:sp>
        <p:nvSpPr>
          <p:cNvPr id="6" name="Title 1">
            <a:extLst>
              <a:ext uri="{FF2B5EF4-FFF2-40B4-BE49-F238E27FC236}">
                <a16:creationId xmlns:a16="http://schemas.microsoft.com/office/drawing/2014/main" id="{CC3870D9-BCE6-A852-A642-1B85D0FBF900}"/>
              </a:ext>
            </a:extLst>
          </p:cNvPr>
          <p:cNvSpPr txBox="1">
            <a:spLocks/>
          </p:cNvSpPr>
          <p:nvPr/>
        </p:nvSpPr>
        <p:spPr>
          <a:xfrm>
            <a:off x="6429374" y="390832"/>
            <a:ext cx="2425189" cy="873612"/>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defTabSz="914400">
              <a:lnSpc>
                <a:spcPct val="90000"/>
              </a:lnSpc>
              <a:spcBef>
                <a:spcPts val="1000"/>
              </a:spcBef>
            </a:pPr>
            <a:r>
              <a:rPr lang="en-US" sz="1700" kern="1200">
                <a:solidFill>
                  <a:srgbClr val="FFFFFF"/>
                </a:solidFill>
                <a:latin typeface="+mn-lt"/>
                <a:ea typeface="+mn-ea"/>
                <a:cs typeface="+mn-cs"/>
              </a:rPr>
              <a:t>Model also showed an accuracy of 100%</a:t>
            </a:r>
          </a:p>
        </p:txBody>
      </p:sp>
      <p:pic>
        <p:nvPicPr>
          <p:cNvPr id="8" name="Picture 7" descr="A screenshot of a computer&#10;&#10;AI-generated content may be incorrect.">
            <a:extLst>
              <a:ext uri="{FF2B5EF4-FFF2-40B4-BE49-F238E27FC236}">
                <a16:creationId xmlns:a16="http://schemas.microsoft.com/office/drawing/2014/main" id="{CB22B744-40F3-2E4F-500C-EE99B5317B73}"/>
              </a:ext>
            </a:extLst>
          </p:cNvPr>
          <p:cNvPicPr>
            <a:picLocks noChangeAspect="1"/>
          </p:cNvPicPr>
          <p:nvPr/>
        </p:nvPicPr>
        <p:blipFill>
          <a:blip r:embed="rId2"/>
          <a:stretch>
            <a:fillRect/>
          </a:stretch>
        </p:blipFill>
        <p:spPr>
          <a:xfrm>
            <a:off x="324168" y="2323327"/>
            <a:ext cx="8495662" cy="3738091"/>
          </a:xfrm>
          <a:prstGeom prst="rect">
            <a:avLst/>
          </a:prstGeom>
        </p:spPr>
      </p:pic>
    </p:spTree>
    <p:extLst>
      <p:ext uri="{BB962C8B-B14F-4D97-AF65-F5344CB8AC3E}">
        <p14:creationId xmlns:p14="http://schemas.microsoft.com/office/powerpoint/2010/main" val="5009687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5" name="Rectangle 24">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492"/>
            <a:ext cx="9143999"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35"/>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8" y="-3783777"/>
            <a:ext cx="1576446" cy="9144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9075" y="986"/>
            <a:ext cx="3227567"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CAF10B-27CF-0B26-4FB8-9D65DF97E754}"/>
              </a:ext>
            </a:extLst>
          </p:cNvPr>
          <p:cNvSpPr>
            <a:spLocks noGrp="1"/>
          </p:cNvSpPr>
          <p:nvPr>
            <p:ph type="title"/>
          </p:nvPr>
        </p:nvSpPr>
        <p:spPr>
          <a:xfrm>
            <a:off x="524785" y="353160"/>
            <a:ext cx="5318475" cy="898581"/>
          </a:xfrm>
        </p:spPr>
        <p:txBody>
          <a:bodyPr vert="horz" lIns="91440" tIns="45720" rIns="91440" bIns="45720" rtlCol="0" anchor="ctr">
            <a:normAutofit/>
          </a:bodyPr>
          <a:lstStyle/>
          <a:p>
            <a:pPr algn="l" defTabSz="914400">
              <a:lnSpc>
                <a:spcPct val="90000"/>
              </a:lnSpc>
            </a:pPr>
            <a:r>
              <a:rPr lang="en-US" sz="2700">
                <a:solidFill>
                  <a:srgbClr val="FFFFFF"/>
                </a:solidFill>
              </a:rPr>
              <a:t>Training Multiple Classification Models</a:t>
            </a:r>
          </a:p>
        </p:txBody>
      </p:sp>
      <p:pic>
        <p:nvPicPr>
          <p:cNvPr id="8" name="Content Placeholder 7" descr="A screenshot of a computer&#10;&#10;AI-generated content may be incorrect.">
            <a:extLst>
              <a:ext uri="{FF2B5EF4-FFF2-40B4-BE49-F238E27FC236}">
                <a16:creationId xmlns:a16="http://schemas.microsoft.com/office/drawing/2014/main" id="{11F96BFB-92C6-1FB8-B52E-8E6E4F0F8A93}"/>
              </a:ext>
            </a:extLst>
          </p:cNvPr>
          <p:cNvPicPr>
            <a:picLocks noGrp="1" noChangeAspect="1"/>
          </p:cNvPicPr>
          <p:nvPr>
            <p:ph sz="half" idx="2"/>
          </p:nvPr>
        </p:nvPicPr>
        <p:blipFill>
          <a:blip r:embed="rId2"/>
          <a:stretch>
            <a:fillRect/>
          </a:stretch>
        </p:blipFill>
        <p:spPr>
          <a:xfrm>
            <a:off x="1053885" y="1724936"/>
            <a:ext cx="3331242" cy="4588866"/>
          </a:xfrm>
          <a:prstGeom prst="rect">
            <a:avLst/>
          </a:prstGeom>
        </p:spPr>
      </p:pic>
      <p:pic>
        <p:nvPicPr>
          <p:cNvPr id="10" name="Content Placeholder 9" descr="A screenshot of a document&#10;&#10;AI-generated content may be incorrect.">
            <a:extLst>
              <a:ext uri="{FF2B5EF4-FFF2-40B4-BE49-F238E27FC236}">
                <a16:creationId xmlns:a16="http://schemas.microsoft.com/office/drawing/2014/main" id="{3CBEC02A-CFC3-BC0C-7544-356C8CD94388}"/>
              </a:ext>
            </a:extLst>
          </p:cNvPr>
          <p:cNvPicPr>
            <a:picLocks noGrp="1" noChangeAspect="1"/>
          </p:cNvPicPr>
          <p:nvPr>
            <p:ph sz="quarter" idx="4"/>
          </p:nvPr>
        </p:nvPicPr>
        <p:blipFill>
          <a:blip r:embed="rId3"/>
          <a:stretch>
            <a:fillRect/>
          </a:stretch>
        </p:blipFill>
        <p:spPr>
          <a:xfrm>
            <a:off x="4849932" y="1712751"/>
            <a:ext cx="3100699" cy="4601051"/>
          </a:xfrm>
          <a:prstGeom prst="rect">
            <a:avLst/>
          </a:prstGeo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C02019B9-E533-20A2-BFF1-ADBE32853B14}"/>
                  </a:ext>
                </a:extLst>
              </p14:cNvPr>
              <p14:cNvContentPartPr/>
              <p14:nvPr/>
            </p14:nvContentPartPr>
            <p14:xfrm>
              <a:off x="4641077" y="1546879"/>
              <a:ext cx="360" cy="5110200"/>
            </p14:xfrm>
          </p:contentPart>
        </mc:Choice>
        <mc:Fallback xmlns="">
          <p:pic>
            <p:nvPicPr>
              <p:cNvPr id="11" name="Ink 10">
                <a:extLst>
                  <a:ext uri="{FF2B5EF4-FFF2-40B4-BE49-F238E27FC236}">
                    <a16:creationId xmlns:a16="http://schemas.microsoft.com/office/drawing/2014/main" id="{C02019B9-E533-20A2-BFF1-ADBE32853B14}"/>
                  </a:ext>
                </a:extLst>
              </p:cNvPr>
              <p:cNvPicPr/>
              <p:nvPr/>
            </p:nvPicPr>
            <p:blipFill>
              <a:blip r:embed="rId5"/>
              <a:stretch>
                <a:fillRect/>
              </a:stretch>
            </p:blipFill>
            <p:spPr>
              <a:xfrm>
                <a:off x="4634957" y="1540759"/>
                <a:ext cx="12600" cy="51224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 name="Ink 11">
                <a:extLst>
                  <a:ext uri="{FF2B5EF4-FFF2-40B4-BE49-F238E27FC236}">
                    <a16:creationId xmlns:a16="http://schemas.microsoft.com/office/drawing/2014/main" id="{89B4658A-EBAD-931D-8B51-F89F10084324}"/>
                  </a:ext>
                </a:extLst>
              </p14:cNvPr>
              <p14:cNvContentPartPr/>
              <p14:nvPr/>
            </p14:nvContentPartPr>
            <p14:xfrm>
              <a:off x="5424077" y="888079"/>
              <a:ext cx="360" cy="360"/>
            </p14:xfrm>
          </p:contentPart>
        </mc:Choice>
        <mc:Fallback xmlns="">
          <p:pic>
            <p:nvPicPr>
              <p:cNvPr id="12" name="Ink 11">
                <a:extLst>
                  <a:ext uri="{FF2B5EF4-FFF2-40B4-BE49-F238E27FC236}">
                    <a16:creationId xmlns:a16="http://schemas.microsoft.com/office/drawing/2014/main" id="{89B4658A-EBAD-931D-8B51-F89F10084324}"/>
                  </a:ext>
                </a:extLst>
              </p:cNvPr>
              <p:cNvPicPr/>
              <p:nvPr/>
            </p:nvPicPr>
            <p:blipFill>
              <a:blip r:embed="rId7"/>
              <a:stretch>
                <a:fillRect/>
              </a:stretch>
            </p:blipFill>
            <p:spPr>
              <a:xfrm>
                <a:off x="5417957" y="881959"/>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3" name="Ink 12">
                <a:extLst>
                  <a:ext uri="{FF2B5EF4-FFF2-40B4-BE49-F238E27FC236}">
                    <a16:creationId xmlns:a16="http://schemas.microsoft.com/office/drawing/2014/main" id="{782288DC-5071-EF66-992F-F6CA258FB354}"/>
                  </a:ext>
                </a:extLst>
              </p14:cNvPr>
              <p14:cNvContentPartPr/>
              <p14:nvPr/>
            </p14:nvContentPartPr>
            <p14:xfrm>
              <a:off x="5367557" y="1007239"/>
              <a:ext cx="360" cy="360"/>
            </p14:xfrm>
          </p:contentPart>
        </mc:Choice>
        <mc:Fallback xmlns="">
          <p:pic>
            <p:nvPicPr>
              <p:cNvPr id="13" name="Ink 12">
                <a:extLst>
                  <a:ext uri="{FF2B5EF4-FFF2-40B4-BE49-F238E27FC236}">
                    <a16:creationId xmlns:a16="http://schemas.microsoft.com/office/drawing/2014/main" id="{782288DC-5071-EF66-992F-F6CA258FB354}"/>
                  </a:ext>
                </a:extLst>
              </p:cNvPr>
              <p:cNvPicPr/>
              <p:nvPr/>
            </p:nvPicPr>
            <p:blipFill>
              <a:blip r:embed="rId7"/>
              <a:stretch>
                <a:fillRect/>
              </a:stretch>
            </p:blipFill>
            <p:spPr>
              <a:xfrm>
                <a:off x="5361437" y="1001119"/>
                <a:ext cx="12600" cy="12600"/>
              </a:xfrm>
              <a:prstGeom prst="rect">
                <a:avLst/>
              </a:prstGeom>
            </p:spPr>
          </p:pic>
        </mc:Fallback>
      </mc:AlternateContent>
    </p:spTree>
    <p:extLst>
      <p:ext uri="{BB962C8B-B14F-4D97-AF65-F5344CB8AC3E}">
        <p14:creationId xmlns:p14="http://schemas.microsoft.com/office/powerpoint/2010/main" val="325147470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E21B-7A2E-A031-9F56-D12FECFCBFF1}"/>
              </a:ext>
            </a:extLst>
          </p:cNvPr>
          <p:cNvSpPr>
            <a:spLocks noGrp="1"/>
          </p:cNvSpPr>
          <p:nvPr>
            <p:ph type="title"/>
          </p:nvPr>
        </p:nvSpPr>
        <p:spPr>
          <a:xfrm>
            <a:off x="1379349" y="449868"/>
            <a:ext cx="5747288" cy="350460"/>
          </a:xfrm>
        </p:spPr>
        <p:txBody>
          <a:bodyPr>
            <a:normAutofit fontScale="90000"/>
          </a:bodyPr>
          <a:lstStyle/>
          <a:p>
            <a:r>
              <a:rPr lang="en-US" sz="3200" dirty="0"/>
              <a:t>Confusion Matrix</a:t>
            </a:r>
          </a:p>
        </p:txBody>
      </p:sp>
      <p:sp>
        <p:nvSpPr>
          <p:cNvPr id="3" name="Text Placeholder 2">
            <a:extLst>
              <a:ext uri="{FF2B5EF4-FFF2-40B4-BE49-F238E27FC236}">
                <a16:creationId xmlns:a16="http://schemas.microsoft.com/office/drawing/2014/main" id="{036E7016-74BD-0047-E766-4F829622261F}"/>
              </a:ext>
            </a:extLst>
          </p:cNvPr>
          <p:cNvSpPr>
            <a:spLocks noGrp="1"/>
          </p:cNvSpPr>
          <p:nvPr>
            <p:ph type="body" idx="1"/>
          </p:nvPr>
        </p:nvSpPr>
        <p:spPr>
          <a:xfrm>
            <a:off x="927315" y="1124171"/>
            <a:ext cx="2637295" cy="288521"/>
          </a:xfrm>
        </p:spPr>
        <p:txBody>
          <a:bodyPr>
            <a:normAutofit fontScale="62500" lnSpcReduction="20000"/>
          </a:bodyPr>
          <a:lstStyle/>
          <a:p>
            <a:r>
              <a:rPr lang="en-US" u="sng" dirty="0"/>
              <a:t>Logistic Regression</a:t>
            </a:r>
          </a:p>
        </p:txBody>
      </p:sp>
      <p:pic>
        <p:nvPicPr>
          <p:cNvPr id="8" name="Content Placeholder 7" descr="A screenshot of a computer screen&#10;&#10;AI-generated content may be incorrect.">
            <a:extLst>
              <a:ext uri="{FF2B5EF4-FFF2-40B4-BE49-F238E27FC236}">
                <a16:creationId xmlns:a16="http://schemas.microsoft.com/office/drawing/2014/main" id="{3C991C12-88FB-CAA9-B8A4-F07A8F830532}"/>
              </a:ext>
            </a:extLst>
          </p:cNvPr>
          <p:cNvPicPr>
            <a:picLocks noGrp="1" noChangeAspect="1"/>
          </p:cNvPicPr>
          <p:nvPr>
            <p:ph sz="half" idx="2"/>
          </p:nvPr>
        </p:nvPicPr>
        <p:blipFill>
          <a:blip r:embed="rId2"/>
          <a:stretch>
            <a:fillRect/>
          </a:stretch>
        </p:blipFill>
        <p:spPr>
          <a:xfrm>
            <a:off x="73886" y="1722952"/>
            <a:ext cx="4386775" cy="4816973"/>
          </a:xfrm>
        </p:spPr>
      </p:pic>
      <p:sp>
        <p:nvSpPr>
          <p:cNvPr id="5" name="Text Placeholder 4">
            <a:extLst>
              <a:ext uri="{FF2B5EF4-FFF2-40B4-BE49-F238E27FC236}">
                <a16:creationId xmlns:a16="http://schemas.microsoft.com/office/drawing/2014/main" id="{3443800C-6059-5B5D-825B-8C9B24207009}"/>
              </a:ext>
            </a:extLst>
          </p:cNvPr>
          <p:cNvSpPr>
            <a:spLocks noGrp="1"/>
          </p:cNvSpPr>
          <p:nvPr>
            <p:ph type="body" sz="quarter" idx="3"/>
          </p:nvPr>
        </p:nvSpPr>
        <p:spPr>
          <a:xfrm>
            <a:off x="5317815" y="995563"/>
            <a:ext cx="2293050" cy="438338"/>
          </a:xfrm>
        </p:spPr>
        <p:txBody>
          <a:bodyPr>
            <a:normAutofit fontScale="62500" lnSpcReduction="20000"/>
          </a:bodyPr>
          <a:lstStyle/>
          <a:p>
            <a:r>
              <a:rPr lang="en-US" u="sng" dirty="0"/>
              <a:t>Random Forest</a:t>
            </a:r>
          </a:p>
        </p:txBody>
      </p:sp>
      <p:pic>
        <p:nvPicPr>
          <p:cNvPr id="10" name="Content Placeholder 9" descr="A screenshot of a computer&#10;&#10;AI-generated content may be incorrect.">
            <a:extLst>
              <a:ext uri="{FF2B5EF4-FFF2-40B4-BE49-F238E27FC236}">
                <a16:creationId xmlns:a16="http://schemas.microsoft.com/office/drawing/2014/main" id="{1FE6E0C0-9F15-6CA2-908D-6546C507AA59}"/>
              </a:ext>
            </a:extLst>
          </p:cNvPr>
          <p:cNvPicPr>
            <a:picLocks noGrp="1" noChangeAspect="1"/>
          </p:cNvPicPr>
          <p:nvPr>
            <p:ph sz="quarter" idx="4"/>
          </p:nvPr>
        </p:nvPicPr>
        <p:blipFill>
          <a:blip r:embed="rId3"/>
          <a:stretch>
            <a:fillRect/>
          </a:stretch>
        </p:blipFill>
        <p:spPr>
          <a:xfrm>
            <a:off x="4683340" y="1629137"/>
            <a:ext cx="4460660" cy="4778996"/>
          </a:xfrm>
        </p:spPr>
      </p:pic>
      <p:cxnSp>
        <p:nvCxnSpPr>
          <p:cNvPr id="6" name="Straight Connector 5">
            <a:extLst>
              <a:ext uri="{FF2B5EF4-FFF2-40B4-BE49-F238E27FC236}">
                <a16:creationId xmlns:a16="http://schemas.microsoft.com/office/drawing/2014/main" id="{FB38481E-1B82-21BE-A4D8-B3156F7F2AA3}"/>
              </a:ext>
            </a:extLst>
          </p:cNvPr>
          <p:cNvCxnSpPr>
            <a:cxnSpLocks/>
          </p:cNvCxnSpPr>
          <p:nvPr/>
        </p:nvCxnSpPr>
        <p:spPr>
          <a:xfrm>
            <a:off x="4491418" y="1214732"/>
            <a:ext cx="36334" cy="544646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25931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602E0-9DE5-0E63-5B20-601C7922F1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06DE3-B39B-762C-A345-755AAB7910AB}"/>
              </a:ext>
            </a:extLst>
          </p:cNvPr>
          <p:cNvSpPr>
            <a:spLocks noGrp="1"/>
          </p:cNvSpPr>
          <p:nvPr>
            <p:ph type="title"/>
          </p:nvPr>
        </p:nvSpPr>
        <p:spPr>
          <a:xfrm>
            <a:off x="1379349" y="449868"/>
            <a:ext cx="5747288" cy="350460"/>
          </a:xfrm>
        </p:spPr>
        <p:txBody>
          <a:bodyPr>
            <a:normAutofit fontScale="90000"/>
          </a:bodyPr>
          <a:lstStyle/>
          <a:p>
            <a:r>
              <a:rPr lang="en-US" sz="3200" dirty="0"/>
              <a:t>Confusion Matrix</a:t>
            </a:r>
          </a:p>
        </p:txBody>
      </p:sp>
      <p:sp>
        <p:nvSpPr>
          <p:cNvPr id="3" name="Text Placeholder 2">
            <a:extLst>
              <a:ext uri="{FF2B5EF4-FFF2-40B4-BE49-F238E27FC236}">
                <a16:creationId xmlns:a16="http://schemas.microsoft.com/office/drawing/2014/main" id="{1A3D3CDB-EE0A-D6FF-57D2-D8D5A8BB96AB}"/>
              </a:ext>
            </a:extLst>
          </p:cNvPr>
          <p:cNvSpPr>
            <a:spLocks noGrp="1"/>
          </p:cNvSpPr>
          <p:nvPr>
            <p:ph type="body" idx="1"/>
          </p:nvPr>
        </p:nvSpPr>
        <p:spPr>
          <a:xfrm>
            <a:off x="927315" y="1124171"/>
            <a:ext cx="2637295" cy="288521"/>
          </a:xfrm>
        </p:spPr>
        <p:txBody>
          <a:bodyPr>
            <a:normAutofit fontScale="62500" lnSpcReduction="20000"/>
          </a:bodyPr>
          <a:lstStyle/>
          <a:p>
            <a:r>
              <a:rPr lang="en-US" u="sng" dirty="0"/>
              <a:t>Gradient Boosting</a:t>
            </a:r>
          </a:p>
        </p:txBody>
      </p:sp>
      <p:sp>
        <p:nvSpPr>
          <p:cNvPr id="5" name="Text Placeholder 4">
            <a:extLst>
              <a:ext uri="{FF2B5EF4-FFF2-40B4-BE49-F238E27FC236}">
                <a16:creationId xmlns:a16="http://schemas.microsoft.com/office/drawing/2014/main" id="{5CC92093-CB64-620D-B4E1-2B1FC721A821}"/>
              </a:ext>
            </a:extLst>
          </p:cNvPr>
          <p:cNvSpPr>
            <a:spLocks noGrp="1"/>
          </p:cNvSpPr>
          <p:nvPr>
            <p:ph type="body" sz="quarter" idx="3"/>
          </p:nvPr>
        </p:nvSpPr>
        <p:spPr>
          <a:xfrm>
            <a:off x="5317815" y="995563"/>
            <a:ext cx="2293050" cy="438338"/>
          </a:xfrm>
        </p:spPr>
        <p:txBody>
          <a:bodyPr>
            <a:normAutofit fontScale="62500" lnSpcReduction="20000"/>
          </a:bodyPr>
          <a:lstStyle/>
          <a:p>
            <a:r>
              <a:rPr lang="en-US" u="sng" dirty="0"/>
              <a:t>Ada Boost</a:t>
            </a:r>
          </a:p>
        </p:txBody>
      </p:sp>
      <p:pic>
        <p:nvPicPr>
          <p:cNvPr id="12" name="Content Placeholder 11" descr="A screenshot of a computer screen&#10;&#10;AI-generated content may be incorrect.">
            <a:extLst>
              <a:ext uri="{FF2B5EF4-FFF2-40B4-BE49-F238E27FC236}">
                <a16:creationId xmlns:a16="http://schemas.microsoft.com/office/drawing/2014/main" id="{2DAED76A-20F3-7E02-B4CF-21DC26E7F711}"/>
              </a:ext>
            </a:extLst>
          </p:cNvPr>
          <p:cNvPicPr>
            <a:picLocks noGrp="1" noChangeAspect="1"/>
          </p:cNvPicPr>
          <p:nvPr>
            <p:ph sz="half" idx="2"/>
          </p:nvPr>
        </p:nvPicPr>
        <p:blipFill>
          <a:blip r:embed="rId2"/>
          <a:stretch>
            <a:fillRect/>
          </a:stretch>
        </p:blipFill>
        <p:spPr>
          <a:xfrm>
            <a:off x="36252" y="1498169"/>
            <a:ext cx="4259290" cy="4866468"/>
          </a:xfrm>
        </p:spPr>
      </p:pic>
      <p:pic>
        <p:nvPicPr>
          <p:cNvPr id="14" name="Content Placeholder 13">
            <a:extLst>
              <a:ext uri="{FF2B5EF4-FFF2-40B4-BE49-F238E27FC236}">
                <a16:creationId xmlns:a16="http://schemas.microsoft.com/office/drawing/2014/main" id="{CC5E7D7C-87FB-E61D-F32E-1AC3E6CC7ED7}"/>
              </a:ext>
            </a:extLst>
          </p:cNvPr>
          <p:cNvPicPr>
            <a:picLocks noGrp="1" noChangeAspect="1"/>
          </p:cNvPicPr>
          <p:nvPr>
            <p:ph sz="quarter" idx="4"/>
          </p:nvPr>
        </p:nvPicPr>
        <p:blipFill>
          <a:blip r:embed="rId3"/>
          <a:stretch>
            <a:fillRect/>
          </a:stretch>
        </p:blipFill>
        <p:spPr>
          <a:xfrm>
            <a:off x="4967633" y="1498168"/>
            <a:ext cx="3978260" cy="4909963"/>
          </a:xfrm>
        </p:spPr>
      </p:pic>
      <p:cxnSp>
        <p:nvCxnSpPr>
          <p:cNvPr id="6" name="Straight Connector 5">
            <a:extLst>
              <a:ext uri="{FF2B5EF4-FFF2-40B4-BE49-F238E27FC236}">
                <a16:creationId xmlns:a16="http://schemas.microsoft.com/office/drawing/2014/main" id="{DC81182C-A7AC-49A4-F193-74B916487C5B}"/>
              </a:ext>
            </a:extLst>
          </p:cNvPr>
          <p:cNvCxnSpPr/>
          <p:nvPr/>
        </p:nvCxnSpPr>
        <p:spPr>
          <a:xfrm>
            <a:off x="4572000" y="1283793"/>
            <a:ext cx="48445" cy="537739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84335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56113-32C8-CC59-DCD0-7313BBDDF5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8CC22-6096-EC45-5C2F-F28ACBB95DB5}"/>
              </a:ext>
            </a:extLst>
          </p:cNvPr>
          <p:cNvSpPr>
            <a:spLocks noGrp="1"/>
          </p:cNvSpPr>
          <p:nvPr>
            <p:ph type="title"/>
          </p:nvPr>
        </p:nvSpPr>
        <p:spPr>
          <a:xfrm>
            <a:off x="1379349" y="449868"/>
            <a:ext cx="5747288" cy="350460"/>
          </a:xfrm>
        </p:spPr>
        <p:txBody>
          <a:bodyPr>
            <a:normAutofit fontScale="90000"/>
          </a:bodyPr>
          <a:lstStyle/>
          <a:p>
            <a:r>
              <a:rPr lang="en-US" sz="3200" dirty="0"/>
              <a:t>Confusion Matrix</a:t>
            </a:r>
          </a:p>
        </p:txBody>
      </p:sp>
      <p:sp>
        <p:nvSpPr>
          <p:cNvPr id="3" name="Text Placeholder 2">
            <a:extLst>
              <a:ext uri="{FF2B5EF4-FFF2-40B4-BE49-F238E27FC236}">
                <a16:creationId xmlns:a16="http://schemas.microsoft.com/office/drawing/2014/main" id="{AD24BC4E-40EE-666E-4427-994A8A4B69FB}"/>
              </a:ext>
            </a:extLst>
          </p:cNvPr>
          <p:cNvSpPr>
            <a:spLocks noGrp="1"/>
          </p:cNvSpPr>
          <p:nvPr>
            <p:ph type="body" idx="1"/>
          </p:nvPr>
        </p:nvSpPr>
        <p:spPr>
          <a:xfrm>
            <a:off x="927315" y="1124171"/>
            <a:ext cx="2637295" cy="288521"/>
          </a:xfrm>
        </p:spPr>
        <p:txBody>
          <a:bodyPr>
            <a:normAutofit fontScale="62500" lnSpcReduction="20000"/>
          </a:bodyPr>
          <a:lstStyle/>
          <a:p>
            <a:r>
              <a:rPr lang="en-US" u="sng" dirty="0"/>
              <a:t>SVC</a:t>
            </a:r>
          </a:p>
        </p:txBody>
      </p:sp>
      <p:sp>
        <p:nvSpPr>
          <p:cNvPr id="5" name="Text Placeholder 4">
            <a:extLst>
              <a:ext uri="{FF2B5EF4-FFF2-40B4-BE49-F238E27FC236}">
                <a16:creationId xmlns:a16="http://schemas.microsoft.com/office/drawing/2014/main" id="{A3FF14AA-41D5-2702-5D0C-9523F37C2C0A}"/>
              </a:ext>
            </a:extLst>
          </p:cNvPr>
          <p:cNvSpPr>
            <a:spLocks noGrp="1"/>
          </p:cNvSpPr>
          <p:nvPr>
            <p:ph type="body" sz="quarter" idx="3"/>
          </p:nvPr>
        </p:nvSpPr>
        <p:spPr>
          <a:xfrm>
            <a:off x="5317815" y="995563"/>
            <a:ext cx="2293050" cy="438338"/>
          </a:xfrm>
        </p:spPr>
        <p:txBody>
          <a:bodyPr>
            <a:normAutofit fontScale="62500" lnSpcReduction="20000"/>
          </a:bodyPr>
          <a:lstStyle/>
          <a:p>
            <a:r>
              <a:rPr lang="en-US" u="sng" dirty="0" err="1"/>
              <a:t>KNeighbors</a:t>
            </a:r>
            <a:endParaRPr lang="en-US" u="sng" dirty="0"/>
          </a:p>
        </p:txBody>
      </p:sp>
      <p:pic>
        <p:nvPicPr>
          <p:cNvPr id="12" name="Content Placeholder 11" descr="A screenshot of a graph&#10;&#10;AI-generated content may be incorrect.">
            <a:extLst>
              <a:ext uri="{FF2B5EF4-FFF2-40B4-BE49-F238E27FC236}">
                <a16:creationId xmlns:a16="http://schemas.microsoft.com/office/drawing/2014/main" id="{CCE2D96A-1C19-1A0E-5C12-320A333048E8}"/>
              </a:ext>
            </a:extLst>
          </p:cNvPr>
          <p:cNvPicPr>
            <a:picLocks noGrp="1" noChangeAspect="1"/>
          </p:cNvPicPr>
          <p:nvPr>
            <p:ph sz="half" idx="2"/>
          </p:nvPr>
        </p:nvPicPr>
        <p:blipFill>
          <a:blip r:embed="rId2"/>
          <a:stretch>
            <a:fillRect/>
          </a:stretch>
        </p:blipFill>
        <p:spPr>
          <a:xfrm>
            <a:off x="0" y="1477504"/>
            <a:ext cx="4535374" cy="5036949"/>
          </a:xfrm>
        </p:spPr>
      </p:pic>
      <p:pic>
        <p:nvPicPr>
          <p:cNvPr id="14" name="Content Placeholder 13" descr="A screenshot of a graph&#10;&#10;AI-generated content may be incorrect.">
            <a:extLst>
              <a:ext uri="{FF2B5EF4-FFF2-40B4-BE49-F238E27FC236}">
                <a16:creationId xmlns:a16="http://schemas.microsoft.com/office/drawing/2014/main" id="{14EFDD46-645B-A504-F559-B43BA11CEBA9}"/>
              </a:ext>
            </a:extLst>
          </p:cNvPr>
          <p:cNvPicPr>
            <a:picLocks noGrp="1" noChangeAspect="1"/>
          </p:cNvPicPr>
          <p:nvPr>
            <p:ph sz="quarter" idx="4"/>
          </p:nvPr>
        </p:nvPicPr>
        <p:blipFill>
          <a:blip r:embed="rId3"/>
          <a:stretch>
            <a:fillRect/>
          </a:stretch>
        </p:blipFill>
        <p:spPr>
          <a:xfrm>
            <a:off x="4901418" y="1508926"/>
            <a:ext cx="4123761" cy="4819549"/>
          </a:xfrm>
        </p:spPr>
      </p:pic>
      <p:cxnSp>
        <p:nvCxnSpPr>
          <p:cNvPr id="6" name="Straight Connector 5">
            <a:extLst>
              <a:ext uri="{FF2B5EF4-FFF2-40B4-BE49-F238E27FC236}">
                <a16:creationId xmlns:a16="http://schemas.microsoft.com/office/drawing/2014/main" id="{9601626E-0079-8B96-448B-396DC0041FF2}"/>
              </a:ext>
            </a:extLst>
          </p:cNvPr>
          <p:cNvCxnSpPr>
            <a:cxnSpLocks/>
          </p:cNvCxnSpPr>
          <p:nvPr/>
        </p:nvCxnSpPr>
        <p:spPr>
          <a:xfrm>
            <a:off x="4700083" y="1214732"/>
            <a:ext cx="36626" cy="552901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91454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EDDCC-74A3-DEDF-6B40-CB4370A01F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1BDA4-832D-3420-985C-A2184AFABA6F}"/>
              </a:ext>
            </a:extLst>
          </p:cNvPr>
          <p:cNvSpPr>
            <a:spLocks noGrp="1"/>
          </p:cNvSpPr>
          <p:nvPr>
            <p:ph type="title"/>
          </p:nvPr>
        </p:nvSpPr>
        <p:spPr>
          <a:xfrm>
            <a:off x="1379349" y="449868"/>
            <a:ext cx="5747288" cy="350460"/>
          </a:xfrm>
        </p:spPr>
        <p:txBody>
          <a:bodyPr>
            <a:normAutofit fontScale="90000"/>
          </a:bodyPr>
          <a:lstStyle/>
          <a:p>
            <a:r>
              <a:rPr lang="en-US" sz="3200" dirty="0"/>
              <a:t>Confusion Matrix</a:t>
            </a:r>
          </a:p>
        </p:txBody>
      </p:sp>
      <p:sp>
        <p:nvSpPr>
          <p:cNvPr id="3" name="Text Placeholder 2">
            <a:extLst>
              <a:ext uri="{FF2B5EF4-FFF2-40B4-BE49-F238E27FC236}">
                <a16:creationId xmlns:a16="http://schemas.microsoft.com/office/drawing/2014/main" id="{3EFCFAD0-737F-DFA1-7FFA-4FCF4C07E11D}"/>
              </a:ext>
            </a:extLst>
          </p:cNvPr>
          <p:cNvSpPr>
            <a:spLocks noGrp="1"/>
          </p:cNvSpPr>
          <p:nvPr>
            <p:ph type="body" idx="1"/>
          </p:nvPr>
        </p:nvSpPr>
        <p:spPr>
          <a:xfrm>
            <a:off x="927315" y="1124171"/>
            <a:ext cx="2637295" cy="288521"/>
          </a:xfrm>
        </p:spPr>
        <p:txBody>
          <a:bodyPr>
            <a:normAutofit fontScale="62500" lnSpcReduction="20000"/>
          </a:bodyPr>
          <a:lstStyle/>
          <a:p>
            <a:r>
              <a:rPr lang="en-US" u="sng" dirty="0"/>
              <a:t>Decision Tree</a:t>
            </a:r>
          </a:p>
        </p:txBody>
      </p:sp>
      <p:sp>
        <p:nvSpPr>
          <p:cNvPr id="5" name="Text Placeholder 4">
            <a:extLst>
              <a:ext uri="{FF2B5EF4-FFF2-40B4-BE49-F238E27FC236}">
                <a16:creationId xmlns:a16="http://schemas.microsoft.com/office/drawing/2014/main" id="{1ECE78B3-5D73-173E-A6D7-EA76DC470361}"/>
              </a:ext>
            </a:extLst>
          </p:cNvPr>
          <p:cNvSpPr>
            <a:spLocks noGrp="1"/>
          </p:cNvSpPr>
          <p:nvPr>
            <p:ph type="body" sz="quarter" idx="3"/>
          </p:nvPr>
        </p:nvSpPr>
        <p:spPr>
          <a:xfrm>
            <a:off x="5317815" y="995563"/>
            <a:ext cx="2293050" cy="438338"/>
          </a:xfrm>
        </p:spPr>
        <p:txBody>
          <a:bodyPr>
            <a:normAutofit fontScale="62500" lnSpcReduction="20000"/>
          </a:bodyPr>
          <a:lstStyle/>
          <a:p>
            <a:r>
              <a:rPr lang="en-US" u="sng" dirty="0" err="1"/>
              <a:t>XGBoost</a:t>
            </a:r>
            <a:endParaRPr lang="en-US" u="sng" dirty="0"/>
          </a:p>
        </p:txBody>
      </p:sp>
      <p:pic>
        <p:nvPicPr>
          <p:cNvPr id="10" name="Content Placeholder 9" descr="A screenshot of a computer screen&#10;&#10;AI-generated content may be incorrect.">
            <a:extLst>
              <a:ext uri="{FF2B5EF4-FFF2-40B4-BE49-F238E27FC236}">
                <a16:creationId xmlns:a16="http://schemas.microsoft.com/office/drawing/2014/main" id="{D1563FC0-06A6-F2D1-6639-3E089E1AF3CB}"/>
              </a:ext>
            </a:extLst>
          </p:cNvPr>
          <p:cNvPicPr>
            <a:picLocks noGrp="1" noChangeAspect="1"/>
          </p:cNvPicPr>
          <p:nvPr>
            <p:ph sz="half" idx="2"/>
          </p:nvPr>
        </p:nvPicPr>
        <p:blipFill>
          <a:blip r:embed="rId2"/>
          <a:stretch>
            <a:fillRect/>
          </a:stretch>
        </p:blipFill>
        <p:spPr>
          <a:xfrm>
            <a:off x="30975" y="1433900"/>
            <a:ext cx="4225389" cy="4974231"/>
          </a:xfrm>
        </p:spPr>
      </p:pic>
      <p:pic>
        <p:nvPicPr>
          <p:cNvPr id="13" name="Content Placeholder 12" descr="A screenshot of a computer&#10;&#10;AI-generated content may be incorrect.">
            <a:extLst>
              <a:ext uri="{FF2B5EF4-FFF2-40B4-BE49-F238E27FC236}">
                <a16:creationId xmlns:a16="http://schemas.microsoft.com/office/drawing/2014/main" id="{9C7A75FA-319C-57ED-4A32-0485BD71E9B4}"/>
              </a:ext>
            </a:extLst>
          </p:cNvPr>
          <p:cNvPicPr>
            <a:picLocks noGrp="1" noChangeAspect="1"/>
          </p:cNvPicPr>
          <p:nvPr>
            <p:ph sz="quarter" idx="4"/>
          </p:nvPr>
        </p:nvPicPr>
        <p:blipFill>
          <a:blip r:embed="rId3"/>
          <a:stretch>
            <a:fillRect/>
          </a:stretch>
        </p:blipFill>
        <p:spPr>
          <a:xfrm>
            <a:off x="4867192" y="1482671"/>
            <a:ext cx="4227657" cy="4925460"/>
          </a:xfrm>
        </p:spPr>
      </p:pic>
      <p:cxnSp>
        <p:nvCxnSpPr>
          <p:cNvPr id="6" name="Straight Connector 5">
            <a:extLst>
              <a:ext uri="{FF2B5EF4-FFF2-40B4-BE49-F238E27FC236}">
                <a16:creationId xmlns:a16="http://schemas.microsoft.com/office/drawing/2014/main" id="{AC0C0890-A573-76D3-9E22-0466C151A9F4}"/>
              </a:ext>
            </a:extLst>
          </p:cNvPr>
          <p:cNvCxnSpPr>
            <a:cxnSpLocks/>
          </p:cNvCxnSpPr>
          <p:nvPr/>
        </p:nvCxnSpPr>
        <p:spPr>
          <a:xfrm>
            <a:off x="4482438" y="995563"/>
            <a:ext cx="75059" cy="5780686"/>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2003571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295C39E-D25A-37F9-B2CC-C9AC80AA1616}"/>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algn="l" defTabSz="914400">
              <a:lnSpc>
                <a:spcPct val="90000"/>
              </a:lnSpc>
            </a:pPr>
            <a:r>
              <a:rPr lang="en-US" sz="3500" kern="1200" dirty="0">
                <a:solidFill>
                  <a:srgbClr val="FFFFFF"/>
                </a:solidFill>
                <a:latin typeface="+mj-lt"/>
                <a:ea typeface="+mj-ea"/>
                <a:cs typeface="+mj-cs"/>
              </a:rPr>
              <a:t>Heatmap</a:t>
            </a:r>
          </a:p>
        </p:txBody>
      </p:sp>
      <p:pic>
        <p:nvPicPr>
          <p:cNvPr id="5" name="Content Placeholder 4" descr="A graph of numbers and lines&#10;&#10;AI-generated content may be incorrect.">
            <a:extLst>
              <a:ext uri="{FF2B5EF4-FFF2-40B4-BE49-F238E27FC236}">
                <a16:creationId xmlns:a16="http://schemas.microsoft.com/office/drawing/2014/main" id="{05996E26-7D50-0C1A-AAEC-3789B934F839}"/>
              </a:ext>
            </a:extLst>
          </p:cNvPr>
          <p:cNvPicPr>
            <a:picLocks noGrp="1" noChangeAspect="1"/>
          </p:cNvPicPr>
          <p:nvPr>
            <p:ph idx="1"/>
          </p:nvPr>
        </p:nvPicPr>
        <p:blipFill>
          <a:blip r:embed="rId2"/>
          <a:stretch>
            <a:fillRect/>
          </a:stretch>
        </p:blipFill>
        <p:spPr>
          <a:xfrm>
            <a:off x="3376821" y="1430629"/>
            <a:ext cx="5419311" cy="3996741"/>
          </a:xfrm>
          <a:prstGeom prst="rect">
            <a:avLst/>
          </a:prstGeom>
        </p:spPr>
      </p:pic>
    </p:spTree>
    <p:extLst>
      <p:ext uri="{BB962C8B-B14F-4D97-AF65-F5344CB8AC3E}">
        <p14:creationId xmlns:p14="http://schemas.microsoft.com/office/powerpoint/2010/main" val="140433392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7F95AF2-FE1B-4EBF-CF40-8CDCCF550E7D}"/>
              </a:ext>
            </a:extLst>
          </p:cNvPr>
          <p:cNvSpPr>
            <a:spLocks noGrp="1"/>
          </p:cNvSpPr>
          <p:nvPr>
            <p:ph type="title"/>
          </p:nvPr>
        </p:nvSpPr>
        <p:spPr>
          <a:xfrm>
            <a:off x="1028697" y="348865"/>
            <a:ext cx="7533018" cy="877729"/>
          </a:xfrm>
        </p:spPr>
        <p:txBody>
          <a:bodyPr anchor="ctr">
            <a:normAutofit/>
          </a:bodyPr>
          <a:lstStyle/>
          <a:p>
            <a:r>
              <a:rPr lang="en-US" sz="3500">
                <a:solidFill>
                  <a:srgbClr val="FFFFFF"/>
                </a:solidFill>
              </a:rPr>
              <a:t>Feature Importance Analysis</a:t>
            </a:r>
          </a:p>
        </p:txBody>
      </p:sp>
      <p:graphicFrame>
        <p:nvGraphicFramePr>
          <p:cNvPr id="4" name="Content Placeholder 3">
            <a:extLst>
              <a:ext uri="{FF2B5EF4-FFF2-40B4-BE49-F238E27FC236}">
                <a16:creationId xmlns:a16="http://schemas.microsoft.com/office/drawing/2014/main" id="{CDD8B32D-5927-A635-16F6-B3C3D70D842E}"/>
              </a:ext>
            </a:extLst>
          </p:cNvPr>
          <p:cNvGraphicFramePr>
            <a:graphicFrameLocks noGrp="1"/>
          </p:cNvGraphicFramePr>
          <p:nvPr>
            <p:ph idx="1"/>
            <p:extLst>
              <p:ext uri="{D42A27DB-BD31-4B8C-83A1-F6EECF244321}">
                <p14:modId xmlns:p14="http://schemas.microsoft.com/office/powerpoint/2010/main" val="2911547827"/>
              </p:ext>
            </p:extLst>
          </p:nvPr>
        </p:nvGraphicFramePr>
        <p:xfrm>
          <a:off x="386626" y="1924820"/>
          <a:ext cx="8292289" cy="4460878"/>
        </p:xfrm>
        <a:graphic>
          <a:graphicData uri="http://schemas.openxmlformats.org/drawingml/2006/table">
            <a:tbl>
              <a:tblPr firstRow="1" bandRow="1">
                <a:tableStyleId>{5C22544A-7EE6-4342-B048-85BDC9FD1C3A}</a:tableStyleId>
              </a:tblPr>
              <a:tblGrid>
                <a:gridCol w="1665707">
                  <a:extLst>
                    <a:ext uri="{9D8B030D-6E8A-4147-A177-3AD203B41FA5}">
                      <a16:colId xmlns:a16="http://schemas.microsoft.com/office/drawing/2014/main" val="1426392922"/>
                    </a:ext>
                  </a:extLst>
                </a:gridCol>
                <a:gridCol w="1438584">
                  <a:extLst>
                    <a:ext uri="{9D8B030D-6E8A-4147-A177-3AD203B41FA5}">
                      <a16:colId xmlns:a16="http://schemas.microsoft.com/office/drawing/2014/main" val="1008112427"/>
                    </a:ext>
                  </a:extLst>
                </a:gridCol>
                <a:gridCol w="1665707">
                  <a:extLst>
                    <a:ext uri="{9D8B030D-6E8A-4147-A177-3AD203B41FA5}">
                      <a16:colId xmlns:a16="http://schemas.microsoft.com/office/drawing/2014/main" val="746551024"/>
                    </a:ext>
                  </a:extLst>
                </a:gridCol>
                <a:gridCol w="1760955">
                  <a:extLst>
                    <a:ext uri="{9D8B030D-6E8A-4147-A177-3AD203B41FA5}">
                      <a16:colId xmlns:a16="http://schemas.microsoft.com/office/drawing/2014/main" val="2528897105"/>
                    </a:ext>
                  </a:extLst>
                </a:gridCol>
                <a:gridCol w="1761336">
                  <a:extLst>
                    <a:ext uri="{9D8B030D-6E8A-4147-A177-3AD203B41FA5}">
                      <a16:colId xmlns:a16="http://schemas.microsoft.com/office/drawing/2014/main" val="172977289"/>
                    </a:ext>
                  </a:extLst>
                </a:gridCol>
              </a:tblGrid>
              <a:tr h="411647">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Times New Roman" panose="02020603050405020304" pitchFamily="18" charset="0"/>
                        </a:rPr>
                        <a:t>Feature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7625" marR="7625" marT="7625" marB="7625" anchor="ct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Times New Roman" panose="02020603050405020304" pitchFamily="18" charset="0"/>
                        </a:rPr>
                        <a:t>Type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7625" marR="7625" marT="7625" marB="7625" anchor="ct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Times New Roman" panose="02020603050405020304" pitchFamily="18" charset="0"/>
                        </a:rPr>
                        <a:t>Behavioral Meaning</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7625" marR="7625" marT="7625" marB="7625" anchor="ct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Times New Roman" panose="02020603050405020304" pitchFamily="18" charset="0"/>
                        </a:rPr>
                        <a:t>Observed Impact on Cancellations</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7625" marR="7625" marT="7625" marB="7625" anchor="ctr"/>
                </a:tc>
                <a:tc>
                  <a:txBody>
                    <a:bodyPr/>
                    <a:lstStyle/>
                    <a:p>
                      <a:pPr marL="0" marR="0">
                        <a:lnSpc>
                          <a:spcPct val="115000"/>
                        </a:lnSpc>
                        <a:spcAft>
                          <a:spcPts val="800"/>
                        </a:spcAft>
                        <a:buNone/>
                      </a:pPr>
                      <a:r>
                        <a:rPr lang="en-US" sz="1000" b="1" kern="100">
                          <a:effectLst/>
                          <a:latin typeface="Aptos" panose="020B0004020202020204" pitchFamily="34" charset="0"/>
                          <a:ea typeface="Aptos" panose="020B0004020202020204" pitchFamily="34" charset="0"/>
                          <a:cs typeface="Times New Roman" panose="02020603050405020304" pitchFamily="18" charset="0"/>
                        </a:rPr>
                        <a:t>Justification for Model Importance</a:t>
                      </a:r>
                      <a:endParaRPr lang="en-US" sz="1000" kern="100">
                        <a:effectLst/>
                        <a:latin typeface="Aptos" panose="020B0004020202020204" pitchFamily="34" charset="0"/>
                        <a:ea typeface="Aptos" panose="020B0004020202020204" pitchFamily="34" charset="0"/>
                        <a:cs typeface="Times New Roman" panose="02020603050405020304" pitchFamily="18" charset="0"/>
                      </a:endParaRPr>
                    </a:p>
                  </a:txBody>
                  <a:tcPr marL="7625" marR="7625" marT="7625" marB="7625" anchor="ctr"/>
                </a:tc>
                <a:extLst>
                  <a:ext uri="{0D108BD9-81ED-4DB2-BD59-A6C34878D82A}">
                    <a16:rowId xmlns:a16="http://schemas.microsoft.com/office/drawing/2014/main" val="1420651294"/>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Market Segment Type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Categorical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Booking channel &amp; intent</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Online bookings show highest cancellation rates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Reflects price sensitivity and speculative booking behavior</a:t>
                      </a:r>
                    </a:p>
                  </a:txBody>
                  <a:tcPr marL="7625" marR="7625" marT="7625" marB="7625" anchor="ctr"/>
                </a:tc>
                <a:extLst>
                  <a:ext uri="{0D108BD9-81ED-4DB2-BD59-A6C34878D82A}">
                    <a16:rowId xmlns:a16="http://schemas.microsoft.com/office/drawing/2014/main" val="1027976094"/>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Type of Meal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Categorical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Level of guest commitment</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No meal plan associated with higher cancellations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Indicates low upfront commitment</a:t>
                      </a:r>
                    </a:p>
                  </a:txBody>
                  <a:tcPr marL="7625" marR="7625" marT="7625" marB="7625" anchor="ctr"/>
                </a:tc>
                <a:extLst>
                  <a:ext uri="{0D108BD9-81ED-4DB2-BD59-A6C34878D82A}">
                    <a16:rowId xmlns:a16="http://schemas.microsoft.com/office/drawing/2014/main" val="1403759283"/>
                  </a:ext>
                </a:extLst>
              </a:tr>
              <a:tr h="587653">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Room Type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Categorical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Price &amp; availability preference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Premium / rare room types cancel more often</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High cost and flexibility increase cancellation likelihood</a:t>
                      </a:r>
                    </a:p>
                  </a:txBody>
                  <a:tcPr marL="7625" marR="7625" marT="7625" marB="7625" anchor="ctr"/>
                </a:tc>
                <a:extLst>
                  <a:ext uri="{0D108BD9-81ED-4DB2-BD59-A6C34878D82A}">
                    <a16:rowId xmlns:a16="http://schemas.microsoft.com/office/drawing/2014/main" val="4066700739"/>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Lead Time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Numerical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Planning horizon</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Longer lead times increase cancellations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More time allows plan changes</a:t>
                      </a:r>
                    </a:p>
                  </a:txBody>
                  <a:tcPr marL="7625" marR="7625" marT="7625" marB="7625" anchor="ctr"/>
                </a:tc>
                <a:extLst>
                  <a:ext uri="{0D108BD9-81ED-4DB2-BD59-A6C34878D82A}">
                    <a16:rowId xmlns:a16="http://schemas.microsoft.com/office/drawing/2014/main" val="3143952105"/>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Average Price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Numerical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Cost sensitivity</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Higher prices correlate with cancellations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Guests are more likely to abandon expensive bookings</a:t>
                      </a:r>
                    </a:p>
                  </a:txBody>
                  <a:tcPr marL="7625" marR="7625" marT="7625" marB="7625" anchor="ctr"/>
                </a:tc>
                <a:extLst>
                  <a:ext uri="{0D108BD9-81ED-4DB2-BD59-A6C34878D82A}">
                    <a16:rowId xmlns:a16="http://schemas.microsoft.com/office/drawing/2014/main" val="3980354858"/>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Stay Duration</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Numerical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Trip significance</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Short stays cancel more frequently</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Lower sunk cost reduces commitment</a:t>
                      </a:r>
                    </a:p>
                  </a:txBody>
                  <a:tcPr marL="7625" marR="7625" marT="7625" marB="7625" anchor="ctr"/>
                </a:tc>
                <a:extLst>
                  <a:ext uri="{0D108BD9-81ED-4DB2-BD59-A6C34878D82A}">
                    <a16:rowId xmlns:a16="http://schemas.microsoft.com/office/drawing/2014/main" val="2729289864"/>
                  </a:ext>
                </a:extLst>
              </a:tr>
              <a:tr h="597494">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Season</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Categorical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Demand volatility</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Autumn &amp; Winter show higher cancellation rates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Weather and schedule uncertainty affect travel decisions</a:t>
                      </a:r>
                    </a:p>
                  </a:txBody>
                  <a:tcPr marL="7625" marR="7625" marT="7625" marB="7625" anchor="ctr"/>
                </a:tc>
                <a:extLst>
                  <a:ext uri="{0D108BD9-81ED-4DB2-BD59-A6C34878D82A}">
                    <a16:rowId xmlns:a16="http://schemas.microsoft.com/office/drawing/2014/main" val="1958200052"/>
                  </a:ext>
                </a:extLst>
              </a:tr>
              <a:tr h="394202">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Repeated Guest</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Binary</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Customer loyalty</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Repeat guests cancel less often</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Loyalty implies trust and intent</a:t>
                      </a:r>
                    </a:p>
                  </a:txBody>
                  <a:tcPr marL="7625" marR="7625" marT="7625" marB="7625" anchor="ctr"/>
                </a:tc>
                <a:extLst>
                  <a:ext uri="{0D108BD9-81ED-4DB2-BD59-A6C34878D82A}">
                    <a16:rowId xmlns:a16="http://schemas.microsoft.com/office/drawing/2014/main" val="853109245"/>
                  </a:ext>
                </a:extLst>
              </a:tr>
              <a:tr h="411647">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Special Requests</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Numerical</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Booking engagement</a:t>
                      </a:r>
                    </a:p>
                  </a:txBody>
                  <a:tcPr marL="7625" marR="7625" marT="7625" marB="7625" anchor="ctr"/>
                </a:tc>
                <a:tc>
                  <a:txBody>
                    <a:bodyPr/>
                    <a:lstStyle/>
                    <a:p>
                      <a:pPr marL="0" marR="0">
                        <a:lnSpc>
                          <a:spcPct val="115000"/>
                        </a:lnSpc>
                        <a:spcAft>
                          <a:spcPts val="800"/>
                        </a:spcAft>
                        <a:buNone/>
                      </a:pPr>
                      <a:r>
                        <a:rPr lang="en-US" sz="1000" kern="100">
                          <a:effectLst/>
                          <a:latin typeface="Aptos" panose="020B0004020202020204" pitchFamily="34" charset="0"/>
                          <a:ea typeface="Aptos" panose="020B0004020202020204" pitchFamily="34" charset="0"/>
                          <a:cs typeface="Times New Roman" panose="02020603050405020304" pitchFamily="18" charset="0"/>
                        </a:rPr>
                        <a:t>More requests correlate with fewer cancellations</a:t>
                      </a:r>
                    </a:p>
                  </a:txBody>
                  <a:tcPr marL="7625" marR="7625" marT="7625" marB="7625" anchor="ctr"/>
                </a:tc>
                <a:tc>
                  <a:txBody>
                    <a:bodyPr/>
                    <a:lstStyle/>
                    <a:p>
                      <a:pPr marL="0" marR="0">
                        <a:lnSpc>
                          <a:spcPct val="115000"/>
                        </a:lnSpc>
                        <a:spcAft>
                          <a:spcPts val="800"/>
                        </a:spcAft>
                        <a:buNone/>
                      </a:pPr>
                      <a:r>
                        <a:rPr lang="en-US" sz="1000" kern="100" dirty="0">
                          <a:effectLst/>
                          <a:latin typeface="Aptos" panose="020B0004020202020204" pitchFamily="34" charset="0"/>
                          <a:ea typeface="Aptos" panose="020B0004020202020204" pitchFamily="34" charset="0"/>
                          <a:cs typeface="Times New Roman" panose="02020603050405020304" pitchFamily="18" charset="0"/>
                        </a:rPr>
                        <a:t>Higher engagement signals commitment</a:t>
                      </a:r>
                    </a:p>
                  </a:txBody>
                  <a:tcPr marL="7625" marR="7625" marT="7625" marB="7625" anchor="ctr"/>
                </a:tc>
                <a:extLst>
                  <a:ext uri="{0D108BD9-81ED-4DB2-BD59-A6C34878D82A}">
                    <a16:rowId xmlns:a16="http://schemas.microsoft.com/office/drawing/2014/main" val="4177653280"/>
                  </a:ext>
                </a:extLst>
              </a:tr>
            </a:tbl>
          </a:graphicData>
        </a:graphic>
      </p:graphicFrame>
    </p:spTree>
    <p:extLst>
      <p:ext uri="{BB962C8B-B14F-4D97-AF65-F5344CB8AC3E}">
        <p14:creationId xmlns:p14="http://schemas.microsoft.com/office/powerpoint/2010/main" val="14358847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FDA033-2A34-CC97-A869-1A9586C43FB1}"/>
              </a:ext>
            </a:extLst>
          </p:cNvPr>
          <p:cNvSpPr>
            <a:spLocks noGrp="1"/>
          </p:cNvSpPr>
          <p:nvPr>
            <p:ph type="title"/>
          </p:nvPr>
        </p:nvSpPr>
        <p:spPr>
          <a:xfrm>
            <a:off x="350041" y="586855"/>
            <a:ext cx="2401025" cy="3387497"/>
          </a:xfrm>
        </p:spPr>
        <p:txBody>
          <a:bodyPr anchor="b">
            <a:normAutofit/>
          </a:bodyPr>
          <a:lstStyle/>
          <a:p>
            <a:pPr algn="r"/>
            <a:r>
              <a:rPr lang="en-US" sz="3500" b="1">
                <a:solidFill>
                  <a:srgbClr val="FFFFFF"/>
                </a:solidFill>
              </a:rPr>
              <a:t>Overall Strategic Insight</a:t>
            </a:r>
            <a:br>
              <a:rPr lang="en-US" sz="3500" b="1">
                <a:solidFill>
                  <a:srgbClr val="FFFFFF"/>
                </a:solidFill>
              </a:rPr>
            </a:br>
            <a:endParaRPr lang="en-US" sz="3500">
              <a:solidFill>
                <a:srgbClr val="FFFFFF"/>
              </a:solidFill>
            </a:endParaRPr>
          </a:p>
        </p:txBody>
      </p:sp>
      <p:sp>
        <p:nvSpPr>
          <p:cNvPr id="3" name="Content Placeholder 2">
            <a:extLst>
              <a:ext uri="{FF2B5EF4-FFF2-40B4-BE49-F238E27FC236}">
                <a16:creationId xmlns:a16="http://schemas.microsoft.com/office/drawing/2014/main" id="{E48649CF-74C2-BB74-44B6-DEF92DD9B334}"/>
              </a:ext>
            </a:extLst>
          </p:cNvPr>
          <p:cNvSpPr>
            <a:spLocks noGrp="1"/>
          </p:cNvSpPr>
          <p:nvPr>
            <p:ph idx="1"/>
          </p:nvPr>
        </p:nvSpPr>
        <p:spPr>
          <a:xfrm>
            <a:off x="3607694" y="649480"/>
            <a:ext cx="4916510" cy="5546047"/>
          </a:xfrm>
        </p:spPr>
        <p:txBody>
          <a:bodyPr anchor="ctr">
            <a:normAutofit/>
          </a:bodyPr>
          <a:lstStyle/>
          <a:p>
            <a:r>
              <a:rPr lang="en-US" sz="1700" b="1"/>
              <a:t>Cancellation risk is driven by commitment, not volume.</a:t>
            </a:r>
            <a:br>
              <a:rPr lang="en-US" sz="1700"/>
            </a:br>
            <a:r>
              <a:rPr lang="en-US" sz="1700"/>
              <a:t>Guests who commit financially or structurally (meal plans, corporate travel, standard rooms) are far less likely to cancel.</a:t>
            </a:r>
          </a:p>
          <a:p>
            <a:endParaRPr lang="en-US" sz="1700"/>
          </a:p>
        </p:txBody>
      </p:sp>
    </p:spTree>
    <p:extLst>
      <p:ext uri="{BB962C8B-B14F-4D97-AF65-F5344CB8AC3E}">
        <p14:creationId xmlns:p14="http://schemas.microsoft.com/office/powerpoint/2010/main" val="41431839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9298A5-7894-EBBC-90D8-398F0A9BC8D7}"/>
              </a:ext>
            </a:extLst>
          </p:cNvPr>
          <p:cNvSpPr>
            <a:spLocks noGrp="1"/>
          </p:cNvSpPr>
          <p:nvPr>
            <p:ph type="title"/>
          </p:nvPr>
        </p:nvSpPr>
        <p:spPr>
          <a:xfrm>
            <a:off x="1028699" y="294538"/>
            <a:ext cx="7421963" cy="1033669"/>
          </a:xfrm>
        </p:spPr>
        <p:txBody>
          <a:bodyPr>
            <a:normAutofit/>
          </a:bodyPr>
          <a:lstStyle/>
          <a:p>
            <a:pPr>
              <a:lnSpc>
                <a:spcPct val="90000"/>
              </a:lnSpc>
            </a:pPr>
            <a:r>
              <a:rPr lang="en-US" sz="3200" b="1">
                <a:solidFill>
                  <a:srgbClr val="FFFFFF"/>
                </a:solidFill>
              </a:rPr>
              <a:t>Conclusion</a:t>
            </a:r>
            <a:br>
              <a:rPr lang="en-US" sz="3200" b="1">
                <a:solidFill>
                  <a:srgbClr val="FFFFFF"/>
                </a:solidFill>
              </a:rPr>
            </a:br>
            <a:endParaRPr lang="en-US" sz="3200">
              <a:solidFill>
                <a:srgbClr val="FFFFFF"/>
              </a:solidFill>
            </a:endParaRPr>
          </a:p>
        </p:txBody>
      </p:sp>
      <p:sp>
        <p:nvSpPr>
          <p:cNvPr id="7" name="Content Placeholder 2">
            <a:extLst>
              <a:ext uri="{FF2B5EF4-FFF2-40B4-BE49-F238E27FC236}">
                <a16:creationId xmlns:a16="http://schemas.microsoft.com/office/drawing/2014/main" id="{81A0E91F-3CC1-417A-8CD1-5A0ABD55AB1A}"/>
              </a:ext>
            </a:extLst>
          </p:cNvPr>
          <p:cNvSpPr>
            <a:spLocks noGrp="1"/>
          </p:cNvSpPr>
          <p:nvPr>
            <p:ph idx="1"/>
          </p:nvPr>
        </p:nvSpPr>
        <p:spPr>
          <a:xfrm>
            <a:off x="526943" y="1622744"/>
            <a:ext cx="7794780" cy="4940717"/>
          </a:xfrm>
        </p:spPr>
        <p:txBody>
          <a:bodyPr anchor="ctr">
            <a:normAutofit lnSpcReduction="10000"/>
          </a:bodyPr>
          <a:lstStyle/>
          <a:p>
            <a:pPr>
              <a:lnSpc>
                <a:spcPct val="90000"/>
              </a:lnSpc>
            </a:pPr>
            <a:r>
              <a:rPr lang="en-US" sz="1400" dirty="0"/>
              <a:t>This project focused on analyzing hotel booking data to understand the drivers of reservation cancellations, develop predictive models capable of identifying high-risk bookings and help reduce revenue loss while improving operational efficiency. Exploratory data analysis revealed that booking cancellations are strongly influenced by factors such as lead time, average price, length of stay, market segment, and seasonality. Customers with longer lead times, higher room prices, and bookings made through certain market segments showed a higher tendency to cancel. In particular, bookings made through online channels, reservations without meal plan selection, premium or less common room types, and bookings during transitional seasons such as Autumn and Winter exhibited substantially higher cancellation rates.</a:t>
            </a:r>
          </a:p>
          <a:p>
            <a:pPr marL="0" indent="0">
              <a:lnSpc>
                <a:spcPct val="90000"/>
              </a:lnSpc>
              <a:buNone/>
            </a:pPr>
            <a:endParaRPr lang="en-US" sz="1400" dirty="0"/>
          </a:p>
          <a:p>
            <a:pPr>
              <a:lnSpc>
                <a:spcPct val="90000"/>
              </a:lnSpc>
            </a:pPr>
            <a:r>
              <a:rPr lang="en-US" sz="1400" dirty="0"/>
              <a:t>Two machine learning models—Logistic Regression and Random Forest—were trained and evaluated using a balanced dataset. While Logistic Regression provided a useful baseline with interpretable results, the Random Forest model consistently outperformed it across all evaluation metrics. In particular, Random Forest achieved higher recall and F1-scores for canceled bookings, indicating a stronger ability to correctly identify reservations that are at high risk of cancellation.</a:t>
            </a:r>
          </a:p>
          <a:p>
            <a:pPr marL="0" indent="0">
              <a:lnSpc>
                <a:spcPct val="90000"/>
              </a:lnSpc>
              <a:buNone/>
            </a:pPr>
            <a:endParaRPr lang="en-US" sz="1400" dirty="0"/>
          </a:p>
          <a:p>
            <a:pPr>
              <a:lnSpc>
                <a:spcPct val="90000"/>
              </a:lnSpc>
            </a:pPr>
            <a:r>
              <a:rPr lang="en-US" sz="1400" dirty="0"/>
              <a:t>The confusion matrix analysis further confirmed that the Random Forest model is better suited for capturing complex, non-linear relationships in booking behavior.</a:t>
            </a:r>
          </a:p>
          <a:p>
            <a:pPr>
              <a:lnSpc>
                <a:spcPct val="90000"/>
              </a:lnSpc>
            </a:pPr>
            <a:endParaRPr lang="en-US" sz="1400" dirty="0"/>
          </a:p>
          <a:p>
            <a:pPr>
              <a:lnSpc>
                <a:spcPct val="90000"/>
              </a:lnSpc>
            </a:pPr>
            <a:r>
              <a:rPr lang="en-US" sz="1400" dirty="0"/>
              <a:t>The results demonstrate that cancellation risk is driven more by </a:t>
            </a:r>
            <a:r>
              <a:rPr lang="en-US" sz="1400" b="1" dirty="0"/>
              <a:t>behavioral commitment</a:t>
            </a:r>
            <a:r>
              <a:rPr lang="en-US" sz="1400" dirty="0"/>
              <a:t> than by booking volume. Guests who show higher commitment—such as selecting meal plans, booking standard room types, or traveling through corporate channels—are significantly less likely to cancel</a:t>
            </a:r>
          </a:p>
          <a:p>
            <a:pPr marL="0" indent="0">
              <a:lnSpc>
                <a:spcPct val="90000"/>
              </a:lnSpc>
              <a:buNone/>
            </a:pPr>
            <a:endParaRPr lang="en-US" sz="1400" dirty="0"/>
          </a:p>
          <a:p>
            <a:pPr>
              <a:lnSpc>
                <a:spcPct val="90000"/>
              </a:lnSpc>
            </a:pPr>
            <a:r>
              <a:rPr lang="en-US" sz="1400" dirty="0"/>
              <a:t> Overall, the results demonstrate that predictive modeling can be effectively leveraged to anticipate cancellations and support proactive, data-driven decision-making in hotel operations.</a:t>
            </a:r>
          </a:p>
        </p:txBody>
      </p:sp>
    </p:spTree>
    <p:extLst>
      <p:ext uri="{BB962C8B-B14F-4D97-AF65-F5344CB8AC3E}">
        <p14:creationId xmlns:p14="http://schemas.microsoft.com/office/powerpoint/2010/main" val="362582649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340BBE-19E2-672A-E728-FCBC943FA3FB}"/>
              </a:ext>
            </a:extLst>
          </p:cNvPr>
          <p:cNvSpPr>
            <a:spLocks noGrp="1"/>
          </p:cNvSpPr>
          <p:nvPr>
            <p:ph type="title"/>
          </p:nvPr>
        </p:nvSpPr>
        <p:spPr>
          <a:xfrm>
            <a:off x="1028699" y="294538"/>
            <a:ext cx="7421963" cy="1033669"/>
          </a:xfrm>
        </p:spPr>
        <p:txBody>
          <a:bodyPr>
            <a:normAutofit/>
          </a:bodyPr>
          <a:lstStyle/>
          <a:p>
            <a:pPr>
              <a:lnSpc>
                <a:spcPct val="90000"/>
              </a:lnSpc>
            </a:pPr>
            <a:r>
              <a:rPr lang="en-US" sz="3200" b="1">
                <a:solidFill>
                  <a:srgbClr val="FFFFFF"/>
                </a:solidFill>
              </a:rPr>
              <a:t>Recommendations</a:t>
            </a:r>
            <a:br>
              <a:rPr lang="en-US" sz="3200" b="1">
                <a:solidFill>
                  <a:srgbClr val="FFFFFF"/>
                </a:solidFill>
              </a:rPr>
            </a:br>
            <a:endParaRPr lang="en-US" sz="3200">
              <a:solidFill>
                <a:srgbClr val="FFFFFF"/>
              </a:solidFill>
            </a:endParaRPr>
          </a:p>
        </p:txBody>
      </p:sp>
      <p:sp>
        <p:nvSpPr>
          <p:cNvPr id="3" name="Content Placeholder 2">
            <a:extLst>
              <a:ext uri="{FF2B5EF4-FFF2-40B4-BE49-F238E27FC236}">
                <a16:creationId xmlns:a16="http://schemas.microsoft.com/office/drawing/2014/main" id="{86797EB1-F27C-C017-79F8-365FD4FC53F1}"/>
              </a:ext>
            </a:extLst>
          </p:cNvPr>
          <p:cNvSpPr>
            <a:spLocks noGrp="1"/>
          </p:cNvSpPr>
          <p:nvPr>
            <p:ph idx="1"/>
          </p:nvPr>
        </p:nvSpPr>
        <p:spPr>
          <a:xfrm>
            <a:off x="780081" y="1597432"/>
            <a:ext cx="7541641" cy="4404123"/>
          </a:xfrm>
        </p:spPr>
        <p:txBody>
          <a:bodyPr anchor="ctr">
            <a:normAutofit/>
          </a:bodyPr>
          <a:lstStyle/>
          <a:p>
            <a:pPr marL="0" indent="0">
              <a:lnSpc>
                <a:spcPct val="90000"/>
              </a:lnSpc>
              <a:buNone/>
            </a:pPr>
            <a:r>
              <a:rPr lang="en-US" sz="1200" dirty="0"/>
              <a:t>	Based on the findings of this analysis, the following recommendations are proposed:</a:t>
            </a:r>
          </a:p>
          <a:p>
            <a:pPr marL="0" indent="0">
              <a:lnSpc>
                <a:spcPct val="90000"/>
              </a:lnSpc>
              <a:buNone/>
            </a:pPr>
            <a:endParaRPr lang="en-US" sz="1200" dirty="0"/>
          </a:p>
          <a:p>
            <a:pPr>
              <a:lnSpc>
                <a:spcPct val="90000"/>
              </a:lnSpc>
            </a:pPr>
            <a:r>
              <a:rPr lang="en-US" sz="1200" b="1" dirty="0"/>
              <a:t>Early Identification of High-Risk Bookings</a:t>
            </a:r>
            <a:br>
              <a:rPr lang="en-US" sz="1200" dirty="0"/>
            </a:br>
            <a:r>
              <a:rPr lang="en-US" sz="1200" dirty="0"/>
              <a:t>The hotel should deploy the Random Forest model to flag bookings with a high probability of cancellation, particularly those with long lead times, high prices, or low customer commitment indicators.</a:t>
            </a:r>
          </a:p>
          <a:p>
            <a:pPr>
              <a:lnSpc>
                <a:spcPct val="90000"/>
              </a:lnSpc>
            </a:pPr>
            <a:endParaRPr lang="en-US" sz="1200" b="1" dirty="0"/>
          </a:p>
          <a:p>
            <a:pPr>
              <a:lnSpc>
                <a:spcPct val="90000"/>
              </a:lnSpc>
            </a:pPr>
            <a:r>
              <a:rPr lang="en-US" sz="1200" b="1" dirty="0"/>
              <a:t>Targeted Retention Strategies</a:t>
            </a:r>
            <a:br>
              <a:rPr lang="en-US" sz="1200" dirty="0"/>
            </a:br>
            <a:r>
              <a:rPr lang="en-US" sz="1200" dirty="0"/>
              <a:t>For bookings identified as high risk, the hotel can implement proactive measures such as reminder emails, flexible rebooking options, loyalty incentives, or limited-time discounts to encourage guests to keep their reservations.</a:t>
            </a:r>
          </a:p>
          <a:p>
            <a:pPr>
              <a:lnSpc>
                <a:spcPct val="90000"/>
              </a:lnSpc>
            </a:pPr>
            <a:endParaRPr lang="en-US" sz="1200" b="1" dirty="0"/>
          </a:p>
          <a:p>
            <a:pPr>
              <a:lnSpc>
                <a:spcPct val="90000"/>
              </a:lnSpc>
            </a:pPr>
            <a:r>
              <a:rPr lang="en-US" sz="1200" b="1" dirty="0"/>
              <a:t>Dynamic Cancellation Policies</a:t>
            </a:r>
            <a:br>
              <a:rPr lang="en-US" sz="1200" dirty="0"/>
            </a:br>
            <a:r>
              <a:rPr lang="en-US" sz="1200" dirty="0"/>
              <a:t>Cancellation policies can be adjusted based on risk level. For example, stricter cancellation terms may be applied to bookings with historically high cancellation likelihood, while more flexible policies can be offered to loyal or low-risk customers.</a:t>
            </a:r>
          </a:p>
          <a:p>
            <a:pPr>
              <a:lnSpc>
                <a:spcPct val="90000"/>
              </a:lnSpc>
            </a:pPr>
            <a:endParaRPr lang="en-US" sz="1200" b="1" dirty="0"/>
          </a:p>
          <a:p>
            <a:pPr>
              <a:lnSpc>
                <a:spcPct val="90000"/>
              </a:lnSpc>
            </a:pPr>
            <a:r>
              <a:rPr lang="en-US" sz="1200" b="1" dirty="0"/>
              <a:t>Operational Planning and Resource Allocation</a:t>
            </a:r>
            <a:br>
              <a:rPr lang="en-US" sz="1200" dirty="0"/>
            </a:br>
            <a:r>
              <a:rPr lang="en-US" sz="1200" dirty="0"/>
              <a:t>Accurate cancellation predictions allow hotel management to better plan staffing, inventory, and pricing strategies, reducing wasted resources and improving guest experience.</a:t>
            </a:r>
          </a:p>
          <a:p>
            <a:pPr>
              <a:lnSpc>
                <a:spcPct val="90000"/>
              </a:lnSpc>
            </a:pPr>
            <a:endParaRPr lang="en-US" sz="1200" b="1" dirty="0"/>
          </a:p>
          <a:p>
            <a:pPr>
              <a:lnSpc>
                <a:spcPct val="90000"/>
              </a:lnSpc>
            </a:pPr>
            <a:r>
              <a:rPr lang="en-US" sz="1200" b="1" dirty="0"/>
              <a:t>Continuous Model Monitoring and Improvement</a:t>
            </a:r>
            <a:br>
              <a:rPr lang="en-US" sz="1200" dirty="0"/>
            </a:br>
            <a:r>
              <a:rPr lang="en-US" sz="1200" dirty="0"/>
              <a:t>The model should be retrained periodically using new booking data to ensure performance remains robust and reflects changing customer behavior and market conditions.</a:t>
            </a:r>
          </a:p>
          <a:p>
            <a:pPr>
              <a:lnSpc>
                <a:spcPct val="90000"/>
              </a:lnSpc>
            </a:pPr>
            <a:endParaRPr lang="en-US" sz="1200" dirty="0"/>
          </a:p>
        </p:txBody>
      </p:sp>
    </p:spTree>
    <p:extLst>
      <p:ext uri="{BB962C8B-B14F-4D97-AF65-F5344CB8AC3E}">
        <p14:creationId xmlns:p14="http://schemas.microsoft.com/office/powerpoint/2010/main" val="54662614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E4CBDBB-4FBD-4B9E-BD01-054A81D431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11">
            <a:extLst>
              <a:ext uri="{FF2B5EF4-FFF2-40B4-BE49-F238E27FC236}">
                <a16:creationId xmlns:a16="http://schemas.microsoft.com/office/drawing/2014/main" id="{B01A6F03-171F-40B2-8B2C-A061B89241F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9141714" cy="6862380"/>
          </a:xfrm>
          <a:prstGeom prst="rect">
            <a:avLst/>
          </a:prstGeom>
        </p:spPr>
      </p:pic>
      <p:sp>
        <p:nvSpPr>
          <p:cNvPr id="14" name="Rectangle 13">
            <a:extLst>
              <a:ext uri="{FF2B5EF4-FFF2-40B4-BE49-F238E27FC236}">
                <a16:creationId xmlns:a16="http://schemas.microsoft.com/office/drawing/2014/main" id="{72C4834C-B602-4125-8264-BD0D55A58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3172EE5-132F-4DD4-8855-4DBBD9C346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883" y="1110000"/>
            <a:ext cx="7646805" cy="4629235"/>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896D27ED-9940-9C0D-D86A-452E801CBB32}"/>
              </a:ext>
            </a:extLst>
          </p:cNvPr>
          <p:cNvSpPr>
            <a:spLocks noGrp="1"/>
          </p:cNvSpPr>
          <p:nvPr>
            <p:ph type="title"/>
          </p:nvPr>
        </p:nvSpPr>
        <p:spPr>
          <a:xfrm>
            <a:off x="2935058" y="1488850"/>
            <a:ext cx="3130657" cy="1419666"/>
          </a:xfrm>
        </p:spPr>
        <p:txBody>
          <a:bodyPr anchor="b">
            <a:normAutofit/>
          </a:bodyPr>
          <a:lstStyle/>
          <a:p>
            <a:r>
              <a:rPr lang="en-US" sz="3600" b="1" dirty="0"/>
              <a:t>Final Remark</a:t>
            </a:r>
            <a:br>
              <a:rPr lang="en-US" sz="4200" b="1" dirty="0"/>
            </a:br>
            <a:endParaRPr lang="en-US" sz="4200" dirty="0"/>
          </a:p>
        </p:txBody>
      </p:sp>
      <p:sp>
        <p:nvSpPr>
          <p:cNvPr id="3" name="Content Placeholder 2">
            <a:extLst>
              <a:ext uri="{FF2B5EF4-FFF2-40B4-BE49-F238E27FC236}">
                <a16:creationId xmlns:a16="http://schemas.microsoft.com/office/drawing/2014/main" id="{66DD3D29-3A99-7A43-5022-221F8AC5D9AC}"/>
              </a:ext>
            </a:extLst>
          </p:cNvPr>
          <p:cNvSpPr>
            <a:spLocks noGrp="1"/>
          </p:cNvSpPr>
          <p:nvPr>
            <p:ph idx="1"/>
          </p:nvPr>
        </p:nvSpPr>
        <p:spPr>
          <a:xfrm>
            <a:off x="1449448" y="2653667"/>
            <a:ext cx="6144633" cy="2057046"/>
          </a:xfrm>
        </p:spPr>
        <p:txBody>
          <a:bodyPr anchor="t">
            <a:normAutofit lnSpcReduction="10000"/>
          </a:bodyPr>
          <a:lstStyle/>
          <a:p>
            <a:pPr algn="ctr"/>
            <a:r>
              <a:rPr lang="en-US" sz="2000" dirty="0"/>
              <a:t>By integrating machine learning-based cancellation prediction into its operations, the hotel can move from reactive decision-making to a proactive, data-driven strategy. This approach not only minimizes revenue loss from cancellations but also enhances customer satisfaction and overall operational efficiency.</a:t>
            </a:r>
          </a:p>
          <a:p>
            <a:pPr algn="ctr"/>
            <a:endParaRPr lang="en-US" sz="1600" dirty="0"/>
          </a:p>
        </p:txBody>
      </p:sp>
    </p:spTree>
    <p:extLst>
      <p:ext uri="{BB962C8B-B14F-4D97-AF65-F5344CB8AC3E}">
        <p14:creationId xmlns:p14="http://schemas.microsoft.com/office/powerpoint/2010/main" val="50175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22632" y="1922631"/>
            <a:ext cx="6875818" cy="3030558"/>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663321" y="3165298"/>
            <a:ext cx="4355594" cy="302895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742858" y="2085760"/>
            <a:ext cx="6857572" cy="268605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Freeform: Shape 37">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1161554" y="1712395"/>
            <a:ext cx="4808302"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FE3233D8-F0C0-7557-18C0-4EB135B5E06F}"/>
              </a:ext>
            </a:extLst>
          </p:cNvPr>
          <p:cNvSpPr>
            <a:spLocks noGrp="1"/>
          </p:cNvSpPr>
          <p:nvPr>
            <p:ph type="title"/>
          </p:nvPr>
        </p:nvSpPr>
        <p:spPr>
          <a:xfrm>
            <a:off x="495030" y="2767106"/>
            <a:ext cx="2160621" cy="3071906"/>
          </a:xfrm>
        </p:spPr>
        <p:txBody>
          <a:bodyPr vert="horz" lIns="91440" tIns="45720" rIns="91440" bIns="45720" rtlCol="0" anchor="t">
            <a:normAutofit/>
          </a:bodyPr>
          <a:lstStyle/>
          <a:p>
            <a:pPr defTabSz="914400">
              <a:lnSpc>
                <a:spcPct val="90000"/>
              </a:lnSpc>
            </a:pPr>
            <a:r>
              <a:rPr lang="en-US" sz="3500" kern="1200">
                <a:solidFill>
                  <a:srgbClr val="FFFFFF"/>
                </a:solidFill>
                <a:latin typeface="+mj-lt"/>
                <a:ea typeface="+mj-ea"/>
                <a:cs typeface="+mj-cs"/>
              </a:rPr>
              <a:t>Thank you</a:t>
            </a:r>
          </a:p>
        </p:txBody>
      </p:sp>
      <p:pic>
        <p:nvPicPr>
          <p:cNvPr id="8" name="Graphic 7" descr="Handshake">
            <a:extLst>
              <a:ext uri="{FF2B5EF4-FFF2-40B4-BE49-F238E27FC236}">
                <a16:creationId xmlns:a16="http://schemas.microsoft.com/office/drawing/2014/main" id="{6F33B78C-81D9-AC36-1570-FE9A518573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376821" y="719344"/>
            <a:ext cx="5419311" cy="5419311"/>
          </a:xfrm>
          <a:prstGeom prst="rect">
            <a:avLst/>
          </a:prstGeom>
        </p:spPr>
      </p:pic>
    </p:spTree>
    <p:extLst>
      <p:ext uri="{BB962C8B-B14F-4D97-AF65-F5344CB8AC3E}">
        <p14:creationId xmlns:p14="http://schemas.microsoft.com/office/powerpoint/2010/main" val="4088638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3113</TotalTime>
  <Words>2249</Words>
  <Application>Microsoft Office PowerPoint</Application>
  <PresentationFormat>On-screen Show (4:3)</PresentationFormat>
  <Paragraphs>368</Paragraphs>
  <Slides>62</Slides>
  <Notes>6</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Aptos</vt:lpstr>
      <vt:lpstr>Arial</vt:lpstr>
      <vt:lpstr>Calibri</vt:lpstr>
      <vt:lpstr>Segoe UI Emoji</vt:lpstr>
      <vt:lpstr>Wingdings</vt:lpstr>
      <vt:lpstr>Office Theme</vt:lpstr>
      <vt:lpstr>Analyzing Booking Trends in the Hospitality Industry</vt:lpstr>
      <vt:lpstr>Business Introduction</vt:lpstr>
      <vt:lpstr>Table of Contents</vt:lpstr>
      <vt:lpstr>Problem Statement</vt:lpstr>
      <vt:lpstr>Aim of the Project</vt:lpstr>
      <vt:lpstr>Research Questions</vt:lpstr>
      <vt:lpstr>Rationale for the Project</vt:lpstr>
      <vt:lpstr>Summary</vt:lpstr>
      <vt:lpstr>Data Description (Part 1)</vt:lpstr>
      <vt:lpstr>Data Description (Part 2)</vt:lpstr>
      <vt:lpstr>Deliverables</vt:lpstr>
      <vt:lpstr>Data Info</vt:lpstr>
      <vt:lpstr>PowerPoint Presentation</vt:lpstr>
      <vt:lpstr>Investigating The Data Set</vt:lpstr>
      <vt:lpstr>PowerPoint Presentation</vt:lpstr>
      <vt:lpstr>Numerical Statistical Analysis</vt:lpstr>
      <vt:lpstr>Categorical Statistical Analysis</vt:lpstr>
      <vt:lpstr>Data Cleaning</vt:lpstr>
      <vt:lpstr>Exploratory Data Analysis</vt:lpstr>
      <vt:lpstr>Key Observation</vt:lpstr>
      <vt:lpstr>Feature Engineering for Duration and Season</vt:lpstr>
      <vt:lpstr>Subplots - Numerical Feature Comparison</vt:lpstr>
      <vt:lpstr>Tabular Summary of Cancellation Insights</vt:lpstr>
      <vt:lpstr>Table 1 — Feature Impact on Cancellations</vt:lpstr>
      <vt:lpstr>Table 1 — Feature Impact on Cancellations (ctd)</vt:lpstr>
      <vt:lpstr>Table 2 — Highest-Risk vs. Lowest-Risk Booking Profiles</vt:lpstr>
      <vt:lpstr>Table 3 — Summary of Key Drivers</vt:lpstr>
      <vt:lpstr>Correlation Analysis</vt:lpstr>
      <vt:lpstr> Categorical Features Compared Side-by-Side </vt:lpstr>
      <vt:lpstr> Key Insights from Categorical Distribution Plots </vt:lpstr>
      <vt:lpstr>Key Insights  ctd.</vt:lpstr>
      <vt:lpstr>Cancellation rate for each categorical variable</vt:lpstr>
      <vt:lpstr>Cancellation rate Vs Average Price</vt:lpstr>
      <vt:lpstr>PowerPoint Presentation</vt:lpstr>
      <vt:lpstr>PowerPoint Presentation</vt:lpstr>
      <vt:lpstr>PowerPoint Presentation</vt:lpstr>
      <vt:lpstr>PowerPoint Presentation</vt:lpstr>
      <vt:lpstr>Key Insights from Categorical Cancellation-Rate Analysis</vt:lpstr>
      <vt:lpstr>Using Histplots to check outliers</vt:lpstr>
      <vt:lpstr>Histplots (ctd)</vt:lpstr>
      <vt:lpstr>Using boxplots to check outliers</vt:lpstr>
      <vt:lpstr>Boxplots (ctd)</vt:lpstr>
      <vt:lpstr>Using boxplots to fix the outliers</vt:lpstr>
      <vt:lpstr>Boxplots (ctd)</vt:lpstr>
      <vt:lpstr>Encoding Categorical Variables</vt:lpstr>
      <vt:lpstr>Scaling Numerical Features</vt:lpstr>
      <vt:lpstr>Handle Class Imbalance </vt:lpstr>
      <vt:lpstr>Machine  Learning</vt:lpstr>
      <vt:lpstr>Baseline Model – Logistic Regression</vt:lpstr>
      <vt:lpstr>Advanced Model – Random Forest</vt:lpstr>
      <vt:lpstr>Training Multiple Classification Models</vt:lpstr>
      <vt:lpstr>Confusion Matrix</vt:lpstr>
      <vt:lpstr>Confusion Matrix</vt:lpstr>
      <vt:lpstr>Confusion Matrix</vt:lpstr>
      <vt:lpstr>Confusion Matrix</vt:lpstr>
      <vt:lpstr>Heatmap</vt:lpstr>
      <vt:lpstr>Feature Importance Analysis</vt:lpstr>
      <vt:lpstr>Overall Strategic Insight </vt:lpstr>
      <vt:lpstr>Conclusion </vt:lpstr>
      <vt:lpstr>Recommendations </vt:lpstr>
      <vt:lpstr>Final Remark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Benny Ezinne</cp:lastModifiedBy>
  <cp:revision>4</cp:revision>
  <dcterms:created xsi:type="dcterms:W3CDTF">2013-01-27T09:14:00Z</dcterms:created>
  <dcterms:modified xsi:type="dcterms:W3CDTF">2025-12-14T06:59:15Z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C89281C2036448D6A0F8537F8F30E534_13</vt:lpwstr>
  </property>
  <property fmtid="{D5CDD505-2E9C-101B-9397-08002B2CF9AE}" pid="3" name="KSOProductBuildVer">
    <vt:lpwstr>1033-12.2.0.23155</vt:lpwstr>
  </property>
</Properties>
</file>